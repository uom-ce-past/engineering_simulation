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2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6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7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8.xml" ContentType="application/vnd.openxmlformats-officedocument.presentationml.notesSlid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9.xml" ContentType="application/vnd.openxmlformats-officedocument.presentationml.notesSl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10.xml" ContentType="application/vnd.openxmlformats-officedocument.presentationml.notesSlide+xml"/>
  <Override PartName="/ppt/tags/tag37.xml" ContentType="application/vnd.openxmlformats-officedocument.presentationml.tags+xml"/>
  <Override PartName="/ppt/notesSlides/notesSlide11.xml" ContentType="application/vnd.openxmlformats-officedocument.presentationml.notesSlide+xml"/>
  <Override PartName="/ppt/tags/tag38.xml" ContentType="application/vnd.openxmlformats-officedocument.presentationml.tags+xml"/>
  <Override PartName="/ppt/notesSlides/notesSlide12.xml" ContentType="application/vnd.openxmlformats-officedocument.presentationml.notesSlide+xml"/>
  <Override PartName="/ppt/tags/tag39.xml" ContentType="application/vnd.openxmlformats-officedocument.presentationml.tags+xml"/>
  <Override PartName="/ppt/notesSlides/notesSlide13.xml" ContentType="application/vnd.openxmlformats-officedocument.presentationml.notesSlide+xml"/>
  <Override PartName="/ppt/tags/tag40.xml" ContentType="application/vnd.openxmlformats-officedocument.presentationml.tags+xml"/>
  <Override PartName="/ppt/notesSlides/notesSlide14.xml" ContentType="application/vnd.openxmlformats-officedocument.presentationml.notesSlide+xml"/>
  <Override PartName="/ppt/tags/tag41.xml" ContentType="application/vnd.openxmlformats-officedocument.presentationml.tags+xml"/>
  <Override PartName="/ppt/notesSlides/notesSlide15.xml" ContentType="application/vnd.openxmlformats-officedocument.presentationml.notesSlide+xml"/>
  <Override PartName="/ppt/tags/tag42.xml" ContentType="application/vnd.openxmlformats-officedocument.presentationml.tags+xml"/>
  <Override PartName="/ppt/notesSlides/notesSlide16.xml" ContentType="application/vnd.openxmlformats-officedocument.presentationml.notesSlide+xml"/>
  <Override PartName="/ppt/tags/tag43.xml" ContentType="application/vnd.openxmlformats-officedocument.presentationml.tags+xml"/>
  <Override PartName="/ppt/notesSlides/notesSlide17.xml" ContentType="application/vnd.openxmlformats-officedocument.presentationml.notesSlide+xml"/>
  <Override PartName="/ppt/tags/tag44.xml" ContentType="application/vnd.openxmlformats-officedocument.presentationml.tags+xml"/>
  <Override PartName="/ppt/notesSlides/notesSlide18.xml" ContentType="application/vnd.openxmlformats-officedocument.presentationml.notesSlide+xml"/>
  <Override PartName="/ppt/tags/tag45.xml" ContentType="application/vnd.openxmlformats-officedocument.presentationml.tags+xml"/>
  <Override PartName="/ppt/notesSlides/notesSlide19.xml" ContentType="application/vnd.openxmlformats-officedocument.presentationml.notesSlide+xml"/>
  <Override PartName="/ppt/tags/tag46.xml" ContentType="application/vnd.openxmlformats-officedocument.presentationml.tags+xml"/>
  <Override PartName="/ppt/notesSlides/notesSlide20.xml" ContentType="application/vnd.openxmlformats-officedocument.presentationml.notesSlide+xml"/>
  <Override PartName="/ppt/tags/tag47.xml" ContentType="application/vnd.openxmlformats-officedocument.presentationml.tags+xml"/>
  <Override PartName="/ppt/notesSlides/notesSlide21.xml" ContentType="application/vnd.openxmlformats-officedocument.presentationml.notesSlide+xml"/>
  <Override PartName="/ppt/tags/tag48.xml" ContentType="application/vnd.openxmlformats-officedocument.presentationml.tags+xml"/>
  <Override PartName="/ppt/notesSlides/notesSlide22.xml" ContentType="application/vnd.openxmlformats-officedocument.presentationml.notesSlide+xml"/>
  <Override PartName="/ppt/tags/tag49.xml" ContentType="application/vnd.openxmlformats-officedocument.presentationml.tags+xml"/>
  <Override PartName="/ppt/notesSlides/notesSlide23.xml" ContentType="application/vnd.openxmlformats-officedocument.presentationml.notesSlide+xml"/>
  <Override PartName="/ppt/tags/tag50.xml" ContentType="application/vnd.openxmlformats-officedocument.presentationml.tags+xml"/>
  <Override PartName="/ppt/notesSlides/notesSlide24.xml" ContentType="application/vnd.openxmlformats-officedocument.presentationml.notesSlide+xml"/>
  <Override PartName="/ppt/tags/tag51.xml" ContentType="application/vnd.openxmlformats-officedocument.presentationml.tags+xml"/>
  <Override PartName="/ppt/notesSlides/notesSlide2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40"/>
  </p:notesMasterIdLst>
  <p:sldIdLst>
    <p:sldId id="256" r:id="rId5"/>
    <p:sldId id="488" r:id="rId6"/>
    <p:sldId id="405" r:id="rId7"/>
    <p:sldId id="427" r:id="rId8"/>
    <p:sldId id="430" r:id="rId9"/>
    <p:sldId id="414" r:id="rId10"/>
    <p:sldId id="480" r:id="rId11"/>
    <p:sldId id="421" r:id="rId12"/>
    <p:sldId id="428" r:id="rId13"/>
    <p:sldId id="429" r:id="rId14"/>
    <p:sldId id="481" r:id="rId15"/>
    <p:sldId id="482" r:id="rId16"/>
    <p:sldId id="457" r:id="rId17"/>
    <p:sldId id="459" r:id="rId18"/>
    <p:sldId id="456" r:id="rId19"/>
    <p:sldId id="452" r:id="rId20"/>
    <p:sldId id="463" r:id="rId21"/>
    <p:sldId id="464" r:id="rId22"/>
    <p:sldId id="465" r:id="rId23"/>
    <p:sldId id="483" r:id="rId24"/>
    <p:sldId id="466" r:id="rId25"/>
    <p:sldId id="472" r:id="rId26"/>
    <p:sldId id="474" r:id="rId27"/>
    <p:sldId id="473" r:id="rId28"/>
    <p:sldId id="475" r:id="rId29"/>
    <p:sldId id="447" r:id="rId30"/>
    <p:sldId id="454" r:id="rId31"/>
    <p:sldId id="484" r:id="rId32"/>
    <p:sldId id="477" r:id="rId33"/>
    <p:sldId id="479" r:id="rId34"/>
    <p:sldId id="425" r:id="rId35"/>
    <p:sldId id="487" r:id="rId36"/>
    <p:sldId id="485" r:id="rId37"/>
    <p:sldId id="478" r:id="rId38"/>
    <p:sldId id="413" r:id="rId39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521415D9-36F7-43E2-AB2F-B90AF26B5E84}">
      <p14:sectionLst xmlns:p14="http://schemas.microsoft.com/office/powerpoint/2010/main">
        <p14:section name="Default Section" id="{B065CF85-1909-4970-A876-DCE0D6536E3D}">
          <p14:sldIdLst>
            <p14:sldId id="256"/>
            <p14:sldId id="488"/>
            <p14:sldId id="405"/>
            <p14:sldId id="427"/>
            <p14:sldId id="430"/>
          </p14:sldIdLst>
        </p14:section>
        <p14:section name="Untitled Section" id="{026FB1B7-DC9E-4DBE-B721-BD4A92D0929F}">
          <p14:sldIdLst>
            <p14:sldId id="414"/>
            <p14:sldId id="480"/>
            <p14:sldId id="421"/>
            <p14:sldId id="428"/>
            <p14:sldId id="429"/>
            <p14:sldId id="481"/>
            <p14:sldId id="482"/>
            <p14:sldId id="457"/>
            <p14:sldId id="459"/>
            <p14:sldId id="456"/>
            <p14:sldId id="452"/>
            <p14:sldId id="463"/>
            <p14:sldId id="464"/>
            <p14:sldId id="465"/>
            <p14:sldId id="483"/>
            <p14:sldId id="466"/>
            <p14:sldId id="472"/>
            <p14:sldId id="474"/>
            <p14:sldId id="473"/>
            <p14:sldId id="475"/>
            <p14:sldId id="447"/>
            <p14:sldId id="454"/>
            <p14:sldId id="484"/>
            <p14:sldId id="477"/>
            <p14:sldId id="479"/>
            <p14:sldId id="425"/>
            <p14:sldId id="487"/>
            <p14:sldId id="485"/>
            <p14:sldId id="478"/>
            <p14:sldId id="41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E2D28"/>
    <a:srgbClr val="000000"/>
    <a:srgbClr val="CCECFF"/>
    <a:srgbClr val="6A6A6A"/>
    <a:srgbClr val="FFD9EC"/>
    <a:srgbClr val="FA1F00"/>
    <a:srgbClr val="5E5E5E"/>
    <a:srgbClr val="BE7100"/>
    <a:srgbClr val="EAEAEA"/>
    <a:srgbClr val="AEAE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8C28A5-974F-43C8-8999-9C7D023593E0}" v="11" dt="2025-10-22T09:19:08.131"/>
    <p1510:client id="{A6C8D8EF-45C1-40BA-BDF9-B3F42FA6071F}" v="6" dt="2025-10-22T09:54:34.672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notesMaster" Target="notesMasters/notesMaster1.xml"/><Relationship Id="rId45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4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5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1" name="Shape 5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Presentation in 2 parts</a:t>
            </a:r>
          </a:p>
        </p:txBody>
      </p:sp>
    </p:spTree>
    <p:extLst>
      <p:ext uri="{BB962C8B-B14F-4D97-AF65-F5344CB8AC3E}">
        <p14:creationId xmlns:p14="http://schemas.microsoft.com/office/powerpoint/2010/main" val="30952166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Presentation in 2 parts</a:t>
            </a:r>
          </a:p>
        </p:txBody>
      </p:sp>
    </p:spTree>
    <p:extLst>
      <p:ext uri="{BB962C8B-B14F-4D97-AF65-F5344CB8AC3E}">
        <p14:creationId xmlns:p14="http://schemas.microsoft.com/office/powerpoint/2010/main" val="36404664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Presentation in 2 parts</a:t>
            </a:r>
          </a:p>
        </p:txBody>
      </p:sp>
    </p:spTree>
    <p:extLst>
      <p:ext uri="{BB962C8B-B14F-4D97-AF65-F5344CB8AC3E}">
        <p14:creationId xmlns:p14="http://schemas.microsoft.com/office/powerpoint/2010/main" val="14909835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Presentation in 2 parts</a:t>
            </a:r>
          </a:p>
        </p:txBody>
      </p:sp>
    </p:spTree>
    <p:extLst>
      <p:ext uri="{BB962C8B-B14F-4D97-AF65-F5344CB8AC3E}">
        <p14:creationId xmlns:p14="http://schemas.microsoft.com/office/powerpoint/2010/main" val="30107385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30105-457D-8FC4-15B5-D4A34731E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C1182C-E46F-5138-CFE2-961AF61905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5BC194-A1EC-D234-DC87-CB54575DE3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Presentation in 2 parts</a:t>
            </a:r>
          </a:p>
        </p:txBody>
      </p:sp>
    </p:spTree>
    <p:extLst>
      <p:ext uri="{BB962C8B-B14F-4D97-AF65-F5344CB8AC3E}">
        <p14:creationId xmlns:p14="http://schemas.microsoft.com/office/powerpoint/2010/main" val="42551901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Presentation in 2 parts</a:t>
            </a:r>
          </a:p>
        </p:txBody>
      </p:sp>
    </p:spTree>
    <p:extLst>
      <p:ext uri="{BB962C8B-B14F-4D97-AF65-F5344CB8AC3E}">
        <p14:creationId xmlns:p14="http://schemas.microsoft.com/office/powerpoint/2010/main" val="17993088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Presentation in 2 parts</a:t>
            </a:r>
          </a:p>
        </p:txBody>
      </p:sp>
    </p:spTree>
    <p:extLst>
      <p:ext uri="{BB962C8B-B14F-4D97-AF65-F5344CB8AC3E}">
        <p14:creationId xmlns:p14="http://schemas.microsoft.com/office/powerpoint/2010/main" val="2323278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Presentation in 2 parts</a:t>
            </a:r>
          </a:p>
        </p:txBody>
      </p:sp>
    </p:spTree>
    <p:extLst>
      <p:ext uri="{BB962C8B-B14F-4D97-AF65-F5344CB8AC3E}">
        <p14:creationId xmlns:p14="http://schemas.microsoft.com/office/powerpoint/2010/main" val="27217385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F3C84-A671-131A-743E-5A99E1B8B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BF34B9-1A3F-3D04-A477-372F5B72C0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61807E-5B73-A21B-2996-2096BD3533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Presentation in 2 parts</a:t>
            </a:r>
          </a:p>
        </p:txBody>
      </p:sp>
    </p:spTree>
    <p:extLst>
      <p:ext uri="{BB962C8B-B14F-4D97-AF65-F5344CB8AC3E}">
        <p14:creationId xmlns:p14="http://schemas.microsoft.com/office/powerpoint/2010/main" val="16368266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09F27-0101-0D83-B9F2-0514E4C17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00B486-7B64-C1B6-C5C0-82DECFA67E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28827B-6A0C-3359-7532-29587F6BAB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Presentation in 2 parts</a:t>
            </a:r>
          </a:p>
        </p:txBody>
      </p:sp>
    </p:spTree>
    <p:extLst>
      <p:ext uri="{BB962C8B-B14F-4D97-AF65-F5344CB8AC3E}">
        <p14:creationId xmlns:p14="http://schemas.microsoft.com/office/powerpoint/2010/main" val="22681540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231CF-0362-E4A7-525A-B0706EC7B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91618E-95F4-F5FA-1538-2DD9E2C30F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1B0B12-C92A-0549-BD89-C0A48F1B6F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Presentation in 2 parts</a:t>
            </a:r>
          </a:p>
        </p:txBody>
      </p:sp>
    </p:spTree>
    <p:extLst>
      <p:ext uri="{BB962C8B-B14F-4D97-AF65-F5344CB8AC3E}">
        <p14:creationId xmlns:p14="http://schemas.microsoft.com/office/powerpoint/2010/main" val="21180249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93DC1-3E83-8D12-BE4B-E9BA37404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5D3B87-5AFF-D21E-7038-3C5AE9B2AB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354C33-D93C-4290-AE29-7E3BF556F5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Presentation in 2 parts</a:t>
            </a:r>
          </a:p>
        </p:txBody>
      </p:sp>
    </p:spTree>
    <p:extLst>
      <p:ext uri="{BB962C8B-B14F-4D97-AF65-F5344CB8AC3E}">
        <p14:creationId xmlns:p14="http://schemas.microsoft.com/office/powerpoint/2010/main" val="14181248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43A08-1C43-304A-1DCD-0D26DD9F8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04BF8F-8620-3AFF-183D-F3D86A9AF2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CFB039-0133-BB8F-E898-BD611C4507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Presentation in 2 parts</a:t>
            </a:r>
          </a:p>
        </p:txBody>
      </p:sp>
    </p:spTree>
    <p:extLst>
      <p:ext uri="{BB962C8B-B14F-4D97-AF65-F5344CB8AC3E}">
        <p14:creationId xmlns:p14="http://schemas.microsoft.com/office/powerpoint/2010/main" val="3600791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C80C2-AE0E-06D9-DB2C-145D6F3A6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24C5E8-946B-5D4C-B8C2-DADA2FAEF9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51BAED-2904-7BB6-1FD2-5F153C26CE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Presentation in 2 parts</a:t>
            </a:r>
          </a:p>
        </p:txBody>
      </p:sp>
    </p:spTree>
    <p:extLst>
      <p:ext uri="{BB962C8B-B14F-4D97-AF65-F5344CB8AC3E}">
        <p14:creationId xmlns:p14="http://schemas.microsoft.com/office/powerpoint/2010/main" val="10031512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E074C-FA84-8821-C624-220457151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60B916-DD52-05F5-1780-561A85E225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A33DC0-B272-2535-6532-67F28AA5EF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Presentation in 2 parts</a:t>
            </a:r>
          </a:p>
        </p:txBody>
      </p:sp>
    </p:spTree>
    <p:extLst>
      <p:ext uri="{BB962C8B-B14F-4D97-AF65-F5344CB8AC3E}">
        <p14:creationId xmlns:p14="http://schemas.microsoft.com/office/powerpoint/2010/main" val="9804859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8C529-2553-E2A7-D306-755439865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95D0BC-EA29-1B97-3030-F33E0E1572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E8BC28-EA6B-C53D-11A8-D2EC5807E8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Presentation in 2 parts</a:t>
            </a:r>
          </a:p>
        </p:txBody>
      </p:sp>
    </p:spTree>
    <p:extLst>
      <p:ext uri="{BB962C8B-B14F-4D97-AF65-F5344CB8AC3E}">
        <p14:creationId xmlns:p14="http://schemas.microsoft.com/office/powerpoint/2010/main" val="65927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DCD3B-FE20-0035-633E-08AB088D6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99DB68-03BD-D0B2-7C48-F8B1E8CFD5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472825-DB28-6D34-CB9E-B078593691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Presentation in 2 parts</a:t>
            </a:r>
          </a:p>
        </p:txBody>
      </p:sp>
    </p:spTree>
    <p:extLst>
      <p:ext uri="{BB962C8B-B14F-4D97-AF65-F5344CB8AC3E}">
        <p14:creationId xmlns:p14="http://schemas.microsoft.com/office/powerpoint/2010/main" val="23492252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2136F-3F05-F7A6-EFBB-1C7BAB4EA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062CE3-F6D1-8AA2-B6A9-5F366E079D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014648-2116-D88F-9702-20B19BC271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Presentation in 2 parts</a:t>
            </a:r>
          </a:p>
        </p:txBody>
      </p:sp>
    </p:spTree>
    <p:extLst>
      <p:ext uri="{BB962C8B-B14F-4D97-AF65-F5344CB8AC3E}">
        <p14:creationId xmlns:p14="http://schemas.microsoft.com/office/powerpoint/2010/main" val="25767850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E32D6-DA8E-73CE-4BB1-0A1358FFF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C90E8D-98FF-1FE5-4A7C-E076AD139F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85977D-81E0-1E0F-8884-92C9C81A9B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Presentation in 2 parts</a:t>
            </a:r>
          </a:p>
        </p:txBody>
      </p:sp>
    </p:spTree>
    <p:extLst>
      <p:ext uri="{BB962C8B-B14F-4D97-AF65-F5344CB8AC3E}">
        <p14:creationId xmlns:p14="http://schemas.microsoft.com/office/powerpoint/2010/main" val="118188668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048FF-A754-359D-772C-5B429FB96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F4BB90-6D84-9CA1-3147-FBF3835C2A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EE18F8-2848-DB75-ADC1-79D916CA39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Presentation in 2 parts</a:t>
            </a:r>
          </a:p>
        </p:txBody>
      </p:sp>
    </p:spTree>
    <p:extLst>
      <p:ext uri="{BB962C8B-B14F-4D97-AF65-F5344CB8AC3E}">
        <p14:creationId xmlns:p14="http://schemas.microsoft.com/office/powerpoint/2010/main" val="307989987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06E31-5CB5-7A63-2416-EFC6DD2F7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888C96-6E15-5FC1-B4E4-430619B03C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58585F-FFE1-2956-C59A-F67DB67B6A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Presentation in 2 parts</a:t>
            </a:r>
          </a:p>
        </p:txBody>
      </p:sp>
    </p:spTree>
    <p:extLst>
      <p:ext uri="{BB962C8B-B14F-4D97-AF65-F5344CB8AC3E}">
        <p14:creationId xmlns:p14="http://schemas.microsoft.com/office/powerpoint/2010/main" val="155245170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1A65A-95CB-71A7-CA54-BB6247121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BE7A26-1DD1-6C32-95C3-12B16227AD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7AC243-33BC-46A7-AF45-B580B53C09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Presentation in 2 parts</a:t>
            </a:r>
          </a:p>
        </p:txBody>
      </p:sp>
    </p:spTree>
    <p:extLst>
      <p:ext uri="{BB962C8B-B14F-4D97-AF65-F5344CB8AC3E}">
        <p14:creationId xmlns:p14="http://schemas.microsoft.com/office/powerpoint/2010/main" val="176555605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Presentation in 2 parts</a:t>
            </a:r>
          </a:p>
        </p:txBody>
      </p:sp>
    </p:spTree>
    <p:extLst>
      <p:ext uri="{BB962C8B-B14F-4D97-AF65-F5344CB8AC3E}">
        <p14:creationId xmlns:p14="http://schemas.microsoft.com/office/powerpoint/2010/main" val="422836993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Presentation in 2 parts</a:t>
            </a:r>
          </a:p>
        </p:txBody>
      </p:sp>
    </p:spTree>
    <p:extLst>
      <p:ext uri="{BB962C8B-B14F-4D97-AF65-F5344CB8AC3E}">
        <p14:creationId xmlns:p14="http://schemas.microsoft.com/office/powerpoint/2010/main" val="281792977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AECA4-C8B5-BA98-6D26-F0915CE58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DA0924-65EE-C0E2-181F-A8FD8DCC18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9B4260-4E8C-8D2D-2FF8-C418EA50DE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Presentation in 2 parts</a:t>
            </a:r>
          </a:p>
        </p:txBody>
      </p:sp>
    </p:spTree>
    <p:extLst>
      <p:ext uri="{BB962C8B-B14F-4D97-AF65-F5344CB8AC3E}">
        <p14:creationId xmlns:p14="http://schemas.microsoft.com/office/powerpoint/2010/main" val="27428572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mailto:mohammed.alsubeihi@manchester.ac.uk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mailto:Kimiya.ramezani@manchester.ac.uk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8"/>
          <p:cNvSpPr/>
          <p:nvPr/>
        </p:nvSpPr>
        <p:spPr>
          <a:xfrm>
            <a:off x="-44202" y="13185033"/>
            <a:ext cx="24472404" cy="534087"/>
          </a:xfrm>
          <a:prstGeom prst="rect">
            <a:avLst/>
          </a:prstGeom>
          <a:solidFill>
            <a:srgbClr val="5C2A7A"/>
          </a:solidFill>
          <a:ln w="12700">
            <a:miter lim="400000"/>
          </a:ln>
        </p:spPr>
        <p:txBody>
          <a:bodyPr lIns="45719" rIns="45719" anchor="ctr"/>
          <a:lstStyle/>
          <a:p>
            <a:pPr defTabSz="914400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24" name="Rectangle"/>
          <p:cNvSpPr/>
          <p:nvPr/>
        </p:nvSpPr>
        <p:spPr>
          <a:xfrm>
            <a:off x="5720393" y="13196251"/>
            <a:ext cx="12943215" cy="511651"/>
          </a:xfrm>
          <a:prstGeom prst="rect">
            <a:avLst/>
          </a:prstGeom>
          <a:solidFill>
            <a:srgbClr val="8B79A6"/>
          </a:solidFill>
          <a:ln w="12700">
            <a:miter lim="400000"/>
          </a:ln>
        </p:spPr>
        <p:txBody>
          <a:bodyPr lIns="45719" rIns="45719" anchor="ctr"/>
          <a:lstStyle/>
          <a:p>
            <a:pPr defTabSz="914400"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25" name="&lt;Presenting Author&gt;"/>
          <p:cNvSpPr txBox="1"/>
          <p:nvPr/>
        </p:nvSpPr>
        <p:spPr>
          <a:xfrm>
            <a:off x="-29972" y="13226054"/>
            <a:ext cx="5766094" cy="4520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 defTabSz="1357312">
              <a:defRPr sz="2000">
                <a:solidFill>
                  <a:srgbClr val="9E79A6"/>
                </a:solidFill>
              </a:defRPr>
            </a:lvl1pPr>
          </a:lstStyle>
          <a:p>
            <a:endParaRPr/>
          </a:p>
        </p:txBody>
      </p:sp>
      <p:sp>
        <p:nvSpPr>
          <p:cNvPr id="26" name="&lt;Title of the Presentation&gt;"/>
          <p:cNvSpPr txBox="1"/>
          <p:nvPr/>
        </p:nvSpPr>
        <p:spPr>
          <a:xfrm>
            <a:off x="5719986" y="13226054"/>
            <a:ext cx="12944028" cy="4520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 defTabSz="1357312">
              <a:defRPr sz="2000">
                <a:solidFill>
                  <a:srgbClr val="5C2A7A"/>
                </a:solidFill>
              </a:defRPr>
            </a:lvl1pPr>
          </a:lstStyle>
          <a:p>
            <a:endParaRPr/>
          </a:p>
        </p:txBody>
      </p:sp>
      <p:sp>
        <p:nvSpPr>
          <p:cNvPr id="27" name="&lt;Month&gt; DDrd/nd, YYYY"/>
          <p:cNvSpPr txBox="1"/>
          <p:nvPr/>
        </p:nvSpPr>
        <p:spPr>
          <a:xfrm>
            <a:off x="18670654" y="13238754"/>
            <a:ext cx="5766093" cy="4520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 defTabSz="1357312">
              <a:defRPr sz="2000">
                <a:solidFill>
                  <a:srgbClr val="9E79A6"/>
                </a:solidFill>
              </a:defRPr>
            </a:lvl1pPr>
          </a:lstStyle>
          <a:p>
            <a:endParaRPr/>
          </a:p>
        </p:txBody>
      </p:sp>
      <p:pic>
        <p:nvPicPr>
          <p:cNvPr id="28" name="TAB_allwhite.pdf" descr="TAB_allwhite.pdf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3373526" y="267004"/>
            <a:ext cx="3839766" cy="1643064"/>
          </a:xfrm>
          <a:prstGeom prst="rect">
            <a:avLst/>
          </a:prstGeom>
          <a:ln w="12700">
            <a:miter lim="400000"/>
          </a:ln>
        </p:spPr>
      </p:pic>
      <p:sp>
        <p:nvSpPr>
          <p:cNvPr id="29" name="Rechteck 21"/>
          <p:cNvSpPr/>
          <p:nvPr/>
        </p:nvSpPr>
        <p:spPr>
          <a:xfrm>
            <a:off x="1825" y="-52536"/>
            <a:ext cx="24380350" cy="1547253"/>
          </a:xfrm>
          <a:prstGeom prst="rect">
            <a:avLst/>
          </a:prstGeom>
          <a:solidFill>
            <a:srgbClr val="5C2A7A"/>
          </a:solidFill>
          <a:ln w="12700">
            <a:miter lim="400000"/>
          </a:ln>
        </p:spPr>
        <p:txBody>
          <a:bodyPr lIns="45719" rIns="45719" anchor="ctr"/>
          <a:lstStyle/>
          <a:p>
            <a:pPr defTabSz="914400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30" name="Rechteck 22"/>
          <p:cNvSpPr/>
          <p:nvPr/>
        </p:nvSpPr>
        <p:spPr>
          <a:xfrm>
            <a:off x="1826" y="1473267"/>
            <a:ext cx="381877" cy="335044"/>
          </a:xfrm>
          <a:prstGeom prst="rect">
            <a:avLst/>
          </a:prstGeom>
          <a:solidFill>
            <a:srgbClr val="5C2A7A"/>
          </a:solidFill>
          <a:ln w="12700">
            <a:miter lim="400000"/>
          </a:ln>
        </p:spPr>
        <p:txBody>
          <a:bodyPr lIns="45719" rIns="45719" anchor="ctr"/>
          <a:lstStyle/>
          <a:p>
            <a:pPr defTabSz="914400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31" name="Rechteck 26"/>
          <p:cNvSpPr/>
          <p:nvPr/>
        </p:nvSpPr>
        <p:spPr>
          <a:xfrm>
            <a:off x="23998580" y="1473265"/>
            <a:ext cx="383595" cy="335044"/>
          </a:xfrm>
          <a:prstGeom prst="rect">
            <a:avLst/>
          </a:prstGeom>
          <a:solidFill>
            <a:srgbClr val="5C2A7A"/>
          </a:solidFill>
          <a:ln w="12700">
            <a:miter lim="400000"/>
          </a:ln>
        </p:spPr>
        <p:txBody>
          <a:bodyPr lIns="45719" rIns="45719" anchor="ctr"/>
          <a:lstStyle/>
          <a:p>
            <a:pPr defTabSz="914400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pic>
        <p:nvPicPr>
          <p:cNvPr id="32" name="TAB_allwhite.pdf" descr="TAB_allwhite.pdf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81510" y="153895"/>
            <a:ext cx="2919845" cy="1243103"/>
          </a:xfrm>
          <a:prstGeom prst="rect">
            <a:avLst/>
          </a:prstGeom>
          <a:ln w="12700">
            <a:miter lim="400000"/>
          </a:ln>
        </p:spPr>
      </p:pic>
      <p:sp>
        <p:nvSpPr>
          <p:cNvPr id="33" name="Title Text"/>
          <p:cNvSpPr txBox="1">
            <a:spLocks noGrp="1"/>
          </p:cNvSpPr>
          <p:nvPr>
            <p:ph type="body" sz="quarter" idx="21"/>
          </p:nvPr>
        </p:nvSpPr>
        <p:spPr>
          <a:xfrm>
            <a:off x="761271" y="1710531"/>
            <a:ext cx="22861458" cy="1393032"/>
          </a:xfrm>
          <a:prstGeom prst="rect">
            <a:avLst/>
          </a:prstGeom>
        </p:spPr>
        <p:txBody>
          <a:bodyPr lIns="0" tIns="0" rIns="0" bIns="0"/>
          <a:lstStyle>
            <a:lvl1pPr defTabSz="1357312">
              <a:defRPr sz="5600">
                <a:solidFill>
                  <a:srgbClr val="424242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34" name="Body Level One…"/>
          <p:cNvSpPr txBox="1">
            <a:spLocks noGrp="1"/>
          </p:cNvSpPr>
          <p:nvPr>
            <p:ph type="body" idx="22"/>
          </p:nvPr>
        </p:nvSpPr>
        <p:spPr>
          <a:xfrm>
            <a:off x="761271" y="3197581"/>
            <a:ext cx="22861457" cy="9554767"/>
          </a:xfrm>
          <a:prstGeom prst="rect">
            <a:avLst/>
          </a:prstGeom>
        </p:spPr>
        <p:txBody>
          <a:bodyPr lIns="0" tIns="0" rIns="0" bIns="0"/>
          <a:lstStyle>
            <a:lvl1pPr marL="773205" indent="-773205" defTabSz="1357312">
              <a:buSzPct val="100000"/>
              <a:buChar char="•"/>
              <a:defRPr sz="4600" b="0">
                <a:solidFill>
                  <a:srgbClr val="424242"/>
                </a:solidFill>
              </a:defRPr>
            </a:lvl1pPr>
            <a:lvl2pPr marL="1090705" indent="-773205" defTabSz="1357312">
              <a:buSzPct val="100000"/>
              <a:buChar char="•"/>
              <a:defRPr sz="4600" b="0">
                <a:solidFill>
                  <a:srgbClr val="424242"/>
                </a:solidFill>
              </a:defRPr>
            </a:lvl2pPr>
            <a:lvl3pPr marL="1408205" indent="-773205" defTabSz="1357312">
              <a:buSzPct val="100000"/>
              <a:buChar char="•"/>
              <a:defRPr sz="4600" b="0">
                <a:solidFill>
                  <a:srgbClr val="424242"/>
                </a:solidFill>
              </a:defRPr>
            </a:lvl3pPr>
            <a:lvl4pPr marL="1725705" indent="-773205" defTabSz="1357312">
              <a:buSzPct val="100000"/>
              <a:buChar char="•"/>
              <a:defRPr sz="4600" b="0">
                <a:solidFill>
                  <a:srgbClr val="424242"/>
                </a:solidFill>
              </a:defRPr>
            </a:lvl4pPr>
            <a:lvl5pPr marL="2043205" indent="-773205" defTabSz="1357312">
              <a:buSzPct val="100000"/>
              <a:buChar char="•"/>
              <a:defRPr sz="4600" b="0">
                <a:solidFill>
                  <a:srgbClr val="424242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8" name="&lt;Title of the Presentation&gt;">
            <a:extLst>
              <a:ext uri="{FF2B5EF4-FFF2-40B4-BE49-F238E27FC236}">
                <a16:creationId xmlns:a16="http://schemas.microsoft.com/office/drawing/2014/main" id="{59E8650D-AE49-47D1-A498-B7A7F6529824}"/>
              </a:ext>
            </a:extLst>
          </p:cNvPr>
          <p:cNvSpPr txBox="1"/>
          <p:nvPr userDrawn="1"/>
        </p:nvSpPr>
        <p:spPr>
          <a:xfrm>
            <a:off x="5711966" y="13266160"/>
            <a:ext cx="12944028" cy="4520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 defTabSz="1357312">
              <a:defRPr sz="2000">
                <a:solidFill>
                  <a:srgbClr val="5C2A7A"/>
                </a:solidFill>
              </a:defRPr>
            </a:lvl1pPr>
          </a:lstStyle>
          <a:p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&lt;Month&gt; DDrd/nd, YYYY"/>
          <p:cNvSpPr txBox="1">
            <a:spLocks noGrp="1"/>
          </p:cNvSpPr>
          <p:nvPr>
            <p:ph type="body" sz="quarter" idx="21"/>
          </p:nvPr>
        </p:nvSpPr>
        <p:spPr>
          <a:xfrm>
            <a:off x="19029097" y="13027507"/>
            <a:ext cx="4831028" cy="701676"/>
          </a:xfrm>
          <a:prstGeom prst="rect">
            <a:avLst/>
          </a:prstGeom>
        </p:spPr>
        <p:txBody>
          <a:bodyPr lIns="71437" tIns="71437" rIns="71437" bIns="71437"/>
          <a:lstStyle/>
          <a:p>
            <a:pPr lvl="2" indent="0" algn="r" defTabSz="1357312">
              <a:defRPr sz="3200" b="0">
                <a:solidFill>
                  <a:srgbClr val="FFFFFF"/>
                </a:solidFill>
              </a:defRPr>
            </a:pPr>
            <a:r>
              <a:t>&lt;Month&gt; DDrd/nd, YYYY</a:t>
            </a:r>
          </a:p>
        </p:txBody>
      </p:sp>
      <p:sp>
        <p:nvSpPr>
          <p:cNvPr id="13" name="Authors…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7948280" y="4340707"/>
            <a:ext cx="15911845" cy="1643063"/>
          </a:xfrm>
          <a:prstGeom prst="rect">
            <a:avLst/>
          </a:prstGeom>
        </p:spPr>
        <p:txBody>
          <a:bodyPr lIns="71437" tIns="71437" rIns="71437" bIns="71437"/>
          <a:lstStyle/>
          <a:p>
            <a:pPr lvl="2" indent="0" algn="r" defTabSz="1357312">
              <a:defRPr sz="3200" b="0">
                <a:solidFill>
                  <a:srgbClr val="FFFFFF"/>
                </a:solidFill>
              </a:defRPr>
            </a:pPr>
            <a:r>
              <a:rPr lang="en-US"/>
              <a:t>Oleksandr Prykhodko</a:t>
            </a:r>
          </a:p>
          <a:p>
            <a:pPr lvl="2" indent="0" algn="r" defTabSz="1357312">
              <a:defRPr sz="2400" b="0">
                <a:solidFill>
                  <a:srgbClr val="FFFFFF"/>
                </a:solidFill>
              </a:defRPr>
            </a:pPr>
            <a:r>
              <a:rPr lang="en-US"/>
              <a:t>Department of Chemical Engineering, The University of Manchester, United Kingdom</a:t>
            </a:r>
          </a:p>
        </p:txBody>
      </p:sp>
      <p:sp>
        <p:nvSpPr>
          <p:cNvPr id="14" name="&lt;Meeting Name&gt;"/>
          <p:cNvSpPr txBox="1">
            <a:spLocks noGrp="1"/>
          </p:cNvSpPr>
          <p:nvPr>
            <p:ph type="body" sz="quarter" idx="23"/>
          </p:nvPr>
        </p:nvSpPr>
        <p:spPr>
          <a:xfrm>
            <a:off x="546364" y="13027507"/>
            <a:ext cx="4831028" cy="701676"/>
          </a:xfrm>
          <a:prstGeom prst="rect">
            <a:avLst/>
          </a:prstGeom>
        </p:spPr>
        <p:txBody>
          <a:bodyPr lIns="71437" tIns="71437" rIns="71437" bIns="71437"/>
          <a:lstStyle/>
          <a:p>
            <a:pPr lvl="2" indent="0" defTabSz="1357312">
              <a:defRPr sz="3200" b="0">
                <a:solidFill>
                  <a:srgbClr val="FFFFFF"/>
                </a:solidFill>
              </a:defRPr>
            </a:pPr>
            <a:r>
              <a:t>&lt;Meeting Name&gt;</a:t>
            </a:r>
          </a:p>
        </p:txBody>
      </p:sp>
      <p:sp>
        <p:nvSpPr>
          <p:cNvPr id="15" name="Title Text"/>
          <p:cNvSpPr txBox="1">
            <a:spLocks noGrp="1"/>
          </p:cNvSpPr>
          <p:nvPr>
            <p:ph type="body" sz="quarter" idx="24"/>
          </p:nvPr>
        </p:nvSpPr>
        <p:spPr>
          <a:xfrm>
            <a:off x="523875" y="2329781"/>
            <a:ext cx="23336250" cy="1643063"/>
          </a:xfrm>
          <a:prstGeom prst="rect">
            <a:avLst/>
          </a:prstGeom>
        </p:spPr>
        <p:txBody>
          <a:bodyPr lIns="0" tIns="0" rIns="0" bIns="0"/>
          <a:lstStyle>
            <a:lvl1pPr algn="r" defTabSz="1357312">
              <a:defRPr sz="5600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1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TAB_allwhite.pdf" descr="TAB_allwhite.pdf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81510" y="152400"/>
            <a:ext cx="2919845" cy="1243103"/>
          </a:xfrm>
          <a:prstGeom prst="rect">
            <a:avLst/>
          </a:prstGeom>
          <a:ln w="12700">
            <a:miter lim="400000"/>
          </a:ln>
        </p:spPr>
      </p:pic>
      <p:sp>
        <p:nvSpPr>
          <p:cNvPr id="43" name="&lt;Presenting Author&gt;…"/>
          <p:cNvSpPr txBox="1"/>
          <p:nvPr/>
        </p:nvSpPr>
        <p:spPr>
          <a:xfrm>
            <a:off x="761271" y="3197581"/>
            <a:ext cx="22861457" cy="95547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>
            <a:normAutofit/>
          </a:bodyPr>
          <a:lstStyle/>
          <a:p>
            <a:pPr algn="l" defTabSz="1357312">
              <a:defRPr sz="4600">
                <a:solidFill>
                  <a:srgbClr val="FFFFFF"/>
                </a:solidFill>
              </a:defRPr>
            </a:pPr>
            <a:r>
              <a:rPr lang="en-US"/>
              <a:t>Mohammed Alsubeihi</a:t>
            </a:r>
          </a:p>
          <a:p>
            <a:pPr algn="l" defTabSz="1357312">
              <a:defRPr sz="4600">
                <a:solidFill>
                  <a:srgbClr val="FFFFFF"/>
                </a:solidFill>
              </a:defRPr>
            </a:pPr>
            <a:r>
              <a:rPr lang="en-US">
                <a:hlinkClick r:id="rId3"/>
              </a:rPr>
              <a:t>mohammed.alsubeihi@manchester.ac.uk</a:t>
            </a:r>
            <a:endParaRPr lang="en-US"/>
          </a:p>
          <a:p>
            <a:pPr algn="l" defTabSz="1357312">
              <a:defRPr sz="4600">
                <a:solidFill>
                  <a:srgbClr val="FFFFFF"/>
                </a:solidFill>
              </a:defRPr>
            </a:pPr>
            <a:endParaRPr lang="en-US"/>
          </a:p>
          <a:p>
            <a:pPr algn="l" defTabSz="1357312">
              <a:defRPr sz="4600">
                <a:solidFill>
                  <a:srgbClr val="FFFFFF"/>
                </a:solidFill>
              </a:defRPr>
            </a:pPr>
            <a:r>
              <a:rPr lang="en-US"/>
              <a:t>Kimiya Ramezani</a:t>
            </a:r>
          </a:p>
          <a:p>
            <a:pPr algn="l" defTabSz="1357312">
              <a:defRPr sz="4600">
                <a:solidFill>
                  <a:srgbClr val="FFFFFF"/>
                </a:solidFill>
              </a:defRPr>
            </a:pPr>
            <a:r>
              <a:rPr lang="en-US">
                <a:hlinkClick r:id="rId4"/>
              </a:rPr>
              <a:t>Kimiya.ramezani@manchester.ac.uk</a:t>
            </a:r>
            <a:endParaRPr lang="en-US"/>
          </a:p>
          <a:p>
            <a:pPr algn="l" defTabSz="1357312">
              <a:defRPr sz="4600">
                <a:solidFill>
                  <a:srgbClr val="FFFFFF"/>
                </a:solidFill>
              </a:defRPr>
            </a:pPr>
            <a:endParaRPr/>
          </a:p>
          <a:p>
            <a:pPr algn="l" defTabSz="1357312">
              <a:defRPr sz="4600">
                <a:solidFill>
                  <a:srgbClr val="FFFFFF"/>
                </a:solidFill>
              </a:defRPr>
            </a:pPr>
            <a:r>
              <a:t>Department of Chemical Engineering</a:t>
            </a:r>
          </a:p>
          <a:p>
            <a:pPr algn="l" defTabSz="1357312">
              <a:defRPr sz="4600">
                <a:solidFill>
                  <a:srgbClr val="FFFFFF"/>
                </a:solidFill>
              </a:defRPr>
            </a:pPr>
            <a:r>
              <a:t>The University of Manchester</a:t>
            </a:r>
          </a:p>
          <a:p>
            <a:pPr algn="l" defTabSz="1357312">
              <a:defRPr sz="4600">
                <a:solidFill>
                  <a:srgbClr val="FFFFFF"/>
                </a:solidFill>
              </a:defRPr>
            </a:pPr>
            <a:r>
              <a:t>United Kingdom</a:t>
            </a:r>
          </a:p>
        </p:txBody>
      </p:sp>
      <p:sp>
        <p:nvSpPr>
          <p:cNvPr id="4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73778934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2A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B_allwhite.pdf" descr="TAB_allwhite.pdf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581510" y="152400"/>
            <a:ext cx="2919845" cy="1243103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b">
            <a:normAutofit/>
          </a:bodyPr>
          <a:lstStyle/>
          <a:p>
            <a:r>
              <a:t>Presentation Title</a:t>
            </a:r>
          </a:p>
        </p:txBody>
      </p:sp>
      <p:sp>
        <p:nvSpPr>
          <p:cNvPr id="4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737013" y="13277477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9E79A6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49" r:id="rId2"/>
    <p:sldLayoutId id="2147483653" r:id="rId3"/>
  </p:sldLayoutIdLst>
  <p:transition spd="med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600" b="1" i="0" u="none" strike="noStrike" cap="none" spc="-232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600" b="1" i="0" u="none" strike="noStrike" cap="none" spc="-232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600" b="1" i="0" u="none" strike="noStrike" cap="none" spc="-232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600" b="1" i="0" u="none" strike="noStrike" cap="none" spc="-232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600" b="1" i="0" u="none" strike="noStrike" cap="none" spc="-232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600" b="1" i="0" u="none" strike="noStrike" cap="none" spc="-232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600" b="1" i="0" u="none" strike="noStrike" cap="none" spc="-232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600" b="1" i="0" u="none" strike="noStrike" cap="none" spc="-232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600" b="1" i="0" u="none" strike="noStrike" cap="none" spc="-232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0" marR="0" indent="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500" b="1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500" b="1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500" b="1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500" b="1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500" b="1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500" b="1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500" b="1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500" b="1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500" b="1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3.xml"/><Relationship Id="rId7" Type="http://schemas.openxmlformats.org/officeDocument/2006/relationships/image" Target="../media/image3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10" Type="http://schemas.openxmlformats.org/officeDocument/2006/relationships/image" Target="../media/image6.png"/><Relationship Id="rId4" Type="http://schemas.openxmlformats.org/officeDocument/2006/relationships/tags" Target="../tags/tag4.xml"/><Relationship Id="rId9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ags" Target="../tags/tag7.xml"/><Relationship Id="rId7" Type="http://schemas.openxmlformats.org/officeDocument/2006/relationships/image" Target="../media/image4.pn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10" Type="http://schemas.openxmlformats.org/officeDocument/2006/relationships/image" Target="../media/image3.png"/><Relationship Id="rId4" Type="http://schemas.openxmlformats.org/officeDocument/2006/relationships/tags" Target="../tags/tag8.xml"/><Relationship Id="rId9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7.png"/><Relationship Id="rId3" Type="http://schemas.openxmlformats.org/officeDocument/2006/relationships/tags" Target="../tags/tag13.xml"/><Relationship Id="rId7" Type="http://schemas.openxmlformats.org/officeDocument/2006/relationships/image" Target="../media/image12.png"/><Relationship Id="rId12" Type="http://schemas.openxmlformats.org/officeDocument/2006/relationships/image" Target="../media/image11.pn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10.png"/><Relationship Id="rId11" Type="http://schemas.openxmlformats.org/officeDocument/2006/relationships/image" Target="../media/image8.png"/><Relationship Id="rId5" Type="http://schemas.openxmlformats.org/officeDocument/2006/relationships/notesSlide" Target="../notesSlides/notesSlide6.xml"/><Relationship Id="rId10" Type="http://schemas.openxmlformats.org/officeDocument/2006/relationships/image" Target="../media/image9.png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tags" Target="../tags/tag16.xml"/><Relationship Id="rId7" Type="http://schemas.openxmlformats.org/officeDocument/2006/relationships/notesSlide" Target="../notesSlides/notesSlide7.xml"/><Relationship Id="rId12" Type="http://schemas.openxmlformats.org/officeDocument/2006/relationships/image" Target="../media/image9.png"/><Relationship Id="rId17" Type="http://schemas.openxmlformats.org/officeDocument/2006/relationships/image" Target="../media/image11.png"/><Relationship Id="rId2" Type="http://schemas.openxmlformats.org/officeDocument/2006/relationships/tags" Target="../tags/tag15.xml"/><Relationship Id="rId16" Type="http://schemas.openxmlformats.org/officeDocument/2006/relationships/image" Target="../media/image8.png"/><Relationship Id="rId1" Type="http://schemas.openxmlformats.org/officeDocument/2006/relationships/tags" Target="../tags/tag14.xml"/><Relationship Id="rId6" Type="http://schemas.openxmlformats.org/officeDocument/2006/relationships/slideLayout" Target="../slideLayouts/slideLayout1.xml"/><Relationship Id="rId11" Type="http://schemas.openxmlformats.org/officeDocument/2006/relationships/image" Target="../media/image14.png"/><Relationship Id="rId5" Type="http://schemas.openxmlformats.org/officeDocument/2006/relationships/tags" Target="../tags/tag18.xml"/><Relationship Id="rId15" Type="http://schemas.openxmlformats.org/officeDocument/2006/relationships/image" Target="../media/image17.png"/><Relationship Id="rId10" Type="http://schemas.openxmlformats.org/officeDocument/2006/relationships/image" Target="../media/image13.png"/><Relationship Id="rId4" Type="http://schemas.openxmlformats.org/officeDocument/2006/relationships/tags" Target="../tags/tag17.xml"/><Relationship Id="rId9" Type="http://schemas.openxmlformats.org/officeDocument/2006/relationships/image" Target="../media/image12.png"/><Relationship Id="rId1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26.xml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tags" Target="../tags/tag21.xml"/><Relationship Id="rId21" Type="http://schemas.openxmlformats.org/officeDocument/2006/relationships/image" Target="../media/image17.png"/><Relationship Id="rId7" Type="http://schemas.openxmlformats.org/officeDocument/2006/relationships/tags" Target="../tags/tag25.xml"/><Relationship Id="rId12" Type="http://schemas.openxmlformats.org/officeDocument/2006/relationships/image" Target="../media/image12.png"/><Relationship Id="rId17" Type="http://schemas.openxmlformats.org/officeDocument/2006/relationships/image" Target="../media/image16.png"/><Relationship Id="rId2" Type="http://schemas.openxmlformats.org/officeDocument/2006/relationships/tags" Target="../tags/tag20.xml"/><Relationship Id="rId16" Type="http://schemas.openxmlformats.org/officeDocument/2006/relationships/image" Target="../media/image15.png"/><Relationship Id="rId20" Type="http://schemas.openxmlformats.org/officeDocument/2006/relationships/image" Target="../media/image20.png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11" Type="http://schemas.openxmlformats.org/officeDocument/2006/relationships/image" Target="../media/image10.png"/><Relationship Id="rId5" Type="http://schemas.openxmlformats.org/officeDocument/2006/relationships/tags" Target="../tags/tag23.xml"/><Relationship Id="rId15" Type="http://schemas.openxmlformats.org/officeDocument/2006/relationships/image" Target="../media/image9.png"/><Relationship Id="rId23" Type="http://schemas.openxmlformats.org/officeDocument/2006/relationships/image" Target="../media/image11.png"/><Relationship Id="rId10" Type="http://schemas.openxmlformats.org/officeDocument/2006/relationships/notesSlide" Target="../notesSlides/notesSlide8.xml"/><Relationship Id="rId19" Type="http://schemas.openxmlformats.org/officeDocument/2006/relationships/image" Target="../media/image19.png"/><Relationship Id="rId4" Type="http://schemas.openxmlformats.org/officeDocument/2006/relationships/tags" Target="../tags/tag22.xml"/><Relationship Id="rId9" Type="http://schemas.openxmlformats.org/officeDocument/2006/relationships/slideLayout" Target="../slideLayouts/slideLayout1.xml"/><Relationship Id="rId14" Type="http://schemas.openxmlformats.org/officeDocument/2006/relationships/image" Target="../media/image14.png"/><Relationship Id="rId22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34.xml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tags" Target="../tags/tag29.xml"/><Relationship Id="rId21" Type="http://schemas.openxmlformats.org/officeDocument/2006/relationships/image" Target="../media/image17.png"/><Relationship Id="rId7" Type="http://schemas.openxmlformats.org/officeDocument/2006/relationships/tags" Target="../tags/tag33.xml"/><Relationship Id="rId12" Type="http://schemas.openxmlformats.org/officeDocument/2006/relationships/image" Target="../media/image12.png"/><Relationship Id="rId17" Type="http://schemas.openxmlformats.org/officeDocument/2006/relationships/image" Target="../media/image16.png"/><Relationship Id="rId2" Type="http://schemas.openxmlformats.org/officeDocument/2006/relationships/tags" Target="../tags/tag28.xml"/><Relationship Id="rId16" Type="http://schemas.openxmlformats.org/officeDocument/2006/relationships/image" Target="../media/image15.png"/><Relationship Id="rId20" Type="http://schemas.openxmlformats.org/officeDocument/2006/relationships/image" Target="../media/image20.png"/><Relationship Id="rId1" Type="http://schemas.openxmlformats.org/officeDocument/2006/relationships/tags" Target="../tags/tag27.xml"/><Relationship Id="rId6" Type="http://schemas.openxmlformats.org/officeDocument/2006/relationships/tags" Target="../tags/tag32.xml"/><Relationship Id="rId11" Type="http://schemas.openxmlformats.org/officeDocument/2006/relationships/image" Target="../media/image10.png"/><Relationship Id="rId5" Type="http://schemas.openxmlformats.org/officeDocument/2006/relationships/tags" Target="../tags/tag31.xml"/><Relationship Id="rId15" Type="http://schemas.openxmlformats.org/officeDocument/2006/relationships/image" Target="../media/image9.png"/><Relationship Id="rId23" Type="http://schemas.openxmlformats.org/officeDocument/2006/relationships/image" Target="../media/image11.png"/><Relationship Id="rId10" Type="http://schemas.openxmlformats.org/officeDocument/2006/relationships/notesSlide" Target="../notesSlides/notesSlide9.xml"/><Relationship Id="rId19" Type="http://schemas.openxmlformats.org/officeDocument/2006/relationships/image" Target="../media/image19.png"/><Relationship Id="rId4" Type="http://schemas.openxmlformats.org/officeDocument/2006/relationships/tags" Target="../tags/tag30.xml"/><Relationship Id="rId9" Type="http://schemas.openxmlformats.org/officeDocument/2006/relationships/slideLayout" Target="../slideLayouts/slideLayout1.xml"/><Relationship Id="rId14" Type="http://schemas.openxmlformats.org/officeDocument/2006/relationships/image" Target="../media/image14.png"/><Relationship Id="rId22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13.png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image" Target="../media/image12.png"/><Relationship Id="rId11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8.png"/><Relationship Id="rId4" Type="http://schemas.openxmlformats.org/officeDocument/2006/relationships/notesSlide" Target="../notesSlides/notesSlide10.xml"/><Relationship Id="rId9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7.xml"/><Relationship Id="rId6" Type="http://schemas.openxmlformats.org/officeDocument/2006/relationships/image" Target="../media/image22.png"/><Relationship Id="rId11" Type="http://schemas.openxmlformats.org/officeDocument/2006/relationships/image" Target="../media/image20.png"/><Relationship Id="rId5" Type="http://schemas.openxmlformats.org/officeDocument/2006/relationships/image" Target="../media/image9.png"/><Relationship Id="rId10" Type="http://schemas.openxmlformats.org/officeDocument/2006/relationships/image" Target="../media/image23.png"/><Relationship Id="rId4" Type="http://schemas.openxmlformats.org/officeDocument/2006/relationships/image" Target="../media/image21.png"/><Relationship Id="rId9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8.png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22.png"/><Relationship Id="rId12" Type="http://schemas.openxmlformats.org/officeDocument/2006/relationships/image" Target="../media/image29.png"/><Relationship Id="rId17" Type="http://schemas.openxmlformats.org/officeDocument/2006/relationships/image" Target="../media/image20.pn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23.png"/><Relationship Id="rId1" Type="http://schemas.openxmlformats.org/officeDocument/2006/relationships/tags" Target="../tags/tag38.xml"/><Relationship Id="rId6" Type="http://schemas.openxmlformats.org/officeDocument/2006/relationships/image" Target="../media/image9.png"/><Relationship Id="rId11" Type="http://schemas.openxmlformats.org/officeDocument/2006/relationships/image" Target="../media/image28.png"/><Relationship Id="rId5" Type="http://schemas.openxmlformats.org/officeDocument/2006/relationships/image" Target="../media/image24.png"/><Relationship Id="rId15" Type="http://schemas.openxmlformats.org/officeDocument/2006/relationships/image" Target="../media/image17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9.png"/><Relationship Id="rId18" Type="http://schemas.openxmlformats.org/officeDocument/2006/relationships/image" Target="../media/image20.png"/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9.png"/><Relationship Id="rId12" Type="http://schemas.openxmlformats.org/officeDocument/2006/relationships/image" Target="../media/image28.png"/><Relationship Id="rId17" Type="http://schemas.openxmlformats.org/officeDocument/2006/relationships/image" Target="../media/image23.pn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17.png"/><Relationship Id="rId1" Type="http://schemas.openxmlformats.org/officeDocument/2006/relationships/tags" Target="../tags/tag39.xml"/><Relationship Id="rId6" Type="http://schemas.openxmlformats.org/officeDocument/2006/relationships/image" Target="../media/image30.png"/><Relationship Id="rId11" Type="http://schemas.openxmlformats.org/officeDocument/2006/relationships/image" Target="../media/image27.png"/><Relationship Id="rId5" Type="http://schemas.openxmlformats.org/officeDocument/2006/relationships/image" Target="../media/image24.png"/><Relationship Id="rId15" Type="http://schemas.openxmlformats.org/officeDocument/2006/relationships/image" Target="../media/image11.png"/><Relationship Id="rId10" Type="http://schemas.openxmlformats.org/officeDocument/2006/relationships/image" Target="../media/image26.png"/><Relationship Id="rId4" Type="http://schemas.openxmlformats.org/officeDocument/2006/relationships/image" Target="../media/image21.png"/><Relationship Id="rId9" Type="http://schemas.openxmlformats.org/officeDocument/2006/relationships/image" Target="../media/image25.png"/><Relationship Id="rId1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3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0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20.png"/><Relationship Id="rId9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41.png"/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32.png"/><Relationship Id="rId12" Type="http://schemas.openxmlformats.org/officeDocument/2006/relationships/image" Target="../media/image4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1.xml"/><Relationship Id="rId6" Type="http://schemas.openxmlformats.org/officeDocument/2006/relationships/image" Target="../media/image31.png"/><Relationship Id="rId11" Type="http://schemas.openxmlformats.org/officeDocument/2006/relationships/image" Target="../media/image39.png"/><Relationship Id="rId5" Type="http://schemas.openxmlformats.org/officeDocument/2006/relationships/image" Target="../media/image37.png"/><Relationship Id="rId10" Type="http://schemas.openxmlformats.org/officeDocument/2006/relationships/image" Target="../media/image38.png"/><Relationship Id="rId4" Type="http://schemas.openxmlformats.org/officeDocument/2006/relationships/image" Target="../media/image20.png"/><Relationship Id="rId9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41.png"/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31.png"/><Relationship Id="rId12" Type="http://schemas.openxmlformats.org/officeDocument/2006/relationships/image" Target="../media/image4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2.xml"/><Relationship Id="rId6" Type="http://schemas.openxmlformats.org/officeDocument/2006/relationships/image" Target="../media/image43.png"/><Relationship Id="rId11" Type="http://schemas.openxmlformats.org/officeDocument/2006/relationships/image" Target="../media/image35.png"/><Relationship Id="rId5" Type="http://schemas.openxmlformats.org/officeDocument/2006/relationships/image" Target="../media/image42.png"/><Relationship Id="rId10" Type="http://schemas.openxmlformats.org/officeDocument/2006/relationships/image" Target="../media/image44.png"/><Relationship Id="rId4" Type="http://schemas.openxmlformats.org/officeDocument/2006/relationships/image" Target="../media/image20.png"/><Relationship Id="rId9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41.png"/><Relationship Id="rId3" Type="http://schemas.openxmlformats.org/officeDocument/2006/relationships/notesSlide" Target="../notesSlides/notesSlide17.xml"/><Relationship Id="rId7" Type="http://schemas.openxmlformats.org/officeDocument/2006/relationships/image" Target="../media/image31.png"/><Relationship Id="rId12" Type="http://schemas.openxmlformats.org/officeDocument/2006/relationships/image" Target="../media/image4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3.xml"/><Relationship Id="rId6" Type="http://schemas.openxmlformats.org/officeDocument/2006/relationships/image" Target="../media/image43.png"/><Relationship Id="rId11" Type="http://schemas.openxmlformats.org/officeDocument/2006/relationships/image" Target="../media/image35.png"/><Relationship Id="rId5" Type="http://schemas.openxmlformats.org/officeDocument/2006/relationships/image" Target="../media/image42.png"/><Relationship Id="rId10" Type="http://schemas.openxmlformats.org/officeDocument/2006/relationships/image" Target="../media/image44.png"/><Relationship Id="rId4" Type="http://schemas.openxmlformats.org/officeDocument/2006/relationships/image" Target="../media/image20.png"/><Relationship Id="rId9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32.png"/><Relationship Id="rId18" Type="http://schemas.openxmlformats.org/officeDocument/2006/relationships/image" Target="../media/image41.png"/><Relationship Id="rId3" Type="http://schemas.openxmlformats.org/officeDocument/2006/relationships/notesSlide" Target="../notesSlides/notesSlide18.xml"/><Relationship Id="rId7" Type="http://schemas.openxmlformats.org/officeDocument/2006/relationships/image" Target="../media/image47.png"/><Relationship Id="rId12" Type="http://schemas.openxmlformats.org/officeDocument/2006/relationships/image" Target="../media/image31.png"/><Relationship Id="rId17" Type="http://schemas.openxmlformats.org/officeDocument/2006/relationships/image" Target="../media/image45.pn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35.png"/><Relationship Id="rId1" Type="http://schemas.openxmlformats.org/officeDocument/2006/relationships/tags" Target="../tags/tag44.xml"/><Relationship Id="rId6" Type="http://schemas.openxmlformats.org/officeDocument/2006/relationships/image" Target="../media/image43.png"/><Relationship Id="rId11" Type="http://schemas.openxmlformats.org/officeDocument/2006/relationships/image" Target="../media/image51.png"/><Relationship Id="rId5" Type="http://schemas.openxmlformats.org/officeDocument/2006/relationships/image" Target="../media/image46.png"/><Relationship Id="rId15" Type="http://schemas.openxmlformats.org/officeDocument/2006/relationships/image" Target="../media/image44.png"/><Relationship Id="rId10" Type="http://schemas.openxmlformats.org/officeDocument/2006/relationships/image" Target="../media/image50.png"/><Relationship Id="rId4" Type="http://schemas.openxmlformats.org/officeDocument/2006/relationships/image" Target="../media/image20.png"/><Relationship Id="rId9" Type="http://schemas.openxmlformats.org/officeDocument/2006/relationships/image" Target="../media/image49.png"/><Relationship Id="rId1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31.png"/><Relationship Id="rId18" Type="http://schemas.openxmlformats.org/officeDocument/2006/relationships/image" Target="../media/image45.png"/><Relationship Id="rId3" Type="http://schemas.openxmlformats.org/officeDocument/2006/relationships/notesSlide" Target="../notesSlides/notesSlide19.xml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17" Type="http://schemas.openxmlformats.org/officeDocument/2006/relationships/image" Target="../media/image35.pn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44.png"/><Relationship Id="rId1" Type="http://schemas.openxmlformats.org/officeDocument/2006/relationships/tags" Target="../tags/tag45.xml"/><Relationship Id="rId6" Type="http://schemas.openxmlformats.org/officeDocument/2006/relationships/image" Target="../media/image43.png"/><Relationship Id="rId11" Type="http://schemas.openxmlformats.org/officeDocument/2006/relationships/image" Target="../media/image51.png"/><Relationship Id="rId5" Type="http://schemas.openxmlformats.org/officeDocument/2006/relationships/image" Target="../media/image46.png"/><Relationship Id="rId15" Type="http://schemas.openxmlformats.org/officeDocument/2006/relationships/image" Target="../media/image33.png"/><Relationship Id="rId10" Type="http://schemas.openxmlformats.org/officeDocument/2006/relationships/image" Target="../media/image50.png"/><Relationship Id="rId19" Type="http://schemas.openxmlformats.org/officeDocument/2006/relationships/image" Target="../media/image41.png"/><Relationship Id="rId4" Type="http://schemas.openxmlformats.org/officeDocument/2006/relationships/image" Target="../media/image20.png"/><Relationship Id="rId9" Type="http://schemas.openxmlformats.org/officeDocument/2006/relationships/image" Target="../media/image49.png"/><Relationship Id="rId1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3.png"/><Relationship Id="rId18" Type="http://schemas.openxmlformats.org/officeDocument/2006/relationships/image" Target="../media/image35.png"/><Relationship Id="rId3" Type="http://schemas.openxmlformats.org/officeDocument/2006/relationships/notesSlide" Target="../notesSlides/notesSlide20.xml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17" Type="http://schemas.openxmlformats.org/officeDocument/2006/relationships/image" Target="../media/image44.pn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33.png"/><Relationship Id="rId20" Type="http://schemas.openxmlformats.org/officeDocument/2006/relationships/image" Target="../media/image41.png"/><Relationship Id="rId1" Type="http://schemas.openxmlformats.org/officeDocument/2006/relationships/tags" Target="../tags/tag46.xml"/><Relationship Id="rId6" Type="http://schemas.openxmlformats.org/officeDocument/2006/relationships/image" Target="../media/image43.png"/><Relationship Id="rId11" Type="http://schemas.openxmlformats.org/officeDocument/2006/relationships/image" Target="../media/image51.png"/><Relationship Id="rId5" Type="http://schemas.openxmlformats.org/officeDocument/2006/relationships/image" Target="../media/image46.png"/><Relationship Id="rId15" Type="http://schemas.openxmlformats.org/officeDocument/2006/relationships/image" Target="../media/image32.png"/><Relationship Id="rId10" Type="http://schemas.openxmlformats.org/officeDocument/2006/relationships/image" Target="../media/image50.png"/><Relationship Id="rId19" Type="http://schemas.openxmlformats.org/officeDocument/2006/relationships/image" Target="../media/image45.png"/><Relationship Id="rId4" Type="http://schemas.openxmlformats.org/officeDocument/2006/relationships/image" Target="../media/image20.png"/><Relationship Id="rId9" Type="http://schemas.openxmlformats.org/officeDocument/2006/relationships/image" Target="../media/image49.png"/><Relationship Id="rId14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4.png"/><Relationship Id="rId18" Type="http://schemas.openxmlformats.org/officeDocument/2006/relationships/image" Target="../media/image44.png"/><Relationship Id="rId3" Type="http://schemas.openxmlformats.org/officeDocument/2006/relationships/notesSlide" Target="../notesSlides/notesSlide21.xml"/><Relationship Id="rId21" Type="http://schemas.openxmlformats.org/officeDocument/2006/relationships/image" Target="../media/image41.png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17" Type="http://schemas.openxmlformats.org/officeDocument/2006/relationships/image" Target="../media/image33.pn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32.png"/><Relationship Id="rId20" Type="http://schemas.openxmlformats.org/officeDocument/2006/relationships/image" Target="../media/image45.png"/><Relationship Id="rId1" Type="http://schemas.openxmlformats.org/officeDocument/2006/relationships/tags" Target="../tags/tag47.xml"/><Relationship Id="rId6" Type="http://schemas.openxmlformats.org/officeDocument/2006/relationships/image" Target="../media/image43.png"/><Relationship Id="rId11" Type="http://schemas.openxmlformats.org/officeDocument/2006/relationships/image" Target="../media/image51.png"/><Relationship Id="rId5" Type="http://schemas.openxmlformats.org/officeDocument/2006/relationships/image" Target="../media/image46.png"/><Relationship Id="rId15" Type="http://schemas.openxmlformats.org/officeDocument/2006/relationships/image" Target="../media/image31.png"/><Relationship Id="rId10" Type="http://schemas.openxmlformats.org/officeDocument/2006/relationships/image" Target="../media/image50.png"/><Relationship Id="rId19" Type="http://schemas.openxmlformats.org/officeDocument/2006/relationships/image" Target="../media/image35.png"/><Relationship Id="rId4" Type="http://schemas.openxmlformats.org/officeDocument/2006/relationships/image" Target="../media/image20.png"/><Relationship Id="rId9" Type="http://schemas.openxmlformats.org/officeDocument/2006/relationships/image" Target="../media/image49.png"/><Relationship Id="rId14" Type="http://schemas.openxmlformats.org/officeDocument/2006/relationships/image" Target="../media/image53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4.png"/><Relationship Id="rId18" Type="http://schemas.openxmlformats.org/officeDocument/2006/relationships/image" Target="../media/image44.png"/><Relationship Id="rId3" Type="http://schemas.openxmlformats.org/officeDocument/2006/relationships/notesSlide" Target="../notesSlides/notesSlide22.xml"/><Relationship Id="rId21" Type="http://schemas.openxmlformats.org/officeDocument/2006/relationships/image" Target="../media/image41.png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17" Type="http://schemas.openxmlformats.org/officeDocument/2006/relationships/image" Target="../media/image33.pn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32.png"/><Relationship Id="rId20" Type="http://schemas.openxmlformats.org/officeDocument/2006/relationships/image" Target="../media/image45.png"/><Relationship Id="rId1" Type="http://schemas.openxmlformats.org/officeDocument/2006/relationships/tags" Target="../tags/tag48.xml"/><Relationship Id="rId6" Type="http://schemas.openxmlformats.org/officeDocument/2006/relationships/image" Target="../media/image43.png"/><Relationship Id="rId11" Type="http://schemas.openxmlformats.org/officeDocument/2006/relationships/image" Target="../media/image51.png"/><Relationship Id="rId5" Type="http://schemas.openxmlformats.org/officeDocument/2006/relationships/image" Target="../media/image46.png"/><Relationship Id="rId15" Type="http://schemas.openxmlformats.org/officeDocument/2006/relationships/image" Target="../media/image31.png"/><Relationship Id="rId10" Type="http://schemas.openxmlformats.org/officeDocument/2006/relationships/image" Target="../media/image50.png"/><Relationship Id="rId19" Type="http://schemas.openxmlformats.org/officeDocument/2006/relationships/image" Target="../media/image35.png"/><Relationship Id="rId4" Type="http://schemas.openxmlformats.org/officeDocument/2006/relationships/image" Target="../media/image20.png"/><Relationship Id="rId9" Type="http://schemas.openxmlformats.org/officeDocument/2006/relationships/image" Target="../media/image49.png"/><Relationship Id="rId14" Type="http://schemas.openxmlformats.org/officeDocument/2006/relationships/image" Target="../media/image53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63.png"/><Relationship Id="rId3" Type="http://schemas.openxmlformats.org/officeDocument/2006/relationships/notesSlide" Target="../notesSlides/notesSlide23.xml"/><Relationship Id="rId7" Type="http://schemas.openxmlformats.org/officeDocument/2006/relationships/image" Target="../media/image57.png"/><Relationship Id="rId12" Type="http://schemas.openxmlformats.org/officeDocument/2006/relationships/image" Target="../media/image6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9.xml"/><Relationship Id="rId6" Type="http://schemas.openxmlformats.org/officeDocument/2006/relationships/image" Target="../media/image56.png"/><Relationship Id="rId11" Type="http://schemas.openxmlformats.org/officeDocument/2006/relationships/image" Target="../media/image61.png"/><Relationship Id="rId5" Type="http://schemas.openxmlformats.org/officeDocument/2006/relationships/image" Target="../media/image55.png"/><Relationship Id="rId10" Type="http://schemas.openxmlformats.org/officeDocument/2006/relationships/image" Target="../media/image60.png"/><Relationship Id="rId4" Type="http://schemas.openxmlformats.org/officeDocument/2006/relationships/image" Target="../media/image20.png"/><Relationship Id="rId9" Type="http://schemas.openxmlformats.org/officeDocument/2006/relationships/image" Target="../media/image59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notesSlide" Target="../notesSlides/notesSlide24.xml"/><Relationship Id="rId7" Type="http://schemas.openxmlformats.org/officeDocument/2006/relationships/image" Target="../media/image6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0.xml"/><Relationship Id="rId6" Type="http://schemas.openxmlformats.org/officeDocument/2006/relationships/image" Target="../media/image65.png"/><Relationship Id="rId11" Type="http://schemas.openxmlformats.org/officeDocument/2006/relationships/image" Target="../media/image70.png"/><Relationship Id="rId5" Type="http://schemas.openxmlformats.org/officeDocument/2006/relationships/image" Target="../media/image64.png"/><Relationship Id="rId10" Type="http://schemas.openxmlformats.org/officeDocument/2006/relationships/image" Target="../media/image69.png"/><Relationship Id="rId4" Type="http://schemas.openxmlformats.org/officeDocument/2006/relationships/image" Target="../media/image20.png"/><Relationship Id="rId9" Type="http://schemas.openxmlformats.org/officeDocument/2006/relationships/image" Target="../media/image68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notesSlide" Target="../notesSlides/notesSlide25.xml"/><Relationship Id="rId7" Type="http://schemas.openxmlformats.org/officeDocument/2006/relationships/image" Target="../media/image6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1.xml"/><Relationship Id="rId6" Type="http://schemas.openxmlformats.org/officeDocument/2006/relationships/image" Target="../media/image65.png"/><Relationship Id="rId11" Type="http://schemas.openxmlformats.org/officeDocument/2006/relationships/image" Target="../media/image70.png"/><Relationship Id="rId5" Type="http://schemas.openxmlformats.org/officeDocument/2006/relationships/image" Target="../media/image64.png"/><Relationship Id="rId10" Type="http://schemas.openxmlformats.org/officeDocument/2006/relationships/image" Target="../media/image69.png"/><Relationship Id="rId4" Type="http://schemas.openxmlformats.org/officeDocument/2006/relationships/image" Target="../media/image20.png"/><Relationship Id="rId9" Type="http://schemas.openxmlformats.org/officeDocument/2006/relationships/image" Target="../media/image68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sv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&lt;Month&gt; DDrd/nd, YYYY"/>
          <p:cNvSpPr txBox="1">
            <a:spLocks noGrp="1"/>
          </p:cNvSpPr>
          <p:nvPr>
            <p:ph type="body" sz="quarter" idx="21"/>
          </p:nvPr>
        </p:nvSpPr>
        <p:spPr>
          <a:prstGeom prst="rect">
            <a:avLst/>
          </a:prstGeom>
        </p:spPr>
        <p:txBody>
          <a:bodyPr lIns="71437" tIns="71437" rIns="71437" bIns="71437" anchor="t">
            <a:normAutofit/>
          </a:bodyPr>
          <a:lstStyle/>
          <a:p>
            <a:pPr lvl="2" indent="0" algn="r" defTabSz="1357312">
              <a:defRPr sz="3200" b="0">
                <a:solidFill>
                  <a:srgbClr val="FFFFFF"/>
                </a:solidFill>
              </a:defRPr>
            </a:pPr>
            <a:r>
              <a:rPr lang="en-GB"/>
              <a:t>22/10/2025</a:t>
            </a:r>
            <a:endParaRPr/>
          </a:p>
        </p:txBody>
      </p:sp>
      <p:sp>
        <p:nvSpPr>
          <p:cNvPr id="54" name="Authors…"/>
          <p:cNvSpPr txBox="1">
            <a:spLocks noGrp="1"/>
          </p:cNvSpPr>
          <p:nvPr>
            <p:ph type="body" sz="quarter" idx="22"/>
          </p:nvPr>
        </p:nvSpPr>
        <p:spPr>
          <a:xfrm>
            <a:off x="7948280" y="4340707"/>
            <a:ext cx="15911845" cy="1954585"/>
          </a:xfrm>
          <a:prstGeom prst="rect">
            <a:avLst/>
          </a:prstGeom>
        </p:spPr>
        <p:txBody>
          <a:bodyPr>
            <a:normAutofit/>
          </a:bodyPr>
          <a:lstStyle/>
          <a:p>
            <a:pPr lvl="2" indent="0" algn="r" defTabSz="1357312">
              <a:defRPr sz="3200" b="0">
                <a:solidFill>
                  <a:srgbClr val="FFFFFF"/>
                </a:solidFill>
              </a:defRPr>
            </a:pPr>
            <a:r>
              <a:rPr lang="en-GB"/>
              <a:t>Mohammed Alsubeihi, Kimiya Ramezani</a:t>
            </a:r>
            <a:endParaRPr lang="en-GB" baseline="30000"/>
          </a:p>
          <a:p>
            <a:pPr lvl="2" indent="0" algn="r" defTabSz="1357312">
              <a:defRPr sz="3200" b="0">
                <a:solidFill>
                  <a:srgbClr val="FFFFFF"/>
                </a:solidFill>
              </a:defRPr>
            </a:pPr>
            <a:r>
              <a:rPr lang="en-GB" sz="2400"/>
              <a:t>Department of Chemical Engineering, The University of Manchester, United Kingdom</a:t>
            </a:r>
          </a:p>
        </p:txBody>
      </p:sp>
      <p:sp>
        <p:nvSpPr>
          <p:cNvPr id="56" name="Title Text"/>
          <p:cNvSpPr txBox="1">
            <a:spLocks noGrp="1"/>
          </p:cNvSpPr>
          <p:nvPr>
            <p:ph type="body" sz="quarter" idx="24"/>
          </p:nvPr>
        </p:nvSpPr>
        <p:spPr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r>
              <a:rPr lang="en-GB"/>
              <a:t>Workshop on Numerical Simulation</a:t>
            </a:r>
            <a:endParaRPr lang="en-US"/>
          </a:p>
        </p:txBody>
      </p:sp>
      <p:pic>
        <p:nvPicPr>
          <p:cNvPr id="3" name="Picture 2" descr="A qr code with a black and white background&#10;&#10;AI-generated content may be incorrect.">
            <a:extLst>
              <a:ext uri="{FF2B5EF4-FFF2-40B4-BE49-F238E27FC236}">
                <a16:creationId xmlns:a16="http://schemas.microsoft.com/office/drawing/2014/main" id="{F81C4F59-6BFA-F1B8-C96D-9331D30EC6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800" y="8877300"/>
            <a:ext cx="4633244" cy="4633244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121CD0D-D3F6-0EAE-2F1A-BD3F635204CF}"/>
              </a:ext>
            </a:extLst>
          </p:cNvPr>
          <p:cNvSpPr txBox="1"/>
          <p:nvPr/>
        </p:nvSpPr>
        <p:spPr>
          <a:xfrm>
            <a:off x="215900" y="6366302"/>
            <a:ext cx="24333200" cy="7078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GB" sz="4000" b="1"/>
              <a:t>Please note that the lecture day, time, and location for next week are different than the usual ones</a:t>
            </a:r>
          </a:p>
        </p:txBody>
      </p:sp>
    </p:spTree>
    <p:extLst>
      <p:ext uri="{BB962C8B-B14F-4D97-AF65-F5344CB8AC3E}">
        <p14:creationId xmlns:p14="http://schemas.microsoft.com/office/powerpoint/2010/main" val="2755741254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/>
          <p:cNvSpPr/>
          <p:nvPr/>
        </p:nvSpPr>
        <p:spPr>
          <a:xfrm>
            <a:off x="3888795" y="246197"/>
            <a:ext cx="4224233" cy="923330"/>
          </a:xfrm>
          <a:prstGeom prst="rect">
            <a:avLst/>
          </a:prstGeom>
        </p:spPr>
        <p:txBody>
          <a:bodyPr wrap="none">
            <a:spAutoFit/>
          </a:bodyPr>
          <a:lstStyle>
            <a:defPPr marL="0" marR="0" indent="0" algn="l" defTabSz="18288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1pPr>
            <a:lvl2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2pPr>
            <a:lvl3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3pPr>
            <a:lvl4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4pPr>
            <a:lvl5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5pPr>
            <a:lvl6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6pPr>
            <a:lvl7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7pPr>
            <a:lvl8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8pPr>
            <a:lvl9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9pPr>
          </a:lstStyle>
          <a:p>
            <a:r>
              <a:rPr lang="en-US" sz="5400" b="1">
                <a:solidFill>
                  <a:srgbClr val="EAEAEA"/>
                </a:solidFill>
              </a:rPr>
              <a:t>Introduction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5E6C2E-C000-B999-264C-69241A7AD13E}"/>
              </a:ext>
            </a:extLst>
          </p:cNvPr>
          <p:cNvSpPr/>
          <p:nvPr/>
        </p:nvSpPr>
        <p:spPr>
          <a:xfrm rot="-10800000" flipV="1">
            <a:off x="457612" y="13283975"/>
            <a:ext cx="4628055" cy="379591"/>
          </a:xfrm>
          <a:prstGeom prst="rect">
            <a:avLst/>
          </a:prstGeom>
          <a:solidFill>
            <a:srgbClr val="5C2A7A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/>
            <a:r>
              <a:rPr lang="en-GB" sz="1800">
                <a:solidFill>
                  <a:srgbClr val="9E79A6"/>
                </a:solidFill>
                <a:latin typeface="Helvetica Neue"/>
              </a:rPr>
              <a:t>KR and MA</a:t>
            </a:r>
            <a:endParaRPr lang="en-US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64342D-F23F-D294-E0BF-76DB073DB7A2}"/>
              </a:ext>
            </a:extLst>
          </p:cNvPr>
          <p:cNvSpPr/>
          <p:nvPr/>
        </p:nvSpPr>
        <p:spPr>
          <a:xfrm rot="-10800000" flipV="1">
            <a:off x="19138012" y="13283101"/>
            <a:ext cx="4628055" cy="379591"/>
          </a:xfrm>
          <a:prstGeom prst="rect">
            <a:avLst/>
          </a:prstGeom>
          <a:solidFill>
            <a:srgbClr val="5C2A7A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/>
            <a:r>
              <a:rPr lang="en-GB" sz="1800">
                <a:solidFill>
                  <a:srgbClr val="9E79A6"/>
                </a:solidFill>
                <a:latin typeface="Helvetica Neue"/>
              </a:rPr>
              <a:t>22/10/2025</a:t>
            </a:r>
            <a:endParaRPr lang="en-US" sz="18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45FB8E-079C-5FD5-F2D9-64E5CCA7EFE0}"/>
              </a:ext>
            </a:extLst>
          </p:cNvPr>
          <p:cNvSpPr/>
          <p:nvPr/>
        </p:nvSpPr>
        <p:spPr>
          <a:xfrm rot="-10800000" flipV="1">
            <a:off x="9853404" y="13283356"/>
            <a:ext cx="4628055" cy="379591"/>
          </a:xfrm>
          <a:prstGeom prst="rect">
            <a:avLst/>
          </a:prstGeom>
          <a:solidFill>
            <a:srgbClr val="8B79A6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n-US" sz="1800"/>
              <a:t>Workshop on Numerical Simulation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3A530B0C-0DF4-6EBB-B7F7-92464D70DE84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23805849" y="13272486"/>
            <a:ext cx="230832" cy="379591"/>
          </a:xfrm>
          <a:prstGeom prst="rect">
            <a:avLst/>
          </a:prstGeom>
        </p:spPr>
        <p:txBody>
          <a:bodyPr/>
          <a:lstStyle/>
          <a:p>
            <a:r>
              <a:rPr lang="en-GB"/>
              <a:t>1</a:t>
            </a:r>
            <a:endParaRPr/>
          </a:p>
        </p:txBody>
      </p:sp>
      <p:sp>
        <p:nvSpPr>
          <p:cNvPr id="7" name="TextBox 6"/>
          <p:cNvSpPr txBox="1"/>
          <p:nvPr/>
        </p:nvSpPr>
        <p:spPr>
          <a:xfrm flipH="1">
            <a:off x="0" y="10929416"/>
            <a:ext cx="22406439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In chemical</a:t>
            </a:r>
            <a:r>
              <a:rPr kumimoji="0" lang="en-US" sz="3200" b="0" i="0" u="none" strike="noStrike" cap="none" spc="0" normalizeH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 engineering, we deal with </a:t>
            </a:r>
            <a:r>
              <a:rPr kumimoji="0" lang="en-US" sz="3200" b="1" i="0" u="none" strike="noStrike" cap="none" spc="0" normalizeH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partial differential equations (PDE</a:t>
            </a:r>
            <a:r>
              <a:rPr kumimoji="0" lang="en-US" sz="3200" b="0" i="0" u="none" strike="noStrike" cap="none" spc="0" normalizeH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) that </a:t>
            </a:r>
            <a:r>
              <a:rPr kumimoji="0" lang="en-US" sz="3200" b="1" i="0" u="none" strike="noStrike" cap="none" spc="0" normalizeH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do not have </a:t>
            </a:r>
            <a:r>
              <a:rPr kumimoji="0" lang="en-US" sz="3200" b="0" i="0" u="none" strike="noStrike" cap="none" spc="0" normalizeH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an </a:t>
            </a:r>
            <a:r>
              <a:rPr kumimoji="0" lang="en-US" sz="3200" b="1" i="0" u="none" strike="noStrike" cap="none" spc="0" normalizeH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analytical solution</a:t>
            </a:r>
            <a:endParaRPr kumimoji="0" lang="en-US" sz="3200" b="1" i="0" u="none" strike="noStrike" cap="none" spc="0" normalizeH="0" baseline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pic>
        <p:nvPicPr>
          <p:cNvPr id="10" name="Picture 9" descr="\documentclass{article}&#10;\usepackage{amsmath}&#10;\pagestyle{empty}&#10;\begin{document}&#10;\begin{equation}&#10;\frac{\partial f(L,t)}{\partial t} = -G(L,t) \frac{\partial f(L,t)}{\partial L} + B(L,t) - D(L,t)&#10;\nonumber&#10;\end{equation}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9732" y="3650122"/>
            <a:ext cx="7949714" cy="811428"/>
          </a:xfrm>
          <a:prstGeom prst="rect">
            <a:avLst/>
          </a:prstGeom>
        </p:spPr>
      </p:pic>
      <p:pic>
        <p:nvPicPr>
          <p:cNvPr id="11" name="Picture 10" descr="\documentclass{article}&#10;\usepackage{amsmath}&#10;\pagestyle{empty}&#10;\begin{document}&#10;\begin{equation}&#10;\frac{\partial}{\partial z} \left( \epsilon_b D_j \frac{\partial c_j}{\partial z} \right) - \frac{\partial \epsilon_b v c_j}{\partial z} = \epsilon_b \frac{\partial c_j}{\partial t} + (1 - \epsilon_b) \frac{\partial n_j}{\partial t}&#10;\nonumber&#10;\end{equation}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9732" y="5390146"/>
            <a:ext cx="7931428" cy="912000"/>
          </a:xfrm>
          <a:prstGeom prst="rect">
            <a:avLst/>
          </a:prstGeom>
        </p:spPr>
      </p:pic>
      <p:pic>
        <p:nvPicPr>
          <p:cNvPr id="12" name="Picture 11" descr="\documentclass{article}&#10;\usepackage{amsmath}&#10;\pagestyle{empty}&#10;\begin{document}&#10;\begin{equation}&#10; \rho \left( \frac{\partial \mathbf{v}}{\partial t} + \mathbf{v} \cdot \nabla \mathbf{v} \right) = -\nabla p + \mu \nabla^2 \mathbf{v} + \mathbf{f}&#10;\nonumber&#10;\end{equation}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1863" y="7224067"/>
            <a:ext cx="6240000" cy="912000"/>
          </a:xfrm>
          <a:prstGeom prst="rect">
            <a:avLst/>
          </a:prstGeom>
        </p:spPr>
      </p:pic>
      <p:pic>
        <p:nvPicPr>
          <p:cNvPr id="13" name="Picture 12" descr="\documentclass{article}&#10;\usepackage{amsmath}&#10;\pagestyle{empty}&#10;\begin{document}&#10;\begin{equation}&#10;\rho c_p \frac{\partial T}{\partial t} + \rho c_p \mathbf{v} \cdot \nabla T = k \nabla^2 T + Q&#10;\nonumber&#10;\end{equation}&#10;&#10;\end{document}" title="IguanaTex Bitmap Display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3028" y="9048830"/>
            <a:ext cx="5437714" cy="79771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 flipH="1">
            <a:off x="712419" y="3684549"/>
            <a:ext cx="22406439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Population</a:t>
            </a:r>
            <a:r>
              <a:rPr kumimoji="0" lang="en-US" sz="3200" b="0" i="0" u="none" strike="noStrike" cap="none" spc="0" normalizeH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 Balance Equation</a:t>
            </a:r>
            <a:endParaRPr kumimoji="0" lang="en-US" sz="3200" b="1" i="0" u="none" strike="noStrike" cap="none" spc="0" normalizeH="0" baseline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28" name="TextBox 27"/>
          <p:cNvSpPr txBox="1"/>
          <p:nvPr/>
        </p:nvSpPr>
        <p:spPr>
          <a:xfrm flipH="1">
            <a:off x="712419" y="5454638"/>
            <a:ext cx="14023847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Adsorption Mass </a:t>
            </a:r>
            <a:r>
              <a:rPr lang="en-US" sz="3200">
                <a:solidFill>
                  <a:schemeClr val="tx1">
                    <a:lumMod val="50000"/>
                  </a:schemeClr>
                </a:solidFill>
              </a:rPr>
              <a:t>B</a:t>
            </a:r>
            <a:r>
              <a:rPr kumimoji="0" lang="en-US" sz="3200" b="0" i="0" u="none" strike="noStrike" cap="none" spc="0" normalizeH="0" baseline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alance </a:t>
            </a:r>
            <a:r>
              <a:rPr kumimoji="0" lang="en-US" sz="3200" b="0" i="0" u="none" strike="noStrike" cap="none" spc="0" normalizeH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Equation</a:t>
            </a:r>
            <a:endParaRPr kumimoji="0" lang="en-US" sz="3200" b="1" i="0" u="none" strike="noStrike" cap="none" spc="0" normalizeH="0" baseline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29" name="TextBox 28"/>
          <p:cNvSpPr txBox="1"/>
          <p:nvPr/>
        </p:nvSpPr>
        <p:spPr>
          <a:xfrm flipH="1">
            <a:off x="712419" y="7339718"/>
            <a:ext cx="22406439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err="1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Navier</a:t>
            </a:r>
            <a:r>
              <a:rPr lang="en-US" sz="3200">
                <a:solidFill>
                  <a:schemeClr val="tx1">
                    <a:lumMod val="50000"/>
                  </a:schemeClr>
                </a:solidFill>
              </a:rPr>
              <a:t>-Stokes Equation</a:t>
            </a:r>
            <a:endParaRPr kumimoji="0" lang="en-US" sz="3200" b="1" i="0" u="none" strike="noStrike" cap="none" spc="0" normalizeH="0" baseline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30" name="TextBox 29"/>
          <p:cNvSpPr txBox="1"/>
          <p:nvPr/>
        </p:nvSpPr>
        <p:spPr>
          <a:xfrm flipH="1">
            <a:off x="712419" y="9134567"/>
            <a:ext cx="22406439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Heat Balance Equation</a:t>
            </a:r>
            <a:endParaRPr kumimoji="0" lang="en-US" sz="3200" b="1" i="0" u="none" strike="noStrike" cap="none" spc="0" normalizeH="0" baseline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14" name="TextBox 13"/>
          <p:cNvSpPr txBox="1"/>
          <p:nvPr/>
        </p:nvSpPr>
        <p:spPr>
          <a:xfrm flipH="1">
            <a:off x="712419" y="2006642"/>
            <a:ext cx="12437433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b="1"/>
              <a:t>Common equations in chemical Engineering</a:t>
            </a:r>
            <a:endParaRPr kumimoji="0" lang="en-US" sz="3200" b="1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988001238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/>
          <p:cNvSpPr/>
          <p:nvPr/>
        </p:nvSpPr>
        <p:spPr>
          <a:xfrm>
            <a:off x="3888795" y="246197"/>
            <a:ext cx="4224233" cy="923330"/>
          </a:xfrm>
          <a:prstGeom prst="rect">
            <a:avLst/>
          </a:prstGeom>
        </p:spPr>
        <p:txBody>
          <a:bodyPr wrap="none">
            <a:spAutoFit/>
          </a:bodyPr>
          <a:lstStyle>
            <a:defPPr marL="0" marR="0" indent="0" algn="l" defTabSz="18288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1pPr>
            <a:lvl2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2pPr>
            <a:lvl3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3pPr>
            <a:lvl4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4pPr>
            <a:lvl5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5pPr>
            <a:lvl6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6pPr>
            <a:lvl7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7pPr>
            <a:lvl8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8pPr>
            <a:lvl9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9pPr>
          </a:lstStyle>
          <a:p>
            <a:r>
              <a:rPr lang="en-US" sz="5400" b="1">
                <a:solidFill>
                  <a:srgbClr val="EAEAEA"/>
                </a:solidFill>
              </a:rPr>
              <a:t>Introduction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45FB8E-079C-5FD5-F2D9-64E5CCA7EFE0}"/>
              </a:ext>
            </a:extLst>
          </p:cNvPr>
          <p:cNvSpPr/>
          <p:nvPr/>
        </p:nvSpPr>
        <p:spPr>
          <a:xfrm rot="-10800000" flipV="1">
            <a:off x="9853404" y="13283356"/>
            <a:ext cx="4628055" cy="379591"/>
          </a:xfrm>
          <a:prstGeom prst="rect">
            <a:avLst/>
          </a:prstGeom>
          <a:solidFill>
            <a:srgbClr val="8B79A6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n-US" sz="1800"/>
              <a:t>Workshop on Numerical Simulation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3A530B0C-0DF4-6EBB-B7F7-92464D70DE84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23805849" y="13272486"/>
            <a:ext cx="230832" cy="379591"/>
          </a:xfrm>
          <a:prstGeom prst="rect">
            <a:avLst/>
          </a:prstGeom>
        </p:spPr>
        <p:txBody>
          <a:bodyPr/>
          <a:lstStyle/>
          <a:p>
            <a:r>
              <a:rPr lang="en-GB"/>
              <a:t>1</a:t>
            </a:r>
            <a:endParaRPr/>
          </a:p>
        </p:txBody>
      </p:sp>
      <p:sp>
        <p:nvSpPr>
          <p:cNvPr id="7" name="TextBox 6"/>
          <p:cNvSpPr txBox="1"/>
          <p:nvPr/>
        </p:nvSpPr>
        <p:spPr>
          <a:xfrm flipH="1">
            <a:off x="0" y="10929416"/>
            <a:ext cx="22406439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In chemical</a:t>
            </a:r>
            <a:r>
              <a:rPr kumimoji="0" lang="en-US" sz="3200" b="0" i="0" u="none" strike="noStrike" cap="none" spc="0" normalizeH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 engineering, we deal with </a:t>
            </a:r>
            <a:r>
              <a:rPr kumimoji="0" lang="en-US" sz="3200" b="1" i="0" u="none" strike="noStrike" cap="none" spc="0" normalizeH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partial differential equations (PDE</a:t>
            </a:r>
            <a:r>
              <a:rPr kumimoji="0" lang="en-US" sz="3200" b="0" i="0" u="none" strike="noStrike" cap="none" spc="0" normalizeH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) that </a:t>
            </a:r>
            <a:r>
              <a:rPr kumimoji="0" lang="en-US" sz="3200" b="1" i="0" u="none" strike="noStrike" cap="none" spc="0" normalizeH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do not have </a:t>
            </a:r>
            <a:r>
              <a:rPr kumimoji="0" lang="en-US" sz="3200" b="0" i="0" u="none" strike="noStrike" cap="none" spc="0" normalizeH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an </a:t>
            </a:r>
            <a:r>
              <a:rPr kumimoji="0" lang="en-US" sz="3200" b="1" i="0" u="none" strike="noStrike" cap="none" spc="0" normalizeH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analytical solution</a:t>
            </a:r>
            <a:endParaRPr kumimoji="0" lang="en-US" sz="3200" b="1" i="0" u="none" strike="noStrike" cap="none" spc="0" normalizeH="0" baseline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pic>
        <p:nvPicPr>
          <p:cNvPr id="11" name="Picture 10" descr="\documentclass{article}&#10;\usepackage{amsmath}&#10;\pagestyle{empty}&#10;\begin{document}&#10;\begin{equation}&#10;\frac{\partial}{\partial z} \left( \epsilon_b D_j \frac{\partial c_j}{\partial z} \right) - \frac{\partial \epsilon_b v c_j}{\partial z} = \epsilon_b \frac{\partial c_j}{\partial t} + (1 - \epsilon_b) \frac{\partial n_j}{\partial t}&#10;\nonumber&#10;\end{equation}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9732" y="5390146"/>
            <a:ext cx="7931428" cy="912000"/>
          </a:xfrm>
          <a:prstGeom prst="rect">
            <a:avLst/>
          </a:prstGeom>
        </p:spPr>
      </p:pic>
      <p:pic>
        <p:nvPicPr>
          <p:cNvPr id="12" name="Picture 11" descr="\documentclass{article}&#10;\usepackage{amsmath}&#10;\pagestyle{empty}&#10;\begin{document}&#10;\begin{equation}&#10; \rho \left( \frac{\partial \mathbf{v}}{\partial t} + \mathbf{v} \cdot \nabla \mathbf{v} \right) = -\nabla p + \mu \nabla^2 \mathbf{v} + \mathbf{f}&#10;\nonumber&#10;\end{equation}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1863" y="7224067"/>
            <a:ext cx="6240000" cy="912000"/>
          </a:xfrm>
          <a:prstGeom prst="rect">
            <a:avLst/>
          </a:prstGeom>
        </p:spPr>
      </p:pic>
      <p:pic>
        <p:nvPicPr>
          <p:cNvPr id="13" name="Picture 12" descr="\documentclass{article}&#10;\usepackage{amsmath}&#10;\pagestyle{empty}&#10;\begin{document}&#10;\begin{equation}&#10;\rho c_p \frac{\partial T}{\partial t} + \rho c_p \mathbf{v} \cdot \nabla T = k \nabla^2 T + Q&#10;\nonumber&#10;\end{equation}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3028" y="9048830"/>
            <a:ext cx="5437714" cy="79771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 flipH="1">
            <a:off x="712419" y="3684549"/>
            <a:ext cx="22406439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Population</a:t>
            </a:r>
            <a:r>
              <a:rPr kumimoji="0" lang="en-US" sz="3200" b="0" i="0" u="none" strike="noStrike" cap="none" spc="0" normalizeH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 Balance Equation</a:t>
            </a:r>
            <a:endParaRPr kumimoji="0" lang="en-US" sz="3200" b="1" i="0" u="none" strike="noStrike" cap="none" spc="0" normalizeH="0" baseline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28" name="TextBox 27"/>
          <p:cNvSpPr txBox="1"/>
          <p:nvPr/>
        </p:nvSpPr>
        <p:spPr>
          <a:xfrm flipH="1">
            <a:off x="712419" y="5454638"/>
            <a:ext cx="14023847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Adsorption Mass </a:t>
            </a:r>
            <a:r>
              <a:rPr lang="en-US" sz="3200">
                <a:solidFill>
                  <a:schemeClr val="tx1">
                    <a:lumMod val="50000"/>
                  </a:schemeClr>
                </a:solidFill>
              </a:rPr>
              <a:t>B</a:t>
            </a:r>
            <a:r>
              <a:rPr kumimoji="0" lang="en-US" sz="3200" b="0" i="0" u="none" strike="noStrike" cap="none" spc="0" normalizeH="0" baseline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alance </a:t>
            </a:r>
            <a:r>
              <a:rPr kumimoji="0" lang="en-US" sz="3200" b="0" i="0" u="none" strike="noStrike" cap="none" spc="0" normalizeH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Equation</a:t>
            </a:r>
            <a:endParaRPr kumimoji="0" lang="en-US" sz="3200" b="1" i="0" u="none" strike="noStrike" cap="none" spc="0" normalizeH="0" baseline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29" name="TextBox 28"/>
          <p:cNvSpPr txBox="1"/>
          <p:nvPr/>
        </p:nvSpPr>
        <p:spPr>
          <a:xfrm flipH="1">
            <a:off x="712419" y="7339718"/>
            <a:ext cx="22406439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err="1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Navier</a:t>
            </a:r>
            <a:r>
              <a:rPr lang="en-US" sz="3200">
                <a:solidFill>
                  <a:schemeClr val="tx1">
                    <a:lumMod val="50000"/>
                  </a:schemeClr>
                </a:solidFill>
              </a:rPr>
              <a:t>-Stokes Equation</a:t>
            </a:r>
            <a:endParaRPr kumimoji="0" lang="en-US" sz="3200" b="1" i="0" u="none" strike="noStrike" cap="none" spc="0" normalizeH="0" baseline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30" name="TextBox 29"/>
          <p:cNvSpPr txBox="1"/>
          <p:nvPr/>
        </p:nvSpPr>
        <p:spPr>
          <a:xfrm flipH="1">
            <a:off x="712419" y="9134567"/>
            <a:ext cx="22406439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Heat Balance Equation</a:t>
            </a:r>
            <a:endParaRPr kumimoji="0" lang="en-US" sz="3200" b="1" i="0" u="none" strike="noStrike" cap="none" spc="0" normalizeH="0" baseline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14" name="TextBox 13"/>
          <p:cNvSpPr txBox="1"/>
          <p:nvPr/>
        </p:nvSpPr>
        <p:spPr>
          <a:xfrm flipH="1">
            <a:off x="712419" y="2006642"/>
            <a:ext cx="12437433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b="1"/>
              <a:t>Common equations in chemical Engineering</a:t>
            </a:r>
            <a:endParaRPr kumimoji="0" lang="en-US" sz="3200" b="1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sym typeface="Helvetica Neue"/>
            </a:endParaRPr>
          </a:p>
        </p:txBody>
      </p:sp>
      <p:sp>
        <p:nvSpPr>
          <p:cNvPr id="18" name="TextBox 17"/>
          <p:cNvSpPr txBox="1"/>
          <p:nvPr/>
        </p:nvSpPr>
        <p:spPr>
          <a:xfrm flipH="1">
            <a:off x="63445" y="11689565"/>
            <a:ext cx="24384001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The PDEs</a:t>
            </a:r>
            <a:r>
              <a:rPr kumimoji="0" lang="en-US" sz="3200" b="1" i="0" u="none" strike="noStrike" cap="none" spc="0" normalizeH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 can be converted to ODEs using numerical approximations. </a:t>
            </a:r>
            <a:endParaRPr kumimoji="0" lang="en-US" sz="3200" b="1" i="0" u="none" strike="noStrike" cap="none" spc="0" normalizeH="0" baseline="0">
              <a:ln>
                <a:noFill/>
              </a:ln>
              <a:solidFill>
                <a:srgbClr val="FF000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E5E6C2E-C000-B999-264C-69241A7AD13E}"/>
              </a:ext>
            </a:extLst>
          </p:cNvPr>
          <p:cNvSpPr/>
          <p:nvPr/>
        </p:nvSpPr>
        <p:spPr>
          <a:xfrm rot="-10800000" flipV="1">
            <a:off x="457612" y="13283975"/>
            <a:ext cx="4628055" cy="379591"/>
          </a:xfrm>
          <a:prstGeom prst="rect">
            <a:avLst/>
          </a:prstGeom>
          <a:solidFill>
            <a:srgbClr val="5C2A7A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/>
            <a:r>
              <a:rPr lang="en-GB" sz="1800">
                <a:solidFill>
                  <a:srgbClr val="9E79A6"/>
                </a:solidFill>
                <a:latin typeface="Helvetica Neue"/>
              </a:rPr>
              <a:t>KR and MA</a:t>
            </a:r>
            <a:endParaRPr lang="en-US" sz="1800"/>
          </a:p>
        </p:txBody>
      </p:sp>
      <p:pic>
        <p:nvPicPr>
          <p:cNvPr id="19" name="Picture 18" descr="\documentclass{article}&#10;\usepackage{amsmath}&#10;\pagestyle{empty}&#10;\begin{document}&#10;\begin{equation}&#10;\frac{\partial f(L,t)}{\partial t} = -G(L,t) \frac{\partial f(L,t)}{\partial L} + B(L,t) - D(L,t)&#10;\nonumber&#10;\end{equation}&#10;&#10;\end{document}" title="IguanaTex Bitmap Display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9732" y="3650122"/>
            <a:ext cx="7949714" cy="811428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9E64342D-F23F-D294-E0BF-76DB073DB7A2}"/>
              </a:ext>
            </a:extLst>
          </p:cNvPr>
          <p:cNvSpPr/>
          <p:nvPr/>
        </p:nvSpPr>
        <p:spPr>
          <a:xfrm rot="-10800000" flipV="1">
            <a:off x="19138012" y="13283101"/>
            <a:ext cx="4628055" cy="379591"/>
          </a:xfrm>
          <a:prstGeom prst="rect">
            <a:avLst/>
          </a:prstGeom>
          <a:solidFill>
            <a:srgbClr val="5C2A7A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/>
            <a:r>
              <a:rPr lang="en-GB" sz="1800">
                <a:solidFill>
                  <a:srgbClr val="9E79A6"/>
                </a:solidFill>
                <a:latin typeface="Helvetica Neue"/>
              </a:rPr>
              <a:t>22/10/2025</a:t>
            </a: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570653188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/>
          <p:cNvSpPr/>
          <p:nvPr/>
        </p:nvSpPr>
        <p:spPr>
          <a:xfrm>
            <a:off x="3888795" y="246197"/>
            <a:ext cx="4185761" cy="923330"/>
          </a:xfrm>
          <a:prstGeom prst="rect">
            <a:avLst/>
          </a:prstGeom>
        </p:spPr>
        <p:txBody>
          <a:bodyPr wrap="none">
            <a:spAutoFit/>
          </a:bodyPr>
          <a:lstStyle>
            <a:defPPr marL="0" marR="0" indent="0" algn="l" defTabSz="18288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1pPr>
            <a:lvl2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2pPr>
            <a:lvl3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3pPr>
            <a:lvl4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4pPr>
            <a:lvl5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5pPr>
            <a:lvl6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6pPr>
            <a:lvl7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7pPr>
            <a:lvl8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8pPr>
            <a:lvl9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9pPr>
          </a:lstStyle>
          <a:p>
            <a:r>
              <a:rPr lang="en-US" sz="5400" b="1">
                <a:solidFill>
                  <a:srgbClr val="EAEAEA"/>
                </a:solidFill>
              </a:rPr>
              <a:t>Coursework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45FB8E-079C-5FD5-F2D9-64E5CCA7EFE0}"/>
              </a:ext>
            </a:extLst>
          </p:cNvPr>
          <p:cNvSpPr/>
          <p:nvPr/>
        </p:nvSpPr>
        <p:spPr>
          <a:xfrm rot="-10800000" flipV="1">
            <a:off x="9853404" y="13283356"/>
            <a:ext cx="4628055" cy="379591"/>
          </a:xfrm>
          <a:prstGeom prst="rect">
            <a:avLst/>
          </a:prstGeom>
          <a:solidFill>
            <a:srgbClr val="8B79A6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n-US" sz="1800"/>
              <a:t>Workshop on Numerical Simulation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3A530B0C-0DF4-6EBB-B7F7-92464D70DE84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23805849" y="13272486"/>
            <a:ext cx="230832" cy="379591"/>
          </a:xfrm>
          <a:prstGeom prst="rect">
            <a:avLst/>
          </a:prstGeom>
        </p:spPr>
        <p:txBody>
          <a:bodyPr/>
          <a:lstStyle/>
          <a:p>
            <a:r>
              <a:rPr lang="en-GB"/>
              <a:t>2</a:t>
            </a:r>
            <a:endParaRPr/>
          </a:p>
        </p:txBody>
      </p:sp>
      <p:pic>
        <p:nvPicPr>
          <p:cNvPr id="11" name="Picture 10" descr="\documentclass{article}&#10;\usepackage{amsmath}&#10;\pagestyle{empty}&#10;\begin{document}&#10;\begin{equation}&#10;\frac{\partial}{\partial z} \left( \epsilon_b D_j \frac{\partial c_j}{\partial z} \right) - \frac{\partial \epsilon_b v c_j}{\partial z} = \epsilon_b \frac{\partial c_j}{\partial t} + (1 - \epsilon_b) \frac{\partial n_j}{\partial t}&#10;\nonumber&#10;\end{equation}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7750" y="3998172"/>
            <a:ext cx="7931428" cy="912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 flipH="1">
            <a:off x="712418" y="9702818"/>
            <a:ext cx="22406439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457200" marR="0" indent="-45720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3200" b="0" i="0" u="none" strike="noStrike" cap="none" spc="0" normalizeH="0" baseline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Population</a:t>
            </a:r>
            <a:r>
              <a:rPr kumimoji="0" lang="en-US" sz="3200" b="0" i="0" u="none" strike="noStrike" cap="none" spc="0" normalizeH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 Balance Equation (week 4)</a:t>
            </a:r>
            <a:endParaRPr kumimoji="0" lang="en-US" sz="3200" b="1" i="0" u="none" strike="noStrike" cap="none" spc="0" normalizeH="0" baseline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28" name="TextBox 27"/>
          <p:cNvSpPr txBox="1"/>
          <p:nvPr/>
        </p:nvSpPr>
        <p:spPr>
          <a:xfrm flipH="1">
            <a:off x="712419" y="4156655"/>
            <a:ext cx="14023847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457200" marR="0" indent="-45720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3200" b="0" i="0" u="none" strike="noStrike" cap="none" spc="0" normalizeH="0" baseline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Adsorption Mass </a:t>
            </a:r>
            <a:r>
              <a:rPr lang="en-US" sz="3200">
                <a:solidFill>
                  <a:schemeClr val="tx1">
                    <a:lumMod val="50000"/>
                  </a:schemeClr>
                </a:solidFill>
              </a:rPr>
              <a:t>B</a:t>
            </a:r>
            <a:r>
              <a:rPr kumimoji="0" lang="en-US" sz="3200" b="0" i="0" u="none" strike="noStrike" cap="none" spc="0" normalizeH="0" baseline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alance </a:t>
            </a:r>
            <a:r>
              <a:rPr kumimoji="0" lang="en-US" sz="3200" b="0" i="0" u="none" strike="noStrike" cap="none" spc="0" normalizeH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Equation (week 4)</a:t>
            </a:r>
            <a:endParaRPr kumimoji="0" lang="en-US" sz="3200" b="1" i="0" u="none" strike="noStrike" cap="none" spc="0" normalizeH="0" baseline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14" name="TextBox 13"/>
          <p:cNvSpPr txBox="1"/>
          <p:nvPr/>
        </p:nvSpPr>
        <p:spPr>
          <a:xfrm flipH="1">
            <a:off x="712419" y="2006642"/>
            <a:ext cx="12437433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b="1"/>
              <a:t>Advanced separation processes</a:t>
            </a:r>
            <a:endParaRPr kumimoji="0" lang="en-US" sz="3200" b="1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sym typeface="Helvetica Neue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E5E6C2E-C000-B999-264C-69241A7AD13E}"/>
              </a:ext>
            </a:extLst>
          </p:cNvPr>
          <p:cNvSpPr/>
          <p:nvPr/>
        </p:nvSpPr>
        <p:spPr>
          <a:xfrm rot="-10800000" flipV="1">
            <a:off x="457612" y="13283975"/>
            <a:ext cx="4628055" cy="379591"/>
          </a:xfrm>
          <a:prstGeom prst="rect">
            <a:avLst/>
          </a:prstGeom>
          <a:solidFill>
            <a:srgbClr val="5C2A7A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/>
            <a:r>
              <a:rPr lang="en-GB" sz="1800">
                <a:solidFill>
                  <a:srgbClr val="9E79A6"/>
                </a:solidFill>
                <a:latin typeface="Helvetica Neue"/>
              </a:rPr>
              <a:t>KR and MA</a:t>
            </a:r>
            <a:endParaRPr lang="en-US" sz="1800"/>
          </a:p>
        </p:txBody>
      </p:sp>
      <p:sp>
        <p:nvSpPr>
          <p:cNvPr id="19" name="TextBox 18"/>
          <p:cNvSpPr txBox="1"/>
          <p:nvPr/>
        </p:nvSpPr>
        <p:spPr>
          <a:xfrm flipH="1">
            <a:off x="712418" y="3017157"/>
            <a:ext cx="14023847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Modeling the adsorption of</a:t>
            </a:r>
            <a:r>
              <a:rPr kumimoji="0" lang="en-US" sz="3200" b="0" i="0" u="none" strike="noStrike" cap="none" spc="0" normalizeH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 Nitrogen on the selected adsorbents</a:t>
            </a:r>
            <a:endParaRPr kumimoji="0" lang="en-US" sz="3200" b="1" i="0" u="none" strike="noStrike" cap="none" spc="0" normalizeH="0" baseline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21" name="TextBox 20"/>
          <p:cNvSpPr txBox="1"/>
          <p:nvPr/>
        </p:nvSpPr>
        <p:spPr>
          <a:xfrm flipH="1">
            <a:off x="712418" y="5532731"/>
            <a:ext cx="14023847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kumimoji="0" lang="en-US" sz="3200" b="0" i="0" u="none" strike="noStrike" cap="none" spc="0" normalizeH="0" baseline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Obtaining the isotherm of </a:t>
            </a:r>
            <a:r>
              <a:rPr lang="en-US" sz="3200">
                <a:solidFill>
                  <a:schemeClr val="tx1">
                    <a:lumMod val="50000"/>
                  </a:schemeClr>
                </a:solidFill>
              </a:rPr>
              <a:t>N₂</a:t>
            </a:r>
            <a:r>
              <a:rPr kumimoji="0" lang="en-US" sz="3200" b="0" i="0" u="none" strike="noStrike" cap="none" spc="0" normalizeH="0" baseline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 and </a:t>
            </a:r>
            <a:r>
              <a:rPr lang="en-US" sz="3200">
                <a:solidFill>
                  <a:schemeClr val="tx1">
                    <a:lumMod val="50000"/>
                  </a:schemeClr>
                </a:solidFill>
              </a:rPr>
              <a:t>O₂ </a:t>
            </a:r>
            <a:r>
              <a:rPr kumimoji="0" lang="en-US" sz="3200" b="0" i="0" u="none" strike="noStrike" cap="none" spc="0" normalizeH="0" baseline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on</a:t>
            </a:r>
            <a:r>
              <a:rPr kumimoji="0" lang="en-US" sz="3200" b="0" i="0" u="none" strike="noStrike" cap="none" spc="0" normalizeH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 the selected adsorbents (week 2)</a:t>
            </a:r>
            <a:endParaRPr kumimoji="0" lang="en-US" sz="3200" b="1" i="0" u="none" strike="noStrike" cap="none" spc="0" normalizeH="0" baseline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23" name="TextBox 22"/>
          <p:cNvSpPr txBox="1"/>
          <p:nvPr/>
        </p:nvSpPr>
        <p:spPr>
          <a:xfrm flipH="1">
            <a:off x="712418" y="7671028"/>
            <a:ext cx="12437433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b="1"/>
              <a:t>Science of formulation</a:t>
            </a:r>
            <a:endParaRPr kumimoji="0" lang="en-US" sz="3200" b="1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sym typeface="Helvetica Neue"/>
            </a:endParaRPr>
          </a:p>
        </p:txBody>
      </p:sp>
      <p:sp>
        <p:nvSpPr>
          <p:cNvPr id="25" name="TextBox 24"/>
          <p:cNvSpPr txBox="1"/>
          <p:nvPr/>
        </p:nvSpPr>
        <p:spPr>
          <a:xfrm flipH="1">
            <a:off x="712418" y="10921928"/>
            <a:ext cx="14023847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457200" marR="0" indent="-45720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3200" b="0" i="0" u="none" strike="noStrike" cap="none" spc="0" normalizeH="0" baseline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Obtaining th</a:t>
            </a:r>
            <a:r>
              <a:rPr lang="en-US" sz="3200">
                <a:solidFill>
                  <a:schemeClr val="tx1">
                    <a:lumMod val="50000"/>
                  </a:schemeClr>
                </a:solidFill>
              </a:rPr>
              <a:t>e growth and nucleation rate (week 2)</a:t>
            </a:r>
            <a:endParaRPr kumimoji="0" lang="en-US" sz="3200" b="1" i="0" u="none" strike="noStrike" cap="none" spc="0" normalizeH="0" baseline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26" name="TextBox 25"/>
          <p:cNvSpPr txBox="1"/>
          <p:nvPr/>
        </p:nvSpPr>
        <p:spPr>
          <a:xfrm flipH="1">
            <a:off x="712417" y="8647970"/>
            <a:ext cx="14023847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/>
            <a:r>
              <a:rPr kumimoji="0" lang="en-US" sz="3200" b="0" i="0" u="none" strike="noStrike" cap="none" spc="0" normalizeH="0" baseline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Modeling the crystallization of the </a:t>
            </a:r>
            <a:r>
              <a:rPr lang="en-US" sz="3200">
                <a:solidFill>
                  <a:schemeClr val="tx1">
                    <a:lumMod val="50000"/>
                  </a:schemeClr>
                </a:solidFill>
              </a:rPr>
              <a:t>selected materials</a:t>
            </a:r>
            <a:endParaRPr kumimoji="0" lang="en-US" sz="3200" b="1" i="0" u="none" strike="noStrike" cap="none" spc="0" normalizeH="0" baseline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pic>
        <p:nvPicPr>
          <p:cNvPr id="18" name="Picture 17" descr="\documentclass{article}&#10;\usepackage{amsmath}&#10;\pagestyle{empty}&#10;\begin{document}&#10;\begin{equation}&#10;\frac{\partial f(L,t)}{\partial t} = -G(L,t) \frac{\partial f(L,t)}{\partial L} + B(L,t) - D(L,t)&#10;\nonumber&#10;\end{equation}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7750" y="9821838"/>
            <a:ext cx="7949714" cy="811428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9E64342D-F23F-D294-E0BF-76DB073DB7A2}"/>
              </a:ext>
            </a:extLst>
          </p:cNvPr>
          <p:cNvSpPr/>
          <p:nvPr/>
        </p:nvSpPr>
        <p:spPr>
          <a:xfrm rot="-10800000" flipV="1">
            <a:off x="19138012" y="13283101"/>
            <a:ext cx="4628055" cy="379591"/>
          </a:xfrm>
          <a:prstGeom prst="rect">
            <a:avLst/>
          </a:prstGeom>
          <a:solidFill>
            <a:srgbClr val="5C2A7A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/>
            <a:r>
              <a:rPr lang="en-GB" sz="1800">
                <a:solidFill>
                  <a:srgbClr val="9E79A6"/>
                </a:solidFill>
                <a:latin typeface="Helvetica Neue"/>
              </a:rPr>
              <a:t>22/10/2025</a:t>
            </a: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759630555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/>
          <p:cNvSpPr/>
          <p:nvPr/>
        </p:nvSpPr>
        <p:spPr>
          <a:xfrm>
            <a:off x="3888795" y="246197"/>
            <a:ext cx="6609502" cy="923330"/>
          </a:xfrm>
          <a:prstGeom prst="rect">
            <a:avLst/>
          </a:prstGeom>
        </p:spPr>
        <p:txBody>
          <a:bodyPr wrap="none">
            <a:spAutoFit/>
          </a:bodyPr>
          <a:lstStyle>
            <a:defPPr marL="0" marR="0" indent="0" algn="l" defTabSz="18288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1pPr>
            <a:lvl2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2pPr>
            <a:lvl3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3pPr>
            <a:lvl4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4pPr>
            <a:lvl5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5pPr>
            <a:lvl6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6pPr>
            <a:lvl7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7pPr>
            <a:lvl8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8pPr>
            <a:lvl9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9pPr>
          </a:lstStyle>
          <a:p>
            <a:r>
              <a:rPr lang="en-US" sz="5400" b="1">
                <a:solidFill>
                  <a:srgbClr val="EAEAEA"/>
                </a:solidFill>
              </a:rPr>
              <a:t>Advection equation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3A530B0C-0DF4-6EBB-B7F7-92464D70DE84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23805849" y="13272486"/>
            <a:ext cx="230832" cy="379591"/>
          </a:xfrm>
          <a:prstGeom prst="rect">
            <a:avLst/>
          </a:prstGeom>
        </p:spPr>
        <p:txBody>
          <a:bodyPr/>
          <a:lstStyle/>
          <a:p>
            <a:r>
              <a:rPr lang="en-GB"/>
              <a:t>3</a:t>
            </a: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BA2E4FE-466D-06DF-F751-A4C83AB9B265}"/>
                  </a:ext>
                </a:extLst>
              </p:cNvPr>
              <p:cNvSpPr txBox="1"/>
              <p:nvPr/>
            </p:nvSpPr>
            <p:spPr>
              <a:xfrm>
                <a:off x="391666" y="1619779"/>
                <a:ext cx="23276717" cy="206210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 algn="l"/>
                <a:r>
                  <a:rPr lang="en-GB" sz="3200">
                    <a:solidFill>
                      <a:schemeClr val="bg2">
                        <a:lumMod val="10000"/>
                      </a:schemeClr>
                    </a:solidFill>
                  </a:rPr>
                  <a:t>A fluid enters an empty unpacked pipe at a constant velocity of 2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sz="320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32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3200" b="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p>
                        <m:r>
                          <a:rPr lang="en-US" sz="320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32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GB" sz="3200">
                    <a:solidFill>
                      <a:schemeClr val="bg2">
                        <a:lumMod val="10000"/>
                      </a:schemeClr>
                    </a:solidFill>
                  </a:rPr>
                  <a:t>​. </a:t>
                </a:r>
                <a:r>
                  <a:rPr lang="en-US" sz="3200">
                    <a:solidFill>
                      <a:schemeClr val="bg2">
                        <a:lumMod val="10000"/>
                      </a:schemeClr>
                    </a:solidFill>
                  </a:rPr>
                  <a:t>The pipe length is 30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dirty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lang="en-US" sz="3200">
                    <a:solidFill>
                      <a:schemeClr val="bg2">
                        <a:lumMod val="10000"/>
                      </a:schemeClr>
                    </a:solidFill>
                  </a:rPr>
                  <a:t>. The solute is transported solely by advection (no diffusion or reaction). The inlet solute concentration increases linearly for t</a:t>
                </a:r>
                <a:r>
                  <a:rPr lang="en-GB" sz="3200">
                    <a:solidFill>
                      <a:schemeClr val="bg2">
                        <a:lumMod val="10000"/>
                      </a:schemeClr>
                    </a:solidFill>
                  </a:rPr>
                  <a:t>he first 5 seconds at a rate of </a:t>
                </a:r>
                <a14:m>
                  <m:oMath xmlns:m="http://schemas.openxmlformats.org/officeDocument/2006/math">
                    <m:r>
                      <a:rPr lang="en-US" sz="3200" b="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2 </m:t>
                    </m:r>
                    <m:r>
                      <m:rPr>
                        <m:sty m:val="p"/>
                      </m:rPr>
                      <a:rPr lang="en-US" sz="3200" b="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mol</m:t>
                    </m:r>
                    <m:r>
                      <a:rPr lang="en-US" sz="3200" b="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32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3200" b="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p>
                        <m:r>
                          <a:rPr lang="en-US" sz="3200" b="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−3</m:t>
                        </m:r>
                      </m:sup>
                    </m:sSup>
                    <m:r>
                      <a:rPr lang="en-US" sz="3200" b="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32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3200" b="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p>
                        <m:r>
                          <a:rPr lang="en-US" sz="3200" b="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3200" b="0">
                    <a:solidFill>
                      <a:schemeClr val="bg2">
                        <a:lumMod val="10000"/>
                      </a:schemeClr>
                    </a:solidFill>
                  </a:rPr>
                  <a:t>; after 5 seconds it remains constant.</a:t>
                </a:r>
              </a:p>
              <a:p>
                <a:pPr algn="l"/>
                <a:r>
                  <a:rPr lang="en-GB" sz="3200">
                    <a:solidFill>
                      <a:schemeClr val="tx1">
                        <a:lumMod val="50000"/>
                      </a:schemeClr>
                    </a:solidFill>
                  </a:rPr>
                  <a:t>Obtain the concentration distribution over time.  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BA2E4FE-466D-06DF-F751-A4C83AB9B2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666" y="1619779"/>
                <a:ext cx="23276717" cy="2062103"/>
              </a:xfrm>
              <a:prstGeom prst="rect">
                <a:avLst/>
              </a:prstGeom>
              <a:blipFill>
                <a:blip r:embed="rId3"/>
                <a:stretch>
                  <a:fillRect l="-655" t="-3846" r="-759" b="-8876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Rectangle 36">
            <a:extLst>
              <a:ext uri="{FF2B5EF4-FFF2-40B4-BE49-F238E27FC236}">
                <a16:creationId xmlns:a16="http://schemas.microsoft.com/office/drawing/2014/main" id="{E862896B-02A8-6185-A61A-157D9F16342B}"/>
              </a:ext>
            </a:extLst>
          </p:cNvPr>
          <p:cNvSpPr/>
          <p:nvPr/>
        </p:nvSpPr>
        <p:spPr>
          <a:xfrm>
            <a:off x="6494858" y="4584298"/>
            <a:ext cx="11931295" cy="2737681"/>
          </a:xfrm>
          <a:prstGeom prst="rect">
            <a:avLst/>
          </a:prstGeom>
          <a:noFill/>
          <a:ln w="57150" cap="flat">
            <a:solidFill>
              <a:schemeClr val="bg2">
                <a:lumMod val="1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A4C5070-75B9-F994-87E7-BD8EDC710A38}"/>
              </a:ext>
            </a:extLst>
          </p:cNvPr>
          <p:cNvCxnSpPr>
            <a:cxnSpLocks/>
          </p:cNvCxnSpPr>
          <p:nvPr/>
        </p:nvCxnSpPr>
        <p:spPr>
          <a:xfrm>
            <a:off x="4032211" y="6330881"/>
            <a:ext cx="2405656" cy="0"/>
          </a:xfrm>
          <a:prstGeom prst="straightConnector1">
            <a:avLst/>
          </a:prstGeom>
          <a:noFill/>
          <a:ln w="5715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A4507D2-6F5A-504B-C4BE-C841A1F87F1D}"/>
              </a:ext>
            </a:extLst>
          </p:cNvPr>
          <p:cNvCxnSpPr>
            <a:cxnSpLocks/>
          </p:cNvCxnSpPr>
          <p:nvPr/>
        </p:nvCxnSpPr>
        <p:spPr>
          <a:xfrm>
            <a:off x="18426153" y="6319714"/>
            <a:ext cx="2405656" cy="0"/>
          </a:xfrm>
          <a:prstGeom prst="straightConnector1">
            <a:avLst/>
          </a:prstGeom>
          <a:noFill/>
          <a:ln w="5715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D5B5DB8C-B4AC-3A62-6150-8863C480E157}"/>
                  </a:ext>
                </a:extLst>
              </p:cNvPr>
              <p:cNvSpPr txBox="1"/>
              <p:nvPr/>
            </p:nvSpPr>
            <p:spPr>
              <a:xfrm>
                <a:off x="4123297" y="5121056"/>
                <a:ext cx="2137059" cy="43088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GB" sz="2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𝑢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0" lang="en-GB" sz="2800" b="0" i="0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in</m:t>
                          </m:r>
                        </m:sub>
                      </m:sSub>
                      <m:r>
                        <a:rPr kumimoji="0" lang="en-GB" sz="2800" b="0" i="0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=2</m:t>
                      </m:r>
                      <m:r>
                        <m:rPr>
                          <m:sty m:val="p"/>
                        </m:rPr>
                        <a:rPr lang="en-US" sz="28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US" sz="280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p>
                          <m:r>
                            <a:rPr lang="en-US" sz="280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i="1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kumimoji="0" lang="en-GB" sz="2800" b="0" i="0" u="none" strike="noStrike" cap="none" spc="0" normalizeH="0" baseline="0">
                  <a:ln>
                    <a:noFill/>
                  </a:ln>
                  <a:solidFill>
                    <a:schemeClr val="tx1">
                      <a:lumMod val="50000"/>
                    </a:schemeClr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D5B5DB8C-B4AC-3A62-6150-8863C480E1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3297" y="5121056"/>
                <a:ext cx="2137059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7BDE8D7-A329-2714-9BC3-5E6F275CC1AF}"/>
                  </a:ext>
                </a:extLst>
              </p:cNvPr>
              <p:cNvSpPr txBox="1"/>
              <p:nvPr/>
            </p:nvSpPr>
            <p:spPr>
              <a:xfrm>
                <a:off x="18757813" y="5336500"/>
                <a:ext cx="685610" cy="43088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GB" sz="2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highlight>
                                <a:srgbClr val="FFFF00"/>
                              </a:highlight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GB" sz="2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highlight>
                                <a:srgbClr val="FFFF00"/>
                              </a:highlight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𝑐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0" lang="en-GB" sz="2800" b="0" i="0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highlight>
                                <a:srgbClr val="FFFF00"/>
                              </a:highlight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out</m:t>
                          </m:r>
                        </m:sub>
                      </m:sSub>
                    </m:oMath>
                  </m:oMathPara>
                </a14:m>
                <a:endParaRPr kumimoji="0" lang="en-GB" sz="2800" b="0" i="0" u="none" strike="noStrike" cap="none" spc="0" normalizeH="0" baseline="0">
                  <a:ln>
                    <a:noFill/>
                  </a:ln>
                  <a:solidFill>
                    <a:schemeClr val="tx1">
                      <a:lumMod val="50000"/>
                    </a:schemeClr>
                  </a:solidFill>
                  <a:effectLst/>
                  <a:highlight>
                    <a:srgbClr val="FFFF00"/>
                  </a:highlight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7BDE8D7-A329-2714-9BC3-5E6F275CC1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57813" y="5336500"/>
                <a:ext cx="685610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5BB56651-2BF8-785E-F39D-A9B376275E0B}"/>
              </a:ext>
            </a:extLst>
          </p:cNvPr>
          <p:cNvCxnSpPr>
            <a:cxnSpLocks/>
          </p:cNvCxnSpPr>
          <p:nvPr/>
        </p:nvCxnSpPr>
        <p:spPr>
          <a:xfrm>
            <a:off x="6510850" y="4334406"/>
            <a:ext cx="1191530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3EF3E7B-2E6B-8BF0-D46A-E95D33DE9B7F}"/>
                  </a:ext>
                </a:extLst>
              </p:cNvPr>
              <p:cNvSpPr txBox="1"/>
              <p:nvPr/>
            </p:nvSpPr>
            <p:spPr>
              <a:xfrm>
                <a:off x="11704116" y="3740986"/>
                <a:ext cx="1548373" cy="43088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GB" sz="2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𝐿</m:t>
                      </m:r>
                      <m:r>
                        <a:rPr kumimoji="0" lang="en-GB" sz="2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=30 </m:t>
                      </m:r>
                      <m:r>
                        <a:rPr kumimoji="0" lang="en-GB" sz="2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𝑚</m:t>
                      </m:r>
                    </m:oMath>
                  </m:oMathPara>
                </a14:m>
                <a:endParaRPr kumimoji="0" lang="en-GB" sz="2800" b="0" i="0" u="none" strike="noStrike" cap="none" spc="0" normalizeH="0" baseline="0">
                  <a:ln>
                    <a:noFill/>
                  </a:ln>
                  <a:solidFill>
                    <a:schemeClr val="tx1">
                      <a:lumMod val="50000"/>
                    </a:schemeClr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3EF3E7B-2E6B-8BF0-D46A-E95D33DE9B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04116" y="3740986"/>
                <a:ext cx="1548373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Rectangle 68">
            <a:extLst>
              <a:ext uri="{FF2B5EF4-FFF2-40B4-BE49-F238E27FC236}">
                <a16:creationId xmlns:a16="http://schemas.microsoft.com/office/drawing/2014/main" id="{D745FB8E-079C-5FD5-F2D9-64E5CCA7EFE0}"/>
              </a:ext>
            </a:extLst>
          </p:cNvPr>
          <p:cNvSpPr/>
          <p:nvPr/>
        </p:nvSpPr>
        <p:spPr>
          <a:xfrm rot="-10800000" flipV="1">
            <a:off x="9853404" y="13283356"/>
            <a:ext cx="4628055" cy="379591"/>
          </a:xfrm>
          <a:prstGeom prst="rect">
            <a:avLst/>
          </a:prstGeom>
          <a:solidFill>
            <a:srgbClr val="8B79A6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n-US" sz="1800"/>
              <a:t>Workshop on Numerical Simulation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1E5E6C2E-C000-B999-264C-69241A7AD13E}"/>
              </a:ext>
            </a:extLst>
          </p:cNvPr>
          <p:cNvSpPr/>
          <p:nvPr/>
        </p:nvSpPr>
        <p:spPr>
          <a:xfrm rot="-10800000" flipV="1">
            <a:off x="457612" y="13283975"/>
            <a:ext cx="4628055" cy="379591"/>
          </a:xfrm>
          <a:prstGeom prst="rect">
            <a:avLst/>
          </a:prstGeom>
          <a:solidFill>
            <a:srgbClr val="5C2A7A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/>
            <a:r>
              <a:rPr lang="en-GB" sz="1800">
                <a:solidFill>
                  <a:srgbClr val="9E79A6"/>
                </a:solidFill>
                <a:latin typeface="Helvetica Neue"/>
              </a:rPr>
              <a:t>KR and MA</a:t>
            </a:r>
            <a:endParaRPr lang="en-US" sz="18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E64342D-F23F-D294-E0BF-76DB073DB7A2}"/>
              </a:ext>
            </a:extLst>
          </p:cNvPr>
          <p:cNvSpPr/>
          <p:nvPr/>
        </p:nvSpPr>
        <p:spPr>
          <a:xfrm rot="-10800000" flipV="1">
            <a:off x="19138012" y="13283101"/>
            <a:ext cx="4628055" cy="379591"/>
          </a:xfrm>
          <a:prstGeom prst="rect">
            <a:avLst/>
          </a:prstGeom>
          <a:solidFill>
            <a:srgbClr val="5C2A7A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/>
            <a:r>
              <a:rPr lang="en-GB" sz="1800">
                <a:solidFill>
                  <a:srgbClr val="9E79A6"/>
                </a:solidFill>
                <a:latin typeface="Helvetica Neue"/>
              </a:rPr>
              <a:t>22/10/2025</a:t>
            </a:r>
            <a:endParaRPr lang="en-US" sz="1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5905694-858F-B84F-94D4-F0BBFE3BD44D}"/>
                  </a:ext>
                </a:extLst>
              </p:cNvPr>
              <p:cNvSpPr txBox="1"/>
              <p:nvPr/>
            </p:nvSpPr>
            <p:spPr>
              <a:xfrm>
                <a:off x="3924011" y="5710579"/>
                <a:ext cx="2622055" cy="46166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GB" sz="24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GB" sz="24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𝑐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0" lang="en-GB" sz="2400" b="0" i="0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in</m:t>
                          </m:r>
                        </m:sub>
                      </m:sSub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5905694-858F-B84F-94D4-F0BBFE3BD4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4011" y="5710579"/>
                <a:ext cx="2622055" cy="461665"/>
              </a:xfrm>
              <a:prstGeom prst="rect">
                <a:avLst/>
              </a:prstGeom>
              <a:blipFill>
                <a:blip r:embed="rId7"/>
                <a:stretch>
                  <a:fillRect b="-394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B7A01CD4-D1D4-501F-855A-4962BBF52028}"/>
              </a:ext>
            </a:extLst>
          </p:cNvPr>
          <p:cNvSpPr txBox="1"/>
          <p:nvPr/>
        </p:nvSpPr>
        <p:spPr>
          <a:xfrm>
            <a:off x="0" y="8536047"/>
            <a:ext cx="24384000" cy="2554545"/>
          </a:xfrm>
          <a:prstGeom prst="rect">
            <a:avLst/>
          </a:prstGeom>
          <a:noFill/>
          <a:ln w="38100" cap="flat">
            <a:solidFill>
              <a:srgbClr val="9E2D28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742950" indent="-742950">
              <a:buAutoNum type="arabicPeriod"/>
            </a:pPr>
            <a:r>
              <a:rPr lang="en-GB" sz="4000" b="1">
                <a:solidFill>
                  <a:schemeClr val="accent5">
                    <a:lumMod val="50000"/>
                  </a:schemeClr>
                </a:solidFill>
              </a:rPr>
              <a:t>Copy the question from Canvas</a:t>
            </a:r>
          </a:p>
          <a:p>
            <a:pPr marL="742950" indent="-742950">
              <a:buAutoNum type="arabicPeriod"/>
            </a:pPr>
            <a:r>
              <a:rPr lang="en-GB" sz="4000" b="1">
                <a:solidFill>
                  <a:schemeClr val="accent5">
                    <a:lumMod val="50000"/>
                  </a:schemeClr>
                </a:solidFill>
              </a:rPr>
              <a:t>Paste it on to the LLM of your choice</a:t>
            </a:r>
          </a:p>
          <a:p>
            <a:pPr marL="742950" indent="-742950">
              <a:buAutoNum type="arabicPeriod"/>
            </a:pPr>
            <a:r>
              <a:rPr lang="en-GB" sz="4000" b="1">
                <a:solidFill>
                  <a:schemeClr val="accent5">
                    <a:lumMod val="50000"/>
                  </a:schemeClr>
                </a:solidFill>
              </a:rPr>
              <a:t>Copy and run the solution on Google </a:t>
            </a:r>
            <a:r>
              <a:rPr lang="en-GB" sz="4000" b="1" err="1">
                <a:solidFill>
                  <a:schemeClr val="accent5">
                    <a:lumMod val="50000"/>
                  </a:schemeClr>
                </a:solidFill>
              </a:rPr>
              <a:t>Colab</a:t>
            </a:r>
            <a:endParaRPr lang="en-GB" sz="4000" b="1">
              <a:solidFill>
                <a:schemeClr val="accent5">
                  <a:lumMod val="50000"/>
                </a:schemeClr>
              </a:solidFill>
            </a:endParaRPr>
          </a:p>
          <a:p>
            <a:pPr marL="742950" indent="-742950">
              <a:buAutoNum type="arabicPeriod"/>
            </a:pPr>
            <a:r>
              <a:rPr lang="en-GB" sz="4000" b="1">
                <a:solidFill>
                  <a:schemeClr val="accent5">
                    <a:lumMod val="50000"/>
                  </a:schemeClr>
                </a:solidFill>
              </a:rPr>
              <a:t>Explain the solution from the LLM and the results you get from running the code</a:t>
            </a:r>
          </a:p>
        </p:txBody>
      </p:sp>
    </p:spTree>
    <p:extLst>
      <p:ext uri="{BB962C8B-B14F-4D97-AF65-F5344CB8AC3E}">
        <p14:creationId xmlns:p14="http://schemas.microsoft.com/office/powerpoint/2010/main" val="1340061546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78794-9832-7457-3928-86F006066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279B7367-D7CA-2758-5089-55A3F63F9924}"/>
              </a:ext>
            </a:extLst>
          </p:cNvPr>
          <p:cNvSpPr/>
          <p:nvPr/>
        </p:nvSpPr>
        <p:spPr>
          <a:xfrm>
            <a:off x="3888795" y="246197"/>
            <a:ext cx="6609502" cy="923330"/>
          </a:xfrm>
          <a:prstGeom prst="rect">
            <a:avLst/>
          </a:prstGeom>
        </p:spPr>
        <p:txBody>
          <a:bodyPr wrap="none">
            <a:spAutoFit/>
          </a:bodyPr>
          <a:lstStyle>
            <a:defPPr marL="0" marR="0" indent="0" algn="l" defTabSz="18288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1pPr>
            <a:lvl2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2pPr>
            <a:lvl3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3pPr>
            <a:lvl4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4pPr>
            <a:lvl5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5pPr>
            <a:lvl6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6pPr>
            <a:lvl7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7pPr>
            <a:lvl8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8pPr>
            <a:lvl9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9pPr>
          </a:lstStyle>
          <a:p>
            <a:r>
              <a:rPr lang="en-US" sz="5400" b="1">
                <a:solidFill>
                  <a:srgbClr val="EAEAEA"/>
                </a:solidFill>
              </a:rPr>
              <a:t>Advection equation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81B14A04-B6D1-9D5E-8FDD-A51D910E10EE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23805849" y="13272486"/>
            <a:ext cx="230832" cy="379591"/>
          </a:xfrm>
          <a:prstGeom prst="rect">
            <a:avLst/>
          </a:prstGeom>
        </p:spPr>
        <p:txBody>
          <a:bodyPr/>
          <a:lstStyle/>
          <a:p>
            <a:r>
              <a:rPr lang="en-GB"/>
              <a:t>3</a:t>
            </a: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15D3621-D534-5964-1382-5AA305370210}"/>
                  </a:ext>
                </a:extLst>
              </p:cNvPr>
              <p:cNvSpPr txBox="1"/>
              <p:nvPr/>
            </p:nvSpPr>
            <p:spPr>
              <a:xfrm>
                <a:off x="391666" y="1619779"/>
                <a:ext cx="23276717" cy="206210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 algn="l"/>
                <a:r>
                  <a:rPr lang="en-GB" sz="3200">
                    <a:solidFill>
                      <a:schemeClr val="bg2">
                        <a:lumMod val="10000"/>
                      </a:schemeClr>
                    </a:solidFill>
                  </a:rPr>
                  <a:t>A fluid enters an empty unpacked pipe at a constant velocity of 2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sz="320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32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3200" b="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p>
                        <m:r>
                          <a:rPr lang="en-US" sz="320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32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GB" sz="3200">
                    <a:solidFill>
                      <a:schemeClr val="bg2">
                        <a:lumMod val="10000"/>
                      </a:schemeClr>
                    </a:solidFill>
                  </a:rPr>
                  <a:t>​. </a:t>
                </a:r>
                <a:r>
                  <a:rPr lang="en-US" sz="3200">
                    <a:solidFill>
                      <a:schemeClr val="bg2">
                        <a:lumMod val="10000"/>
                      </a:schemeClr>
                    </a:solidFill>
                  </a:rPr>
                  <a:t>The pipe length is 30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dirty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lang="en-US" sz="3200">
                    <a:solidFill>
                      <a:schemeClr val="bg2">
                        <a:lumMod val="10000"/>
                      </a:schemeClr>
                    </a:solidFill>
                  </a:rPr>
                  <a:t>. The solute is transported solely by advection (no diffusion or reaction). The inlet solute concentration increases linearly for t</a:t>
                </a:r>
                <a:r>
                  <a:rPr lang="en-GB" sz="3200">
                    <a:solidFill>
                      <a:schemeClr val="bg2">
                        <a:lumMod val="10000"/>
                      </a:schemeClr>
                    </a:solidFill>
                  </a:rPr>
                  <a:t>he first 5 seconds at a rate of </a:t>
                </a:r>
                <a14:m>
                  <m:oMath xmlns:m="http://schemas.openxmlformats.org/officeDocument/2006/math">
                    <m:r>
                      <a:rPr lang="en-US" sz="3200" b="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2 </m:t>
                    </m:r>
                    <m:r>
                      <m:rPr>
                        <m:sty m:val="p"/>
                      </m:rPr>
                      <a:rPr lang="en-US" sz="3200" b="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mol</m:t>
                    </m:r>
                    <m:r>
                      <a:rPr lang="en-US" sz="3200" b="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32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3200" b="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p>
                        <m:r>
                          <a:rPr lang="en-US" sz="3200" b="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−3</m:t>
                        </m:r>
                      </m:sup>
                    </m:sSup>
                    <m:r>
                      <a:rPr lang="en-US" sz="3200" b="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32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3200" b="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p>
                        <m:r>
                          <a:rPr lang="en-US" sz="3200" b="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3200" b="0">
                    <a:solidFill>
                      <a:schemeClr val="bg2">
                        <a:lumMod val="10000"/>
                      </a:schemeClr>
                    </a:solidFill>
                  </a:rPr>
                  <a:t>; after 5 seconds it remains constant.</a:t>
                </a:r>
              </a:p>
              <a:p>
                <a:pPr algn="l"/>
                <a:r>
                  <a:rPr lang="en-GB" sz="3200">
                    <a:solidFill>
                      <a:schemeClr val="tx1">
                        <a:lumMod val="50000"/>
                      </a:schemeClr>
                    </a:solidFill>
                  </a:rPr>
                  <a:t>Obtain the concentration distribution over time.  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15D3621-D534-5964-1382-5AA3053702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666" y="1619779"/>
                <a:ext cx="23276717" cy="2062103"/>
              </a:xfrm>
              <a:prstGeom prst="rect">
                <a:avLst/>
              </a:prstGeom>
              <a:blipFill>
                <a:blip r:embed="rId3"/>
                <a:stretch>
                  <a:fillRect l="-655" t="-3846" r="-759" b="-8876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Rectangle 36">
            <a:extLst>
              <a:ext uri="{FF2B5EF4-FFF2-40B4-BE49-F238E27FC236}">
                <a16:creationId xmlns:a16="http://schemas.microsoft.com/office/drawing/2014/main" id="{5A43BDFC-80FE-9147-5DED-38532886BBC2}"/>
              </a:ext>
            </a:extLst>
          </p:cNvPr>
          <p:cNvSpPr/>
          <p:nvPr/>
        </p:nvSpPr>
        <p:spPr>
          <a:xfrm>
            <a:off x="6494858" y="4584298"/>
            <a:ext cx="11931295" cy="2737681"/>
          </a:xfrm>
          <a:prstGeom prst="rect">
            <a:avLst/>
          </a:prstGeom>
          <a:noFill/>
          <a:ln w="57150" cap="flat">
            <a:solidFill>
              <a:schemeClr val="bg2">
                <a:lumMod val="1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5BE6A12-152B-E257-F3C7-F27224389CF8}"/>
              </a:ext>
            </a:extLst>
          </p:cNvPr>
          <p:cNvCxnSpPr>
            <a:cxnSpLocks/>
          </p:cNvCxnSpPr>
          <p:nvPr/>
        </p:nvCxnSpPr>
        <p:spPr>
          <a:xfrm>
            <a:off x="4032211" y="6330881"/>
            <a:ext cx="2405656" cy="0"/>
          </a:xfrm>
          <a:prstGeom prst="straightConnector1">
            <a:avLst/>
          </a:prstGeom>
          <a:noFill/>
          <a:ln w="5715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213F1AF-15EF-6C9A-4DEB-ED52A6E38BE2}"/>
              </a:ext>
            </a:extLst>
          </p:cNvPr>
          <p:cNvCxnSpPr>
            <a:cxnSpLocks/>
          </p:cNvCxnSpPr>
          <p:nvPr/>
        </p:nvCxnSpPr>
        <p:spPr>
          <a:xfrm>
            <a:off x="18426153" y="6319714"/>
            <a:ext cx="2405656" cy="0"/>
          </a:xfrm>
          <a:prstGeom prst="straightConnector1">
            <a:avLst/>
          </a:prstGeom>
          <a:noFill/>
          <a:ln w="5715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F8EB4BC7-1EA1-2C98-D5B4-DA3E1F7E152F}"/>
                  </a:ext>
                </a:extLst>
              </p:cNvPr>
              <p:cNvSpPr txBox="1"/>
              <p:nvPr/>
            </p:nvSpPr>
            <p:spPr>
              <a:xfrm>
                <a:off x="4123297" y="5121056"/>
                <a:ext cx="2137059" cy="43088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GB" sz="2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𝑢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0" lang="en-GB" sz="2800" b="0" i="0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in</m:t>
                          </m:r>
                        </m:sub>
                      </m:sSub>
                      <m:r>
                        <a:rPr kumimoji="0" lang="en-GB" sz="2800" b="0" i="0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=2</m:t>
                      </m:r>
                      <m:r>
                        <m:rPr>
                          <m:sty m:val="p"/>
                        </m:rPr>
                        <a:rPr lang="en-US" sz="28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US" sz="280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p>
                          <m:r>
                            <a:rPr lang="en-US" sz="280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i="1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kumimoji="0" lang="en-GB" sz="2800" b="0" i="0" u="none" strike="noStrike" cap="none" spc="0" normalizeH="0" baseline="0">
                  <a:ln>
                    <a:noFill/>
                  </a:ln>
                  <a:solidFill>
                    <a:schemeClr val="tx1">
                      <a:lumMod val="50000"/>
                    </a:schemeClr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F8EB4BC7-1EA1-2C98-D5B4-DA3E1F7E15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3297" y="5121056"/>
                <a:ext cx="2137059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2A0C6602-DA65-905C-DDE2-A45CE46539DE}"/>
                  </a:ext>
                </a:extLst>
              </p:cNvPr>
              <p:cNvSpPr txBox="1"/>
              <p:nvPr/>
            </p:nvSpPr>
            <p:spPr>
              <a:xfrm>
                <a:off x="18757813" y="5336500"/>
                <a:ext cx="685610" cy="43088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GB" sz="2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highlight>
                                <a:srgbClr val="FFFF00"/>
                              </a:highlight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GB" sz="2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highlight>
                                <a:srgbClr val="FFFF00"/>
                              </a:highlight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𝑐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0" lang="en-GB" sz="2800" b="0" i="0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highlight>
                                <a:srgbClr val="FFFF00"/>
                              </a:highlight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out</m:t>
                          </m:r>
                        </m:sub>
                      </m:sSub>
                    </m:oMath>
                  </m:oMathPara>
                </a14:m>
                <a:endParaRPr kumimoji="0" lang="en-GB" sz="2800" b="0" i="0" u="none" strike="noStrike" cap="none" spc="0" normalizeH="0" baseline="0">
                  <a:ln>
                    <a:noFill/>
                  </a:ln>
                  <a:solidFill>
                    <a:schemeClr val="tx1">
                      <a:lumMod val="50000"/>
                    </a:schemeClr>
                  </a:solidFill>
                  <a:effectLst/>
                  <a:highlight>
                    <a:srgbClr val="FFFF00"/>
                  </a:highlight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2A0C6602-DA65-905C-DDE2-A45CE46539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57813" y="5336500"/>
                <a:ext cx="685610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1A3B98D-CDE3-C81E-2D35-2FFEF1E71721}"/>
              </a:ext>
            </a:extLst>
          </p:cNvPr>
          <p:cNvCxnSpPr>
            <a:cxnSpLocks/>
          </p:cNvCxnSpPr>
          <p:nvPr/>
        </p:nvCxnSpPr>
        <p:spPr>
          <a:xfrm>
            <a:off x="6510850" y="4334406"/>
            <a:ext cx="1191530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6B00E9A-9686-9300-37B3-2F6163EFD18B}"/>
                  </a:ext>
                </a:extLst>
              </p:cNvPr>
              <p:cNvSpPr txBox="1"/>
              <p:nvPr/>
            </p:nvSpPr>
            <p:spPr>
              <a:xfrm>
                <a:off x="11704116" y="3740986"/>
                <a:ext cx="1548373" cy="43088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GB" sz="2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𝐿</m:t>
                      </m:r>
                      <m:r>
                        <a:rPr kumimoji="0" lang="en-GB" sz="2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=30 </m:t>
                      </m:r>
                      <m:r>
                        <a:rPr kumimoji="0" lang="en-GB" sz="2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𝑚</m:t>
                      </m:r>
                    </m:oMath>
                  </m:oMathPara>
                </a14:m>
                <a:endParaRPr kumimoji="0" lang="en-GB" sz="2800" b="0" i="0" u="none" strike="noStrike" cap="none" spc="0" normalizeH="0" baseline="0">
                  <a:ln>
                    <a:noFill/>
                  </a:ln>
                  <a:solidFill>
                    <a:schemeClr val="tx1">
                      <a:lumMod val="50000"/>
                    </a:schemeClr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6B00E9A-9686-9300-37B3-2F6163EFD1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04116" y="3740986"/>
                <a:ext cx="1548373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Rectangle 68">
            <a:extLst>
              <a:ext uri="{FF2B5EF4-FFF2-40B4-BE49-F238E27FC236}">
                <a16:creationId xmlns:a16="http://schemas.microsoft.com/office/drawing/2014/main" id="{07AC9688-B046-CFEE-2199-37BCFD999215}"/>
              </a:ext>
            </a:extLst>
          </p:cNvPr>
          <p:cNvSpPr/>
          <p:nvPr/>
        </p:nvSpPr>
        <p:spPr>
          <a:xfrm rot="-10800000" flipV="1">
            <a:off x="9853404" y="13283356"/>
            <a:ext cx="4628055" cy="379591"/>
          </a:xfrm>
          <a:prstGeom prst="rect">
            <a:avLst/>
          </a:prstGeom>
          <a:solidFill>
            <a:srgbClr val="8B79A6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n-US" sz="1800"/>
              <a:t>Workshop on Numerical Simulation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B0EB12C5-CE1C-47F5-E4BE-79CD2B2CE737}"/>
              </a:ext>
            </a:extLst>
          </p:cNvPr>
          <p:cNvSpPr/>
          <p:nvPr/>
        </p:nvSpPr>
        <p:spPr>
          <a:xfrm rot="-10800000" flipV="1">
            <a:off x="457612" y="13283975"/>
            <a:ext cx="4628055" cy="379591"/>
          </a:xfrm>
          <a:prstGeom prst="rect">
            <a:avLst/>
          </a:prstGeom>
          <a:solidFill>
            <a:srgbClr val="5C2A7A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/>
            <a:r>
              <a:rPr lang="en-GB" sz="1800">
                <a:solidFill>
                  <a:srgbClr val="9E79A6"/>
                </a:solidFill>
                <a:latin typeface="Helvetica Neue"/>
              </a:rPr>
              <a:t>KR and MA</a:t>
            </a:r>
            <a:endParaRPr lang="en-US" sz="18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341A145-E7CA-F431-F148-7B972E5B50FA}"/>
              </a:ext>
            </a:extLst>
          </p:cNvPr>
          <p:cNvSpPr/>
          <p:nvPr/>
        </p:nvSpPr>
        <p:spPr>
          <a:xfrm rot="-10800000" flipV="1">
            <a:off x="19138012" y="13283101"/>
            <a:ext cx="4628055" cy="379591"/>
          </a:xfrm>
          <a:prstGeom prst="rect">
            <a:avLst/>
          </a:prstGeom>
          <a:solidFill>
            <a:srgbClr val="5C2A7A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/>
            <a:r>
              <a:rPr lang="en-GB" sz="1800">
                <a:solidFill>
                  <a:srgbClr val="9E79A6"/>
                </a:solidFill>
                <a:latin typeface="Helvetica Neue"/>
              </a:rPr>
              <a:t>22/10/2025</a:t>
            </a:r>
            <a:endParaRPr lang="en-US" sz="1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B3C3E35-1C9D-C7F8-679C-03EB3156437F}"/>
                  </a:ext>
                </a:extLst>
              </p:cNvPr>
              <p:cNvSpPr txBox="1"/>
              <p:nvPr/>
            </p:nvSpPr>
            <p:spPr>
              <a:xfrm>
                <a:off x="3924011" y="5710579"/>
                <a:ext cx="2622055" cy="46166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GB" sz="24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GB" sz="24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𝑐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0" lang="en-GB" sz="2400" b="0" i="0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in</m:t>
                          </m:r>
                        </m:sub>
                      </m:sSub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B3C3E35-1C9D-C7F8-679C-03EB315643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4011" y="5710579"/>
                <a:ext cx="2622055" cy="461665"/>
              </a:xfrm>
              <a:prstGeom prst="rect">
                <a:avLst/>
              </a:prstGeom>
              <a:blipFill>
                <a:blip r:embed="rId7"/>
                <a:stretch>
                  <a:fillRect b="-394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3444C4E0-E00C-3E9B-D708-E533F2F121A4}"/>
              </a:ext>
            </a:extLst>
          </p:cNvPr>
          <p:cNvSpPr txBox="1"/>
          <p:nvPr/>
        </p:nvSpPr>
        <p:spPr>
          <a:xfrm>
            <a:off x="0" y="8200941"/>
            <a:ext cx="24384000" cy="707886"/>
          </a:xfrm>
          <a:prstGeom prst="rect">
            <a:avLst/>
          </a:prstGeom>
          <a:noFill/>
          <a:ln w="38100" cap="flat">
            <a:solidFill>
              <a:srgbClr val="9E2D28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buNone/>
            </a:pPr>
            <a:r>
              <a:rPr lang="en-GB" sz="4000" b="1">
                <a:solidFill>
                  <a:schemeClr val="accent5">
                    <a:lumMod val="50000"/>
                  </a:schemeClr>
                </a:solidFill>
              </a:rPr>
              <a:t>What do we need to get a model?</a:t>
            </a:r>
            <a:endParaRPr lang="en-GB" sz="400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3052597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Box 58"/>
          <p:cNvSpPr txBox="1"/>
          <p:nvPr/>
        </p:nvSpPr>
        <p:spPr>
          <a:xfrm>
            <a:off x="13470495" y="7966282"/>
            <a:ext cx="2406686" cy="1056775"/>
          </a:xfrm>
          <a:prstGeom prst="rect">
            <a:avLst/>
          </a:prstGeom>
          <a:solidFill>
            <a:srgbClr val="00B0F0">
              <a:alpha val="32157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1549348" y="7966282"/>
            <a:ext cx="1638513" cy="1056775"/>
          </a:xfrm>
          <a:prstGeom prst="rect">
            <a:avLst/>
          </a:prstGeom>
          <a:solidFill>
            <a:schemeClr val="accent3">
              <a:lumMod val="60000"/>
              <a:lumOff val="40000"/>
              <a:alpha val="32157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529849" y="7966282"/>
            <a:ext cx="3622473" cy="1056775"/>
          </a:xfrm>
          <a:prstGeom prst="rect">
            <a:avLst/>
          </a:prstGeom>
          <a:solidFill>
            <a:schemeClr val="accent5">
              <a:lumMod val="75000"/>
              <a:alpha val="32157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3888795" y="246197"/>
            <a:ext cx="7263527" cy="923330"/>
          </a:xfrm>
          <a:prstGeom prst="rect">
            <a:avLst/>
          </a:prstGeom>
        </p:spPr>
        <p:txBody>
          <a:bodyPr wrap="none">
            <a:spAutoFit/>
          </a:bodyPr>
          <a:lstStyle>
            <a:defPPr marL="0" marR="0" indent="0" algn="l" defTabSz="18288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1pPr>
            <a:lvl2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2pPr>
            <a:lvl3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3pPr>
            <a:lvl4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4pPr>
            <a:lvl5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5pPr>
            <a:lvl6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6pPr>
            <a:lvl7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7pPr>
            <a:lvl8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8pPr>
            <a:lvl9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9pPr>
          </a:lstStyle>
          <a:p>
            <a:r>
              <a:rPr lang="en-US" sz="5400" b="1">
                <a:solidFill>
                  <a:srgbClr val="EAEAEA"/>
                </a:solidFill>
              </a:rPr>
              <a:t>Deriving the equation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862896B-02A8-6185-A61A-157D9F16342B}"/>
              </a:ext>
            </a:extLst>
          </p:cNvPr>
          <p:cNvSpPr/>
          <p:nvPr/>
        </p:nvSpPr>
        <p:spPr>
          <a:xfrm>
            <a:off x="6494858" y="4584298"/>
            <a:ext cx="11931295" cy="2737681"/>
          </a:xfrm>
          <a:prstGeom prst="rect">
            <a:avLst/>
          </a:prstGeom>
          <a:noFill/>
          <a:ln w="57150" cap="flat">
            <a:solidFill>
              <a:schemeClr val="bg2">
                <a:lumMod val="1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A4C5070-75B9-F994-87E7-BD8EDC710A38}"/>
              </a:ext>
            </a:extLst>
          </p:cNvPr>
          <p:cNvCxnSpPr>
            <a:cxnSpLocks/>
          </p:cNvCxnSpPr>
          <p:nvPr/>
        </p:nvCxnSpPr>
        <p:spPr>
          <a:xfrm>
            <a:off x="4032211" y="6330881"/>
            <a:ext cx="2405656" cy="0"/>
          </a:xfrm>
          <a:prstGeom prst="straightConnector1">
            <a:avLst/>
          </a:prstGeom>
          <a:noFill/>
          <a:ln w="5715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A4507D2-6F5A-504B-C4BE-C841A1F87F1D}"/>
              </a:ext>
            </a:extLst>
          </p:cNvPr>
          <p:cNvCxnSpPr>
            <a:cxnSpLocks/>
          </p:cNvCxnSpPr>
          <p:nvPr/>
        </p:nvCxnSpPr>
        <p:spPr>
          <a:xfrm>
            <a:off x="18426153" y="6319714"/>
            <a:ext cx="2405656" cy="0"/>
          </a:xfrm>
          <a:prstGeom prst="straightConnector1">
            <a:avLst/>
          </a:prstGeom>
          <a:noFill/>
          <a:ln w="5715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5BB56651-2BF8-785E-F39D-A9B376275E0B}"/>
              </a:ext>
            </a:extLst>
          </p:cNvPr>
          <p:cNvCxnSpPr>
            <a:cxnSpLocks/>
          </p:cNvCxnSpPr>
          <p:nvPr/>
        </p:nvCxnSpPr>
        <p:spPr>
          <a:xfrm>
            <a:off x="6510850" y="4334406"/>
            <a:ext cx="1191530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3EF3E7B-2E6B-8BF0-D46A-E95D33DE9B7F}"/>
                  </a:ext>
                </a:extLst>
              </p:cNvPr>
              <p:cNvSpPr txBox="1"/>
              <p:nvPr/>
            </p:nvSpPr>
            <p:spPr>
              <a:xfrm>
                <a:off x="11704116" y="3740986"/>
                <a:ext cx="1548373" cy="43088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GB" sz="2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𝐿</m:t>
                      </m:r>
                      <m:r>
                        <a:rPr kumimoji="0" lang="en-GB" sz="2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=30 </m:t>
                      </m:r>
                      <m:r>
                        <a:rPr kumimoji="0" lang="en-GB" sz="2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𝑚</m:t>
                      </m:r>
                    </m:oMath>
                  </m:oMathPara>
                </a14:m>
                <a:endParaRPr kumimoji="0" lang="en-GB" sz="2800" b="0" i="0" u="none" strike="noStrike" cap="none" spc="0" normalizeH="0" baseline="0">
                  <a:ln>
                    <a:noFill/>
                  </a:ln>
                  <a:solidFill>
                    <a:schemeClr val="tx1">
                      <a:lumMod val="50000"/>
                    </a:schemeClr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3EF3E7B-2E6B-8BF0-D46A-E95D33DE9B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04116" y="3740986"/>
                <a:ext cx="1548373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/>
          <p:cNvSpPr/>
          <p:nvPr/>
        </p:nvSpPr>
        <p:spPr>
          <a:xfrm>
            <a:off x="11549348" y="4584298"/>
            <a:ext cx="1843379" cy="273768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57150" cap="flat">
            <a:solidFill>
              <a:schemeClr val="tx1"/>
            </a:solidFill>
            <a:prstDash val="sysDot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22" name="Picture 21" descr="\documentclass{article}&#10;\usepackage{amsmath}&#10;\pagestyle{empty}&#10;\begin{document}&#10;\begin{equation}&#10;x+\Delta x&#10;\nonumber&#10;\end{equation}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2060" y="7512038"/>
            <a:ext cx="1188571" cy="304000"/>
          </a:xfrm>
          <a:prstGeom prst="rect">
            <a:avLst/>
          </a:prstGeom>
        </p:spPr>
      </p:pic>
      <p:pic>
        <p:nvPicPr>
          <p:cNvPr id="12" name="Picture 11" descr="\documentclass{article}&#10;\usepackage{amsmath}&#10;\pagestyle{empty}&#10;\begin{document}&#10;\begin{equation}&#10;x&#10;\nonumber&#10;\end{equation}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8833" y="7557327"/>
            <a:ext cx="192000" cy="171429"/>
          </a:xfrm>
          <a:prstGeom prst="rect">
            <a:avLst/>
          </a:prstGeom>
        </p:spPr>
      </p:pic>
      <p:cxnSp>
        <p:nvCxnSpPr>
          <p:cNvPr id="16" name="Straight Arrow Connector 15"/>
          <p:cNvCxnSpPr/>
          <p:nvPr/>
        </p:nvCxnSpPr>
        <p:spPr>
          <a:xfrm>
            <a:off x="5219168" y="8494669"/>
            <a:ext cx="1563486" cy="0"/>
          </a:xfrm>
          <a:prstGeom prst="straightConnector1">
            <a:avLst/>
          </a:prstGeom>
          <a:noFill/>
          <a:ln w="28575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17" name="Picture 16" descr="\documentclass{article}&#10;\usepackage{amsmath}&#10;\pagestyle{empty}&#10;\begin{document}&#10;\begin{equation}&#10; A \Delta x c \Big|_{t + \Delta t} -  A \Delta x  c \Big|_t=A v c \Big|_{x} \Delta t-A v c \Big|_{x + \Delta x} \Delta t&#10;\nonumber&#10;\end{equation}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5119" y="8123241"/>
            <a:ext cx="7979428" cy="742857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 flipH="1">
            <a:off x="11553266" y="6094919"/>
            <a:ext cx="1717268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CV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5711" y="8099908"/>
            <a:ext cx="2595791" cy="617605"/>
          </a:xfrm>
          <a:prstGeom prst="rect">
            <a:avLst/>
          </a:prstGeom>
          <a:solidFill>
            <a:schemeClr val="accent5">
              <a:lumMod val="75000"/>
              <a:alpha val="32157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3234136" y="8136928"/>
            <a:ext cx="361484" cy="580585"/>
          </a:xfrm>
          <a:prstGeom prst="rect">
            <a:avLst/>
          </a:prstGeom>
          <a:solidFill>
            <a:schemeClr val="accent3">
              <a:lumMod val="60000"/>
              <a:lumOff val="40000"/>
              <a:alpha val="32157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3888795" y="8122621"/>
            <a:ext cx="786330" cy="583608"/>
          </a:xfrm>
          <a:prstGeom prst="rect">
            <a:avLst/>
          </a:prstGeom>
          <a:solidFill>
            <a:srgbClr val="00B0F0">
              <a:alpha val="32157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0A4C5070-75B9-F994-87E7-BD8EDC710A38}"/>
              </a:ext>
            </a:extLst>
          </p:cNvPr>
          <p:cNvCxnSpPr>
            <a:cxnSpLocks/>
          </p:cNvCxnSpPr>
          <p:nvPr/>
        </p:nvCxnSpPr>
        <p:spPr>
          <a:xfrm>
            <a:off x="9143692" y="6319714"/>
            <a:ext cx="2405656" cy="0"/>
          </a:xfrm>
          <a:prstGeom prst="straightConnector1">
            <a:avLst/>
          </a:prstGeom>
          <a:noFill/>
          <a:ln w="57150" cap="flat">
            <a:solidFill>
              <a:srgbClr val="92D05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0A4C5070-75B9-F994-87E7-BD8EDC710A38}"/>
              </a:ext>
            </a:extLst>
          </p:cNvPr>
          <p:cNvCxnSpPr>
            <a:cxnSpLocks/>
          </p:cNvCxnSpPr>
          <p:nvPr/>
        </p:nvCxnSpPr>
        <p:spPr>
          <a:xfrm>
            <a:off x="13392727" y="6319714"/>
            <a:ext cx="2405656" cy="0"/>
          </a:xfrm>
          <a:prstGeom prst="straightConnector1">
            <a:avLst/>
          </a:prstGeom>
          <a:noFill/>
          <a:ln w="57150" cap="flat">
            <a:solidFill>
              <a:srgbClr val="00B0F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D745FB8E-079C-5FD5-F2D9-64E5CCA7EFE0}"/>
              </a:ext>
            </a:extLst>
          </p:cNvPr>
          <p:cNvSpPr/>
          <p:nvPr/>
        </p:nvSpPr>
        <p:spPr>
          <a:xfrm rot="-10800000" flipV="1">
            <a:off x="9853404" y="13283356"/>
            <a:ext cx="4628055" cy="379591"/>
          </a:xfrm>
          <a:prstGeom prst="rect">
            <a:avLst/>
          </a:prstGeom>
          <a:solidFill>
            <a:srgbClr val="8B79A6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n-US" sz="1800"/>
              <a:t>Workshop on Numerical Simulation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77BDE8D7-A329-2714-9BC3-5E6F275CC1AF}"/>
                  </a:ext>
                </a:extLst>
              </p:cNvPr>
              <p:cNvSpPr txBox="1"/>
              <p:nvPr/>
            </p:nvSpPr>
            <p:spPr>
              <a:xfrm>
                <a:off x="18757813" y="5336500"/>
                <a:ext cx="685610" cy="43088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GB" sz="2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highlight>
                                <a:srgbClr val="FFFF00"/>
                              </a:highlight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GB" sz="2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highlight>
                                <a:srgbClr val="FFFF00"/>
                              </a:highlight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𝑐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0" lang="en-GB" sz="2800" b="0" i="0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highlight>
                                <a:srgbClr val="FFFF00"/>
                              </a:highlight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out</m:t>
                          </m:r>
                        </m:sub>
                      </m:sSub>
                    </m:oMath>
                  </m:oMathPara>
                </a14:m>
                <a:endParaRPr kumimoji="0" lang="en-GB" sz="2800" b="0" i="0" u="none" strike="noStrike" cap="none" spc="0" normalizeH="0" baseline="0">
                  <a:ln>
                    <a:noFill/>
                  </a:ln>
                  <a:solidFill>
                    <a:schemeClr val="tx1">
                      <a:lumMod val="50000"/>
                    </a:schemeClr>
                  </a:solidFill>
                  <a:effectLst/>
                  <a:highlight>
                    <a:srgbClr val="FFFF00"/>
                  </a:highlight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77BDE8D7-A329-2714-9BC3-5E6F275CC1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57813" y="5336500"/>
                <a:ext cx="685610" cy="43088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105225" y="8111193"/>
            <a:ext cx="4831309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sym typeface="Helvetica Neue"/>
              </a:rPr>
              <a:t>Accumulation=</a:t>
            </a:r>
            <a:r>
              <a:rPr lang="en-US" sz="3200"/>
              <a:t> In - Out</a:t>
            </a: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sym typeface="Helvetica Neue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E5E6C2E-C000-B999-264C-69241A7AD13E}"/>
              </a:ext>
            </a:extLst>
          </p:cNvPr>
          <p:cNvSpPr/>
          <p:nvPr/>
        </p:nvSpPr>
        <p:spPr>
          <a:xfrm rot="-10800000" flipV="1">
            <a:off x="457612" y="13283975"/>
            <a:ext cx="4628055" cy="379591"/>
          </a:xfrm>
          <a:prstGeom prst="rect">
            <a:avLst/>
          </a:prstGeom>
          <a:solidFill>
            <a:srgbClr val="5C2A7A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/>
            <a:r>
              <a:rPr lang="en-GB" sz="1800">
                <a:solidFill>
                  <a:srgbClr val="9E79A6"/>
                </a:solidFill>
                <a:latin typeface="Helvetica Neue"/>
              </a:rPr>
              <a:t>KR and MA</a:t>
            </a:r>
            <a:endParaRPr lang="en-US" sz="180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E64342D-F23F-D294-E0BF-76DB073DB7A2}"/>
              </a:ext>
            </a:extLst>
          </p:cNvPr>
          <p:cNvSpPr/>
          <p:nvPr/>
        </p:nvSpPr>
        <p:spPr>
          <a:xfrm rot="-10800000" flipV="1">
            <a:off x="19138012" y="13283101"/>
            <a:ext cx="4628055" cy="379591"/>
          </a:xfrm>
          <a:prstGeom prst="rect">
            <a:avLst/>
          </a:prstGeom>
          <a:solidFill>
            <a:srgbClr val="5C2A7A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/>
            <a:r>
              <a:rPr lang="en-GB" sz="1800">
                <a:solidFill>
                  <a:srgbClr val="9E79A6"/>
                </a:solidFill>
                <a:latin typeface="Helvetica Neue"/>
              </a:rPr>
              <a:t>22/10/2025</a:t>
            </a:r>
            <a:endParaRPr lang="en-US" sz="1800"/>
          </a:p>
        </p:txBody>
      </p:sp>
      <p:sp>
        <p:nvSpPr>
          <p:cNvPr id="36" name="Slide Number">
            <a:extLst>
              <a:ext uri="{FF2B5EF4-FFF2-40B4-BE49-F238E27FC236}">
                <a16:creationId xmlns:a16="http://schemas.microsoft.com/office/drawing/2014/main" id="{3A530B0C-0DF4-6EBB-B7F7-92464D70DE84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23805849" y="13272486"/>
            <a:ext cx="230832" cy="379591"/>
          </a:xfrm>
          <a:prstGeom prst="rect">
            <a:avLst/>
          </a:prstGeom>
        </p:spPr>
        <p:txBody>
          <a:bodyPr/>
          <a:lstStyle/>
          <a:p>
            <a:r>
              <a:rPr lang="en-GB"/>
              <a:t>3</a:t>
            </a: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C974234-1721-787F-0D4A-F90F6177E952}"/>
                  </a:ext>
                </a:extLst>
              </p:cNvPr>
              <p:cNvSpPr txBox="1"/>
              <p:nvPr/>
            </p:nvSpPr>
            <p:spPr>
              <a:xfrm>
                <a:off x="4123297" y="5121056"/>
                <a:ext cx="2137059" cy="43088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GB" sz="2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𝑢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0" lang="en-GB" sz="2800" b="0" i="0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in</m:t>
                          </m:r>
                        </m:sub>
                      </m:sSub>
                      <m:r>
                        <a:rPr kumimoji="0" lang="en-GB" sz="2800" b="0" i="0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=2</m:t>
                      </m:r>
                      <m:r>
                        <m:rPr>
                          <m:sty m:val="p"/>
                        </m:rPr>
                        <a:rPr lang="en-US" sz="28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US" sz="280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p>
                          <m:r>
                            <a:rPr lang="en-US" sz="280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i="1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kumimoji="0" lang="en-GB" sz="2800" b="0" i="0" u="none" strike="noStrike" cap="none" spc="0" normalizeH="0" baseline="0">
                  <a:ln>
                    <a:noFill/>
                  </a:ln>
                  <a:solidFill>
                    <a:schemeClr val="tx1">
                      <a:lumMod val="50000"/>
                    </a:schemeClr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C974234-1721-787F-0D4A-F90F6177E9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3297" y="5121056"/>
                <a:ext cx="2137059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0BE4707-DE43-7F24-2D61-83B0BB6B3DA3}"/>
                  </a:ext>
                </a:extLst>
              </p:cNvPr>
              <p:cNvSpPr txBox="1"/>
              <p:nvPr/>
            </p:nvSpPr>
            <p:spPr>
              <a:xfrm>
                <a:off x="3924011" y="5710579"/>
                <a:ext cx="2622055" cy="46166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GB" sz="24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GB" sz="24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𝑐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0" lang="en-GB" sz="2400" b="0" i="0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in</m:t>
                          </m:r>
                        </m:sub>
                      </m:sSub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0BE4707-DE43-7F24-2D61-83B0BB6B3D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4011" y="5710579"/>
                <a:ext cx="2622055" cy="461665"/>
              </a:xfrm>
              <a:prstGeom prst="rect">
                <a:avLst/>
              </a:prstGeom>
              <a:blipFill>
                <a:blip r:embed="rId12"/>
                <a:stretch>
                  <a:fillRect b="-394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0CBB2C6-BB3C-81E7-F9E7-A35B2316BE2C}"/>
                  </a:ext>
                </a:extLst>
              </p:cNvPr>
              <p:cNvSpPr txBox="1"/>
              <p:nvPr/>
            </p:nvSpPr>
            <p:spPr>
              <a:xfrm>
                <a:off x="391666" y="1619779"/>
                <a:ext cx="23276717" cy="206210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 algn="l"/>
                <a:r>
                  <a:rPr lang="en-GB" sz="3200">
                    <a:solidFill>
                      <a:schemeClr val="bg2">
                        <a:lumMod val="10000"/>
                      </a:schemeClr>
                    </a:solidFill>
                  </a:rPr>
                  <a:t>A fluid enters an empty unpacked pipe at a constant velocity of 2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sz="320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32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3200" b="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p>
                        <m:r>
                          <a:rPr lang="en-US" sz="320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32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GB" sz="3200">
                    <a:solidFill>
                      <a:schemeClr val="bg2">
                        <a:lumMod val="10000"/>
                      </a:schemeClr>
                    </a:solidFill>
                  </a:rPr>
                  <a:t>​. </a:t>
                </a:r>
                <a:r>
                  <a:rPr lang="en-US" sz="3200">
                    <a:solidFill>
                      <a:schemeClr val="bg2">
                        <a:lumMod val="10000"/>
                      </a:schemeClr>
                    </a:solidFill>
                  </a:rPr>
                  <a:t>The pipe length is 30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dirty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lang="en-US" sz="3200">
                    <a:solidFill>
                      <a:schemeClr val="bg2">
                        <a:lumMod val="10000"/>
                      </a:schemeClr>
                    </a:solidFill>
                  </a:rPr>
                  <a:t>. The solute is transported solely by advection (no diffusion or reaction). The inlet solute concentration increases linearly for t</a:t>
                </a:r>
                <a:r>
                  <a:rPr lang="en-GB" sz="3200">
                    <a:solidFill>
                      <a:schemeClr val="bg2">
                        <a:lumMod val="10000"/>
                      </a:schemeClr>
                    </a:solidFill>
                  </a:rPr>
                  <a:t>he first 5 seconds at a rate of</a:t>
                </a:r>
              </a:p>
              <a:p>
                <a:pPr algn="l"/>
                <a14:m>
                  <m:oMath xmlns:m="http://schemas.openxmlformats.org/officeDocument/2006/math">
                    <m:r>
                      <a:rPr lang="en-US" sz="3200" b="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2 </m:t>
                    </m:r>
                    <m:r>
                      <m:rPr>
                        <m:sty m:val="p"/>
                      </m:rPr>
                      <a:rPr lang="en-US" sz="3200" b="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mol</m:t>
                    </m:r>
                    <m:r>
                      <a:rPr lang="en-US" sz="3200" b="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32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3200" b="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p>
                        <m:r>
                          <a:rPr lang="en-US" sz="3200" b="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−3</m:t>
                        </m:r>
                      </m:sup>
                    </m:sSup>
                    <m:r>
                      <a:rPr lang="en-US" sz="3200" b="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32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3200" b="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p>
                        <m:r>
                          <a:rPr lang="en-US" sz="3200" b="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3200" b="0">
                    <a:solidFill>
                      <a:schemeClr val="bg2">
                        <a:lumMod val="10000"/>
                      </a:schemeClr>
                    </a:solidFill>
                  </a:rPr>
                  <a:t>; after 5 seconds it remains constant.</a:t>
                </a:r>
              </a:p>
              <a:p>
                <a:pPr algn="l"/>
                <a:r>
                  <a:rPr lang="en-GB" sz="3200">
                    <a:solidFill>
                      <a:schemeClr val="tx1">
                        <a:lumMod val="50000"/>
                      </a:schemeClr>
                    </a:solidFill>
                  </a:rPr>
                  <a:t>Obtain the concentration distribution over time.  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0CBB2C6-BB3C-81E7-F9E7-A35B2316BE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666" y="1619779"/>
                <a:ext cx="23276717" cy="2062103"/>
              </a:xfrm>
              <a:prstGeom prst="rect">
                <a:avLst/>
              </a:prstGeom>
              <a:blipFill>
                <a:blip r:embed="rId13"/>
                <a:stretch>
                  <a:fillRect l="-655" t="-3846" r="-759" b="-8876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8318838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Box 58"/>
          <p:cNvSpPr txBox="1"/>
          <p:nvPr/>
        </p:nvSpPr>
        <p:spPr>
          <a:xfrm>
            <a:off x="13470495" y="7966282"/>
            <a:ext cx="2406686" cy="1056775"/>
          </a:xfrm>
          <a:prstGeom prst="rect">
            <a:avLst/>
          </a:prstGeom>
          <a:solidFill>
            <a:srgbClr val="00B0F0">
              <a:alpha val="32157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1549348" y="7966282"/>
            <a:ext cx="1638513" cy="1056775"/>
          </a:xfrm>
          <a:prstGeom prst="rect">
            <a:avLst/>
          </a:prstGeom>
          <a:solidFill>
            <a:schemeClr val="accent3">
              <a:lumMod val="60000"/>
              <a:lumOff val="40000"/>
              <a:alpha val="32157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529849" y="7966282"/>
            <a:ext cx="3622473" cy="1056775"/>
          </a:xfrm>
          <a:prstGeom prst="rect">
            <a:avLst/>
          </a:prstGeom>
          <a:solidFill>
            <a:schemeClr val="accent5">
              <a:lumMod val="75000"/>
              <a:alpha val="32157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3888795" y="246197"/>
            <a:ext cx="7263527" cy="923330"/>
          </a:xfrm>
          <a:prstGeom prst="rect">
            <a:avLst/>
          </a:prstGeom>
        </p:spPr>
        <p:txBody>
          <a:bodyPr wrap="none">
            <a:spAutoFit/>
          </a:bodyPr>
          <a:lstStyle>
            <a:defPPr marL="0" marR="0" indent="0" algn="l" defTabSz="18288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1pPr>
            <a:lvl2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2pPr>
            <a:lvl3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3pPr>
            <a:lvl4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4pPr>
            <a:lvl5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5pPr>
            <a:lvl6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6pPr>
            <a:lvl7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7pPr>
            <a:lvl8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8pPr>
            <a:lvl9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9pPr>
          </a:lstStyle>
          <a:p>
            <a:r>
              <a:rPr lang="en-US" sz="5400" b="1">
                <a:solidFill>
                  <a:srgbClr val="EAEAEA"/>
                </a:solidFill>
              </a:rPr>
              <a:t>Deriving the equation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862896B-02A8-6185-A61A-157D9F16342B}"/>
              </a:ext>
            </a:extLst>
          </p:cNvPr>
          <p:cNvSpPr/>
          <p:nvPr/>
        </p:nvSpPr>
        <p:spPr>
          <a:xfrm>
            <a:off x="6494858" y="4584298"/>
            <a:ext cx="11931295" cy="2737681"/>
          </a:xfrm>
          <a:prstGeom prst="rect">
            <a:avLst/>
          </a:prstGeom>
          <a:noFill/>
          <a:ln w="57150" cap="flat">
            <a:solidFill>
              <a:schemeClr val="bg2">
                <a:lumMod val="1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A4C5070-75B9-F994-87E7-BD8EDC710A38}"/>
              </a:ext>
            </a:extLst>
          </p:cNvPr>
          <p:cNvCxnSpPr>
            <a:cxnSpLocks/>
          </p:cNvCxnSpPr>
          <p:nvPr/>
        </p:nvCxnSpPr>
        <p:spPr>
          <a:xfrm>
            <a:off x="4032211" y="6330881"/>
            <a:ext cx="2405656" cy="0"/>
          </a:xfrm>
          <a:prstGeom prst="straightConnector1">
            <a:avLst/>
          </a:prstGeom>
          <a:noFill/>
          <a:ln w="5715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A4507D2-6F5A-504B-C4BE-C841A1F87F1D}"/>
              </a:ext>
            </a:extLst>
          </p:cNvPr>
          <p:cNvCxnSpPr>
            <a:cxnSpLocks/>
          </p:cNvCxnSpPr>
          <p:nvPr/>
        </p:nvCxnSpPr>
        <p:spPr>
          <a:xfrm>
            <a:off x="18426153" y="6319714"/>
            <a:ext cx="2405656" cy="0"/>
          </a:xfrm>
          <a:prstGeom prst="straightConnector1">
            <a:avLst/>
          </a:prstGeom>
          <a:noFill/>
          <a:ln w="5715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5BB56651-2BF8-785E-F39D-A9B376275E0B}"/>
              </a:ext>
            </a:extLst>
          </p:cNvPr>
          <p:cNvCxnSpPr>
            <a:cxnSpLocks/>
          </p:cNvCxnSpPr>
          <p:nvPr/>
        </p:nvCxnSpPr>
        <p:spPr>
          <a:xfrm>
            <a:off x="6510850" y="4334406"/>
            <a:ext cx="1191530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3EF3E7B-2E6B-8BF0-D46A-E95D33DE9B7F}"/>
                  </a:ext>
                </a:extLst>
              </p:cNvPr>
              <p:cNvSpPr txBox="1"/>
              <p:nvPr/>
            </p:nvSpPr>
            <p:spPr>
              <a:xfrm>
                <a:off x="11704116" y="3740986"/>
                <a:ext cx="1548373" cy="43088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GB" sz="2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𝐿</m:t>
                      </m:r>
                      <m:r>
                        <a:rPr kumimoji="0" lang="en-GB" sz="2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=30 </m:t>
                      </m:r>
                      <m:r>
                        <a:rPr kumimoji="0" lang="en-GB" sz="2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𝑚</m:t>
                      </m:r>
                    </m:oMath>
                  </m:oMathPara>
                </a14:m>
                <a:endParaRPr kumimoji="0" lang="en-GB" sz="2800" b="0" i="0" u="none" strike="noStrike" cap="none" spc="0" normalizeH="0" baseline="0">
                  <a:ln>
                    <a:noFill/>
                  </a:ln>
                  <a:solidFill>
                    <a:schemeClr val="tx1">
                      <a:lumMod val="50000"/>
                    </a:schemeClr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3EF3E7B-2E6B-8BF0-D46A-E95D33DE9B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04116" y="3740986"/>
                <a:ext cx="1548373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/>
          <p:cNvSpPr/>
          <p:nvPr/>
        </p:nvSpPr>
        <p:spPr>
          <a:xfrm>
            <a:off x="11549348" y="4584298"/>
            <a:ext cx="1843379" cy="273768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57150" cap="flat">
            <a:solidFill>
              <a:schemeClr val="tx1"/>
            </a:solidFill>
            <a:prstDash val="sysDot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22" name="Picture 21" descr="\documentclass{article}&#10;\usepackage{amsmath}&#10;\pagestyle{empty}&#10;\begin{document}&#10;\begin{equation}&#10;x+\Delta x&#10;\nonumber&#10;\end{equation}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2060" y="7512038"/>
            <a:ext cx="1188571" cy="304000"/>
          </a:xfrm>
          <a:prstGeom prst="rect">
            <a:avLst/>
          </a:prstGeom>
        </p:spPr>
      </p:pic>
      <p:pic>
        <p:nvPicPr>
          <p:cNvPr id="12" name="Picture 11" descr="\documentclass{article}&#10;\usepackage{amsmath}&#10;\pagestyle{empty}&#10;\begin{document}&#10;\begin{equation}&#10;x&#10;\nonumber&#10;\end{equation}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8833" y="7557327"/>
            <a:ext cx="192000" cy="171429"/>
          </a:xfrm>
          <a:prstGeom prst="rect">
            <a:avLst/>
          </a:prstGeom>
        </p:spPr>
      </p:pic>
      <p:cxnSp>
        <p:nvCxnSpPr>
          <p:cNvPr id="16" name="Straight Arrow Connector 15"/>
          <p:cNvCxnSpPr/>
          <p:nvPr/>
        </p:nvCxnSpPr>
        <p:spPr>
          <a:xfrm>
            <a:off x="5219168" y="8494669"/>
            <a:ext cx="1563486" cy="0"/>
          </a:xfrm>
          <a:prstGeom prst="straightConnector1">
            <a:avLst/>
          </a:prstGeom>
          <a:noFill/>
          <a:ln w="28575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17" name="Picture 16" descr="\documentclass{article}&#10;\usepackage{amsmath}&#10;\pagestyle{empty}&#10;\begin{document}&#10;\begin{equation}&#10; A \Delta x c \Big|_{t + \Delta t} -  A \Delta x  c \Big|_t=A v c \Big|_{x} \Delta t-A v c \Big|_{x + \Delta x} \Delta t&#10;\nonumber&#10;\end{equation}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5119" y="8123241"/>
            <a:ext cx="7979428" cy="742857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 flipH="1">
            <a:off x="11553266" y="6094919"/>
            <a:ext cx="1717268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CV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5711" y="8099908"/>
            <a:ext cx="2595791" cy="617605"/>
          </a:xfrm>
          <a:prstGeom prst="rect">
            <a:avLst/>
          </a:prstGeom>
          <a:solidFill>
            <a:schemeClr val="accent5">
              <a:lumMod val="75000"/>
              <a:alpha val="32157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3234136" y="8136928"/>
            <a:ext cx="361484" cy="580585"/>
          </a:xfrm>
          <a:prstGeom prst="rect">
            <a:avLst/>
          </a:prstGeom>
          <a:solidFill>
            <a:schemeClr val="accent3">
              <a:lumMod val="60000"/>
              <a:lumOff val="40000"/>
              <a:alpha val="32157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3888795" y="8122621"/>
            <a:ext cx="786330" cy="583608"/>
          </a:xfrm>
          <a:prstGeom prst="rect">
            <a:avLst/>
          </a:prstGeom>
          <a:solidFill>
            <a:srgbClr val="00B0F0">
              <a:alpha val="32157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0A4C5070-75B9-F994-87E7-BD8EDC710A38}"/>
              </a:ext>
            </a:extLst>
          </p:cNvPr>
          <p:cNvCxnSpPr>
            <a:cxnSpLocks/>
          </p:cNvCxnSpPr>
          <p:nvPr/>
        </p:nvCxnSpPr>
        <p:spPr>
          <a:xfrm>
            <a:off x="9143692" y="6319714"/>
            <a:ext cx="2405656" cy="0"/>
          </a:xfrm>
          <a:prstGeom prst="straightConnector1">
            <a:avLst/>
          </a:prstGeom>
          <a:noFill/>
          <a:ln w="57150" cap="flat">
            <a:solidFill>
              <a:srgbClr val="92D05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0A4C5070-75B9-F994-87E7-BD8EDC710A38}"/>
              </a:ext>
            </a:extLst>
          </p:cNvPr>
          <p:cNvCxnSpPr>
            <a:cxnSpLocks/>
          </p:cNvCxnSpPr>
          <p:nvPr/>
        </p:nvCxnSpPr>
        <p:spPr>
          <a:xfrm>
            <a:off x="13392727" y="6319714"/>
            <a:ext cx="2405656" cy="0"/>
          </a:xfrm>
          <a:prstGeom prst="straightConnector1">
            <a:avLst/>
          </a:prstGeom>
          <a:noFill/>
          <a:ln w="57150" cap="flat">
            <a:solidFill>
              <a:srgbClr val="00B0F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D745FB8E-079C-5FD5-F2D9-64E5CCA7EFE0}"/>
              </a:ext>
            </a:extLst>
          </p:cNvPr>
          <p:cNvSpPr/>
          <p:nvPr/>
        </p:nvSpPr>
        <p:spPr>
          <a:xfrm rot="-10800000" flipV="1">
            <a:off x="9853404" y="13283356"/>
            <a:ext cx="4628055" cy="379591"/>
          </a:xfrm>
          <a:prstGeom prst="rect">
            <a:avLst/>
          </a:prstGeom>
          <a:solidFill>
            <a:srgbClr val="8B79A6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n-US" sz="1800"/>
              <a:t>Workshop on Numerical Simulation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77BDE8D7-A329-2714-9BC3-5E6F275CC1AF}"/>
                  </a:ext>
                </a:extLst>
              </p:cNvPr>
              <p:cNvSpPr txBox="1"/>
              <p:nvPr/>
            </p:nvSpPr>
            <p:spPr>
              <a:xfrm>
                <a:off x="18757813" y="5336500"/>
                <a:ext cx="685610" cy="43088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GB" sz="2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highlight>
                                <a:srgbClr val="FFFF00"/>
                              </a:highlight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GB" sz="2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highlight>
                                <a:srgbClr val="FFFF00"/>
                              </a:highlight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𝑐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0" lang="en-GB" sz="2800" b="0" i="0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highlight>
                                <a:srgbClr val="FFFF00"/>
                              </a:highlight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out</m:t>
                          </m:r>
                        </m:sub>
                      </m:sSub>
                    </m:oMath>
                  </m:oMathPara>
                </a14:m>
                <a:endParaRPr kumimoji="0" lang="en-GB" sz="2800" b="0" i="0" u="none" strike="noStrike" cap="none" spc="0" normalizeH="0" baseline="0">
                  <a:ln>
                    <a:noFill/>
                  </a:ln>
                  <a:solidFill>
                    <a:schemeClr val="tx1">
                      <a:lumMod val="50000"/>
                    </a:schemeClr>
                  </a:solidFill>
                  <a:effectLst/>
                  <a:highlight>
                    <a:srgbClr val="FFFF00"/>
                  </a:highlight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77BDE8D7-A329-2714-9BC3-5E6F275CC1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57813" y="5336500"/>
                <a:ext cx="685610" cy="43088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105225" y="8111193"/>
            <a:ext cx="4831309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sym typeface="Helvetica Neue"/>
              </a:rPr>
              <a:t>Accumulation=</a:t>
            </a:r>
            <a:r>
              <a:rPr lang="en-US" sz="3200"/>
              <a:t> In - Out</a:t>
            </a: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sym typeface="Helvetica Neue"/>
            </a:endParaRPr>
          </a:p>
        </p:txBody>
      </p:sp>
      <p:pic>
        <p:nvPicPr>
          <p:cNvPr id="5" name="Picture 4" descr="\documentclass{article}&#10;\usepackage{amsmath}&#10;\pagestyle{empty}&#10;\begin{document}&#10;\begin{equation}&#10;\frac{ A \Delta x c_j \Big|_{t + \Delta t} - A \Delta x  c_j \Big|_t}{A \Delta x \Delta t}&#10;=\frac{A v c \Big|_x \Delta t - A v c \Big|_{x + \Delta x} \Delta t}{A \Delta x \Delta t} &#10;\nonumber&#10;\end{equation}&#10;&#10;\end{document}" title="IguanaTex Bitmap Display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1550" y="9849491"/>
            <a:ext cx="8413717" cy="115657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-836323" y="10274843"/>
            <a:ext cx="6919961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Dividing the two sides by</a:t>
            </a:r>
          </a:p>
        </p:txBody>
      </p:sp>
      <p:cxnSp>
        <p:nvCxnSpPr>
          <p:cNvPr id="34" name="Straight Arrow Connector 33"/>
          <p:cNvCxnSpPr/>
          <p:nvPr/>
        </p:nvCxnSpPr>
        <p:spPr>
          <a:xfrm flipV="1">
            <a:off x="6421989" y="10572359"/>
            <a:ext cx="862977" cy="0"/>
          </a:xfrm>
          <a:prstGeom prst="straightConnector1">
            <a:avLst/>
          </a:prstGeom>
          <a:noFill/>
          <a:ln w="28575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36" name="Picture 35" descr="\documentclass{article}&#10;\usepackage{amsmath}&#10;\pagestyle{empty}&#10;\begin{document}&#10;\begin{equation}&#10;A\Delta x \Delta t&#10;\nonumber&#10;\end{equation}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8680" y="10434074"/>
            <a:ext cx="1245714" cy="276571"/>
          </a:xfrm>
          <a:prstGeom prst="rect">
            <a:avLst/>
          </a:prstGeom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1E5E6C2E-C000-B999-264C-69241A7AD13E}"/>
              </a:ext>
            </a:extLst>
          </p:cNvPr>
          <p:cNvSpPr/>
          <p:nvPr/>
        </p:nvSpPr>
        <p:spPr>
          <a:xfrm rot="-10800000" flipV="1">
            <a:off x="457612" y="13283975"/>
            <a:ext cx="4628055" cy="379591"/>
          </a:xfrm>
          <a:prstGeom prst="rect">
            <a:avLst/>
          </a:prstGeom>
          <a:solidFill>
            <a:srgbClr val="5C2A7A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/>
            <a:r>
              <a:rPr lang="en-GB" sz="1800">
                <a:solidFill>
                  <a:srgbClr val="9E79A6"/>
                </a:solidFill>
                <a:latin typeface="Helvetica Neue"/>
              </a:rPr>
              <a:t>KR and MA</a:t>
            </a:r>
            <a:endParaRPr lang="en-US" sz="180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E64342D-F23F-D294-E0BF-76DB073DB7A2}"/>
              </a:ext>
            </a:extLst>
          </p:cNvPr>
          <p:cNvSpPr/>
          <p:nvPr/>
        </p:nvSpPr>
        <p:spPr>
          <a:xfrm rot="-10800000" flipV="1">
            <a:off x="19138012" y="13283101"/>
            <a:ext cx="4628055" cy="379591"/>
          </a:xfrm>
          <a:prstGeom prst="rect">
            <a:avLst/>
          </a:prstGeom>
          <a:solidFill>
            <a:srgbClr val="5C2A7A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/>
            <a:r>
              <a:rPr lang="en-GB" sz="1800">
                <a:solidFill>
                  <a:srgbClr val="9E79A6"/>
                </a:solidFill>
                <a:latin typeface="Helvetica Neue"/>
              </a:rPr>
              <a:t>22/10/2025</a:t>
            </a:r>
            <a:endParaRPr lang="en-US" sz="1800"/>
          </a:p>
        </p:txBody>
      </p:sp>
      <p:sp>
        <p:nvSpPr>
          <p:cNvPr id="52" name="Slide Number">
            <a:extLst>
              <a:ext uri="{FF2B5EF4-FFF2-40B4-BE49-F238E27FC236}">
                <a16:creationId xmlns:a16="http://schemas.microsoft.com/office/drawing/2014/main" id="{3A530B0C-0DF4-6EBB-B7F7-92464D70DE84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23805849" y="13272486"/>
            <a:ext cx="230832" cy="379591"/>
          </a:xfrm>
          <a:prstGeom prst="rect">
            <a:avLst/>
          </a:prstGeom>
        </p:spPr>
        <p:txBody>
          <a:bodyPr/>
          <a:lstStyle/>
          <a:p>
            <a:r>
              <a:rPr lang="en-GB"/>
              <a:t>3</a:t>
            </a: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5DC3580-40F0-3471-7EAC-D5DBE09079F9}"/>
                  </a:ext>
                </a:extLst>
              </p:cNvPr>
              <p:cNvSpPr txBox="1"/>
              <p:nvPr/>
            </p:nvSpPr>
            <p:spPr>
              <a:xfrm>
                <a:off x="391666" y="1619779"/>
                <a:ext cx="23276717" cy="206210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 algn="l"/>
                <a:r>
                  <a:rPr lang="en-GB" sz="3200">
                    <a:solidFill>
                      <a:schemeClr val="bg2">
                        <a:lumMod val="10000"/>
                      </a:schemeClr>
                    </a:solidFill>
                  </a:rPr>
                  <a:t>A fluid enters an empty unpacked pipe at a constant velocity of 2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sz="320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32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3200" b="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p>
                        <m:r>
                          <a:rPr lang="en-US" sz="320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32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GB" sz="3200">
                    <a:solidFill>
                      <a:schemeClr val="bg2">
                        <a:lumMod val="10000"/>
                      </a:schemeClr>
                    </a:solidFill>
                  </a:rPr>
                  <a:t>​. </a:t>
                </a:r>
                <a:r>
                  <a:rPr lang="en-US" sz="3200">
                    <a:solidFill>
                      <a:schemeClr val="bg2">
                        <a:lumMod val="10000"/>
                      </a:schemeClr>
                    </a:solidFill>
                  </a:rPr>
                  <a:t>The pipe length is 30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dirty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lang="en-US" sz="3200">
                    <a:solidFill>
                      <a:schemeClr val="bg2">
                        <a:lumMod val="10000"/>
                      </a:schemeClr>
                    </a:solidFill>
                  </a:rPr>
                  <a:t>. The solute is transported solely by advection (no diffusion or reaction). The inlet solute concentration increases linearly for t</a:t>
                </a:r>
                <a:r>
                  <a:rPr lang="en-GB" sz="3200">
                    <a:solidFill>
                      <a:schemeClr val="bg2">
                        <a:lumMod val="10000"/>
                      </a:schemeClr>
                    </a:solidFill>
                  </a:rPr>
                  <a:t>he first 5 seconds at a rate</a:t>
                </a:r>
              </a:p>
              <a:p>
                <a:pPr algn="l"/>
                <a14:m>
                  <m:oMath xmlns:m="http://schemas.openxmlformats.org/officeDocument/2006/math">
                    <m:r>
                      <a:rPr lang="en-US" sz="3200" b="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2 </m:t>
                    </m:r>
                    <m:r>
                      <m:rPr>
                        <m:sty m:val="p"/>
                      </m:rPr>
                      <a:rPr lang="en-US" sz="3200" b="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mol</m:t>
                    </m:r>
                    <m:r>
                      <a:rPr lang="en-US" sz="3200" b="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32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3200" b="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p>
                        <m:r>
                          <a:rPr lang="en-US" sz="3200" b="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−3</m:t>
                        </m:r>
                      </m:sup>
                    </m:sSup>
                    <m:r>
                      <a:rPr lang="en-US" sz="3200" b="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32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3200" b="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p>
                        <m:r>
                          <a:rPr lang="en-US" sz="3200" b="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3200" b="0">
                    <a:solidFill>
                      <a:schemeClr val="bg2">
                        <a:lumMod val="10000"/>
                      </a:schemeClr>
                    </a:solidFill>
                  </a:rPr>
                  <a:t>; after 5 seconds it remains constant.</a:t>
                </a:r>
              </a:p>
              <a:p>
                <a:pPr algn="l"/>
                <a:r>
                  <a:rPr lang="en-GB" sz="3200">
                    <a:solidFill>
                      <a:schemeClr val="tx1">
                        <a:lumMod val="50000"/>
                      </a:schemeClr>
                    </a:solidFill>
                  </a:rPr>
                  <a:t>Obtain the concentration distribution over time.  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5DC3580-40F0-3471-7EAC-D5DBE09079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666" y="1619779"/>
                <a:ext cx="23276717" cy="2062103"/>
              </a:xfrm>
              <a:prstGeom prst="rect">
                <a:avLst/>
              </a:prstGeom>
              <a:blipFill>
                <a:blip r:embed="rId15"/>
                <a:stretch>
                  <a:fillRect l="-655" t="-3846" r="-759" b="-8876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CD6C07E-26EB-9F65-D956-0ADD3D4A5734}"/>
                  </a:ext>
                </a:extLst>
              </p:cNvPr>
              <p:cNvSpPr txBox="1"/>
              <p:nvPr/>
            </p:nvSpPr>
            <p:spPr>
              <a:xfrm>
                <a:off x="4123297" y="5121056"/>
                <a:ext cx="2137059" cy="43088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GB" sz="2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𝑢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0" lang="en-GB" sz="2800" b="0" i="0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in</m:t>
                          </m:r>
                        </m:sub>
                      </m:sSub>
                      <m:r>
                        <a:rPr kumimoji="0" lang="en-GB" sz="2800" b="0" i="0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=2</m:t>
                      </m:r>
                      <m:r>
                        <m:rPr>
                          <m:sty m:val="p"/>
                        </m:rPr>
                        <a:rPr lang="en-US" sz="28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US" sz="280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p>
                          <m:r>
                            <a:rPr lang="en-US" sz="280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i="1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kumimoji="0" lang="en-GB" sz="2800" b="0" i="0" u="none" strike="noStrike" cap="none" spc="0" normalizeH="0" baseline="0">
                  <a:ln>
                    <a:noFill/>
                  </a:ln>
                  <a:solidFill>
                    <a:schemeClr val="tx1">
                      <a:lumMod val="50000"/>
                    </a:schemeClr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CD6C07E-26EB-9F65-D956-0ADD3D4A57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3297" y="5121056"/>
                <a:ext cx="2137059" cy="43088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440E6BE-C459-B405-68B4-F60DECC2A95D}"/>
                  </a:ext>
                </a:extLst>
              </p:cNvPr>
              <p:cNvSpPr txBox="1"/>
              <p:nvPr/>
            </p:nvSpPr>
            <p:spPr>
              <a:xfrm>
                <a:off x="3924011" y="5710579"/>
                <a:ext cx="2622055" cy="46166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GB" sz="24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GB" sz="24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𝑐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0" lang="en-GB" sz="2400" b="0" i="0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in</m:t>
                          </m:r>
                        </m:sub>
                      </m:sSub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440E6BE-C459-B405-68B4-F60DECC2A9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4011" y="5710579"/>
                <a:ext cx="2622055" cy="461665"/>
              </a:xfrm>
              <a:prstGeom prst="rect">
                <a:avLst/>
              </a:prstGeom>
              <a:blipFill>
                <a:blip r:embed="rId17"/>
                <a:stretch>
                  <a:fillRect b="-394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5525883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Box 58"/>
          <p:cNvSpPr txBox="1"/>
          <p:nvPr/>
        </p:nvSpPr>
        <p:spPr>
          <a:xfrm>
            <a:off x="13470495" y="7966282"/>
            <a:ext cx="2406686" cy="1056775"/>
          </a:xfrm>
          <a:prstGeom prst="rect">
            <a:avLst/>
          </a:prstGeom>
          <a:solidFill>
            <a:srgbClr val="00B0F0">
              <a:alpha val="32157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1549348" y="7966282"/>
            <a:ext cx="1638513" cy="1056775"/>
          </a:xfrm>
          <a:prstGeom prst="rect">
            <a:avLst/>
          </a:prstGeom>
          <a:solidFill>
            <a:schemeClr val="accent3">
              <a:lumMod val="60000"/>
              <a:lumOff val="40000"/>
              <a:alpha val="32157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529849" y="7966282"/>
            <a:ext cx="3622473" cy="1056775"/>
          </a:xfrm>
          <a:prstGeom prst="rect">
            <a:avLst/>
          </a:prstGeom>
          <a:solidFill>
            <a:schemeClr val="accent5">
              <a:lumMod val="75000"/>
              <a:alpha val="32157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3888795" y="246197"/>
            <a:ext cx="7263527" cy="923330"/>
          </a:xfrm>
          <a:prstGeom prst="rect">
            <a:avLst/>
          </a:prstGeom>
        </p:spPr>
        <p:txBody>
          <a:bodyPr wrap="none">
            <a:spAutoFit/>
          </a:bodyPr>
          <a:lstStyle>
            <a:defPPr marL="0" marR="0" indent="0" algn="l" defTabSz="18288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1pPr>
            <a:lvl2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2pPr>
            <a:lvl3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3pPr>
            <a:lvl4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4pPr>
            <a:lvl5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5pPr>
            <a:lvl6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6pPr>
            <a:lvl7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7pPr>
            <a:lvl8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8pPr>
            <a:lvl9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9pPr>
          </a:lstStyle>
          <a:p>
            <a:r>
              <a:rPr lang="en-US" sz="5400" b="1">
                <a:solidFill>
                  <a:srgbClr val="EAEAEA"/>
                </a:solidFill>
              </a:rPr>
              <a:t>Deriving the equation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862896B-02A8-6185-A61A-157D9F16342B}"/>
              </a:ext>
            </a:extLst>
          </p:cNvPr>
          <p:cNvSpPr/>
          <p:nvPr/>
        </p:nvSpPr>
        <p:spPr>
          <a:xfrm>
            <a:off x="6494858" y="4584298"/>
            <a:ext cx="11931295" cy="2737681"/>
          </a:xfrm>
          <a:prstGeom prst="rect">
            <a:avLst/>
          </a:prstGeom>
          <a:noFill/>
          <a:ln w="57150" cap="flat">
            <a:solidFill>
              <a:schemeClr val="bg2">
                <a:lumMod val="1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A4C5070-75B9-F994-87E7-BD8EDC710A38}"/>
              </a:ext>
            </a:extLst>
          </p:cNvPr>
          <p:cNvCxnSpPr>
            <a:cxnSpLocks/>
          </p:cNvCxnSpPr>
          <p:nvPr/>
        </p:nvCxnSpPr>
        <p:spPr>
          <a:xfrm>
            <a:off x="4032211" y="6330881"/>
            <a:ext cx="2405656" cy="0"/>
          </a:xfrm>
          <a:prstGeom prst="straightConnector1">
            <a:avLst/>
          </a:prstGeom>
          <a:noFill/>
          <a:ln w="5715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A4507D2-6F5A-504B-C4BE-C841A1F87F1D}"/>
              </a:ext>
            </a:extLst>
          </p:cNvPr>
          <p:cNvCxnSpPr>
            <a:cxnSpLocks/>
          </p:cNvCxnSpPr>
          <p:nvPr/>
        </p:nvCxnSpPr>
        <p:spPr>
          <a:xfrm>
            <a:off x="18426153" y="6319714"/>
            <a:ext cx="2405656" cy="0"/>
          </a:xfrm>
          <a:prstGeom prst="straightConnector1">
            <a:avLst/>
          </a:prstGeom>
          <a:noFill/>
          <a:ln w="5715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5BB56651-2BF8-785E-F39D-A9B376275E0B}"/>
              </a:ext>
            </a:extLst>
          </p:cNvPr>
          <p:cNvCxnSpPr>
            <a:cxnSpLocks/>
          </p:cNvCxnSpPr>
          <p:nvPr/>
        </p:nvCxnSpPr>
        <p:spPr>
          <a:xfrm>
            <a:off x="6510850" y="4334406"/>
            <a:ext cx="1191530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3EF3E7B-2E6B-8BF0-D46A-E95D33DE9B7F}"/>
                  </a:ext>
                </a:extLst>
              </p:cNvPr>
              <p:cNvSpPr txBox="1"/>
              <p:nvPr/>
            </p:nvSpPr>
            <p:spPr>
              <a:xfrm>
                <a:off x="11704116" y="3740986"/>
                <a:ext cx="1548373" cy="43088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GB" sz="2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𝐿</m:t>
                      </m:r>
                      <m:r>
                        <a:rPr kumimoji="0" lang="en-GB" sz="2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=30 </m:t>
                      </m:r>
                      <m:r>
                        <a:rPr kumimoji="0" lang="en-GB" sz="2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𝑚</m:t>
                      </m:r>
                    </m:oMath>
                  </m:oMathPara>
                </a14:m>
                <a:endParaRPr kumimoji="0" lang="en-GB" sz="2800" b="0" i="0" u="none" strike="noStrike" cap="none" spc="0" normalizeH="0" baseline="0">
                  <a:ln>
                    <a:noFill/>
                  </a:ln>
                  <a:solidFill>
                    <a:schemeClr val="tx1">
                      <a:lumMod val="50000"/>
                    </a:schemeClr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3EF3E7B-2E6B-8BF0-D46A-E95D33DE9B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04116" y="3740986"/>
                <a:ext cx="1548373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/>
          <p:cNvSpPr/>
          <p:nvPr/>
        </p:nvSpPr>
        <p:spPr>
          <a:xfrm>
            <a:off x="11549348" y="4584298"/>
            <a:ext cx="1843379" cy="273768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57150" cap="flat">
            <a:solidFill>
              <a:schemeClr val="tx1"/>
            </a:solidFill>
            <a:prstDash val="sysDot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22" name="Picture 21" descr="\documentclass{article}&#10;\usepackage{amsmath}&#10;\pagestyle{empty}&#10;\begin{document}&#10;\begin{equation}&#10;x+\Delta x&#10;\nonumber&#10;\end{equation}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2060" y="7512038"/>
            <a:ext cx="1188571" cy="304000"/>
          </a:xfrm>
          <a:prstGeom prst="rect">
            <a:avLst/>
          </a:prstGeom>
        </p:spPr>
      </p:pic>
      <p:pic>
        <p:nvPicPr>
          <p:cNvPr id="12" name="Picture 11" descr="\documentclass{article}&#10;\usepackage{amsmath}&#10;\pagestyle{empty}&#10;\begin{document}&#10;\begin{equation}&#10;x&#10;\nonumber&#10;\end{equation}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8833" y="7557327"/>
            <a:ext cx="192000" cy="171429"/>
          </a:xfrm>
          <a:prstGeom prst="rect">
            <a:avLst/>
          </a:prstGeom>
        </p:spPr>
      </p:pic>
      <p:cxnSp>
        <p:nvCxnSpPr>
          <p:cNvPr id="16" name="Straight Arrow Connector 15"/>
          <p:cNvCxnSpPr/>
          <p:nvPr/>
        </p:nvCxnSpPr>
        <p:spPr>
          <a:xfrm>
            <a:off x="5219168" y="8494669"/>
            <a:ext cx="1563486" cy="0"/>
          </a:xfrm>
          <a:prstGeom prst="straightConnector1">
            <a:avLst/>
          </a:prstGeom>
          <a:noFill/>
          <a:ln w="28575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17" name="Picture 16" descr="\documentclass{article}&#10;\usepackage{amsmath}&#10;\pagestyle{empty}&#10;\begin{document}&#10;\begin{equation}&#10; A \Delta x c \Big|_{t + \Delta t} -  A \Delta x  c \Big|_t=A v c \Big|_{x} \Delta t-A v c \Big|_{x + \Delta x} \Delta t&#10;\nonumber&#10;\end{equation}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5119" y="8123241"/>
            <a:ext cx="7979428" cy="742857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 flipH="1">
            <a:off x="11553266" y="6094919"/>
            <a:ext cx="1717268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CV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5711" y="8099908"/>
            <a:ext cx="2595791" cy="617605"/>
          </a:xfrm>
          <a:prstGeom prst="rect">
            <a:avLst/>
          </a:prstGeom>
          <a:solidFill>
            <a:schemeClr val="accent5">
              <a:lumMod val="75000"/>
              <a:alpha val="32157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3234136" y="8136928"/>
            <a:ext cx="361484" cy="580585"/>
          </a:xfrm>
          <a:prstGeom prst="rect">
            <a:avLst/>
          </a:prstGeom>
          <a:solidFill>
            <a:schemeClr val="accent3">
              <a:lumMod val="60000"/>
              <a:lumOff val="40000"/>
              <a:alpha val="32157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3888795" y="8122621"/>
            <a:ext cx="786330" cy="583608"/>
          </a:xfrm>
          <a:prstGeom prst="rect">
            <a:avLst/>
          </a:prstGeom>
          <a:solidFill>
            <a:srgbClr val="00B0F0">
              <a:alpha val="32157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0A4C5070-75B9-F994-87E7-BD8EDC710A38}"/>
              </a:ext>
            </a:extLst>
          </p:cNvPr>
          <p:cNvCxnSpPr>
            <a:cxnSpLocks/>
          </p:cNvCxnSpPr>
          <p:nvPr/>
        </p:nvCxnSpPr>
        <p:spPr>
          <a:xfrm>
            <a:off x="9143692" y="6319714"/>
            <a:ext cx="2405656" cy="0"/>
          </a:xfrm>
          <a:prstGeom prst="straightConnector1">
            <a:avLst/>
          </a:prstGeom>
          <a:noFill/>
          <a:ln w="57150" cap="flat">
            <a:solidFill>
              <a:srgbClr val="92D05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0A4C5070-75B9-F994-87E7-BD8EDC710A38}"/>
              </a:ext>
            </a:extLst>
          </p:cNvPr>
          <p:cNvCxnSpPr>
            <a:cxnSpLocks/>
          </p:cNvCxnSpPr>
          <p:nvPr/>
        </p:nvCxnSpPr>
        <p:spPr>
          <a:xfrm>
            <a:off x="13392727" y="6319714"/>
            <a:ext cx="2405656" cy="0"/>
          </a:xfrm>
          <a:prstGeom prst="straightConnector1">
            <a:avLst/>
          </a:prstGeom>
          <a:noFill/>
          <a:ln w="57150" cap="flat">
            <a:solidFill>
              <a:srgbClr val="00B0F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D745FB8E-079C-5FD5-F2D9-64E5CCA7EFE0}"/>
              </a:ext>
            </a:extLst>
          </p:cNvPr>
          <p:cNvSpPr/>
          <p:nvPr/>
        </p:nvSpPr>
        <p:spPr>
          <a:xfrm rot="-10800000" flipV="1">
            <a:off x="9853404" y="13283356"/>
            <a:ext cx="4628055" cy="379591"/>
          </a:xfrm>
          <a:prstGeom prst="rect">
            <a:avLst/>
          </a:prstGeom>
          <a:solidFill>
            <a:srgbClr val="8B79A6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n-US" sz="1800"/>
              <a:t>Workshop on Numerical Simulation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77BDE8D7-A329-2714-9BC3-5E6F275CC1AF}"/>
                  </a:ext>
                </a:extLst>
              </p:cNvPr>
              <p:cNvSpPr txBox="1"/>
              <p:nvPr/>
            </p:nvSpPr>
            <p:spPr>
              <a:xfrm>
                <a:off x="18757813" y="5336500"/>
                <a:ext cx="685610" cy="43088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GB" sz="2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highlight>
                                <a:srgbClr val="FFFF00"/>
                              </a:highlight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GB" sz="2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highlight>
                                <a:srgbClr val="FFFF00"/>
                              </a:highlight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𝑐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0" lang="en-GB" sz="2800" b="0" i="0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highlight>
                                <a:srgbClr val="FFFF00"/>
                              </a:highlight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out</m:t>
                          </m:r>
                        </m:sub>
                      </m:sSub>
                    </m:oMath>
                  </m:oMathPara>
                </a14:m>
                <a:endParaRPr kumimoji="0" lang="en-GB" sz="2800" b="0" i="0" u="none" strike="noStrike" cap="none" spc="0" normalizeH="0" baseline="0">
                  <a:ln>
                    <a:noFill/>
                  </a:ln>
                  <a:solidFill>
                    <a:schemeClr val="tx1">
                      <a:lumMod val="50000"/>
                    </a:schemeClr>
                  </a:solidFill>
                  <a:effectLst/>
                  <a:highlight>
                    <a:srgbClr val="FFFF00"/>
                  </a:highlight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77BDE8D7-A329-2714-9BC3-5E6F275CC1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57813" y="5336500"/>
                <a:ext cx="685610" cy="43088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105225" y="8111193"/>
            <a:ext cx="4831309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sym typeface="Helvetica Neue"/>
              </a:rPr>
              <a:t>Accumulation=</a:t>
            </a:r>
            <a:r>
              <a:rPr lang="en-US" sz="3200"/>
              <a:t> In - Out</a:t>
            </a: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sym typeface="Helvetica Neue"/>
            </a:endParaRPr>
          </a:p>
        </p:txBody>
      </p:sp>
      <p:pic>
        <p:nvPicPr>
          <p:cNvPr id="5" name="Picture 4" descr="\documentclass{article}&#10;\usepackage{amsmath}&#10;\pagestyle{empty}&#10;\begin{document}&#10;\begin{equation}&#10;\frac{ A \Delta x c_j \Big|_{t + \Delta t} - A \Delta x  c_j \Big|_t}{A \Delta x \Delta t}&#10;=\frac{A v c \Big|_x \Delta t - A v c \Big|_{x + \Delta x} \Delta t}{A \Delta x \Delta t} &#10;\nonumber&#10;\end{equation}&#10;&#10;\end{document}" title="IguanaTex Bitmap Display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1550" y="9849491"/>
            <a:ext cx="8413717" cy="115657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-836323" y="10274843"/>
            <a:ext cx="6919961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Dividing the two sides by</a:t>
            </a:r>
          </a:p>
        </p:txBody>
      </p:sp>
      <p:cxnSp>
        <p:nvCxnSpPr>
          <p:cNvPr id="34" name="Straight Arrow Connector 33"/>
          <p:cNvCxnSpPr/>
          <p:nvPr/>
        </p:nvCxnSpPr>
        <p:spPr>
          <a:xfrm flipV="1">
            <a:off x="6421989" y="10572359"/>
            <a:ext cx="862977" cy="0"/>
          </a:xfrm>
          <a:prstGeom prst="straightConnector1">
            <a:avLst/>
          </a:prstGeom>
          <a:noFill/>
          <a:ln w="28575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36" name="Picture 35" descr="\documentclass{article}&#10;\usepackage{amsmath}&#10;\pagestyle{empty}&#10;\begin{document}&#10;\begin{equation}&#10;A\Delta x \Delta t&#10;\nonumber&#10;\end{equation}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8680" y="10434074"/>
            <a:ext cx="1245714" cy="276571"/>
          </a:xfrm>
          <a:prstGeom prst="rect">
            <a:avLst/>
          </a:prstGeom>
        </p:spPr>
      </p:pic>
      <p:pic>
        <p:nvPicPr>
          <p:cNvPr id="40" name="Picture 39" descr="\documentclass{article}&#10;\usepackage{amsmath}&#10;\pagestyle{empty}&#10;\begin{document}&#10;\begin{equation}&#10;\lim_{\Delta t \to 0, \Delta x \to 0} \left( \cdot \right)&#10;\nonumber&#10;\end{equation}&#10;&#10;\end{document}" title="IguanaTex Bitmap Display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3118" y="12012164"/>
            <a:ext cx="2192000" cy="582857"/>
          </a:xfrm>
          <a:prstGeom prst="rect">
            <a:avLst/>
          </a:prstGeom>
        </p:spPr>
      </p:pic>
      <p:pic>
        <p:nvPicPr>
          <p:cNvPr id="9" name="Picture 8" descr="\documentclass{article}&#10;\usepackage{amsmath}&#10;\pagestyle{empty}&#10;\begin{document}&#10;\begin{equation}&#10; \frac{\partial c}{\partial t}=-\frac{\partial v c}{\partial x}&#10;\nonumber&#10;\end{equation}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1825" y="11818010"/>
            <a:ext cx="1865143" cy="797714"/>
          </a:xfrm>
          <a:prstGeom prst="rect">
            <a:avLst/>
          </a:prstGeom>
        </p:spPr>
      </p:pic>
      <p:cxnSp>
        <p:nvCxnSpPr>
          <p:cNvPr id="42" name="Straight Arrow Connector 41"/>
          <p:cNvCxnSpPr/>
          <p:nvPr/>
        </p:nvCxnSpPr>
        <p:spPr>
          <a:xfrm flipV="1">
            <a:off x="6774112" y="12220255"/>
            <a:ext cx="1890291" cy="0"/>
          </a:xfrm>
          <a:prstGeom prst="straightConnector1">
            <a:avLst/>
          </a:prstGeom>
          <a:noFill/>
          <a:ln w="28575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6" name="TextBox 45"/>
          <p:cNvSpPr txBox="1"/>
          <p:nvPr/>
        </p:nvSpPr>
        <p:spPr>
          <a:xfrm flipH="1">
            <a:off x="13974335" y="11550569"/>
            <a:ext cx="5833273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Constant velocity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878261" y="11748674"/>
            <a:ext cx="2206487" cy="1102984"/>
          </a:xfrm>
          <a:prstGeom prst="rect">
            <a:avLst/>
          </a:prstGeom>
          <a:noFill/>
          <a:ln w="57150" cap="flat">
            <a:solidFill>
              <a:srgbClr val="9E2D28"/>
            </a:solidFill>
            <a:prstDash val="sysDot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pic>
        <p:nvPicPr>
          <p:cNvPr id="50" name="Picture 49" descr="\documentclass{article}&#10;\usepackage{amsmath}&#10;\pagestyle{empty}&#10;\begin{document}&#10;\begin{equation}&#10;\frac{\partial c}{\partial t}=-v\frac{\partial c}{\partial x}&#10;\nonumber&#10;\end{equation}&#10;&#10;\end{document}" title="IguanaTex Bitmap Display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19567" y="11928846"/>
            <a:ext cx="1915429" cy="797714"/>
          </a:xfrm>
          <a:prstGeom prst="rect">
            <a:avLst/>
          </a:prstGeom>
        </p:spPr>
      </p:pic>
      <p:cxnSp>
        <p:nvCxnSpPr>
          <p:cNvPr id="52" name="Straight Arrow Connector 51"/>
          <p:cNvCxnSpPr/>
          <p:nvPr/>
        </p:nvCxnSpPr>
        <p:spPr>
          <a:xfrm>
            <a:off x="14186294" y="12203558"/>
            <a:ext cx="5442687" cy="13309"/>
          </a:xfrm>
          <a:prstGeom prst="straightConnector1">
            <a:avLst/>
          </a:prstGeom>
          <a:noFill/>
          <a:ln w="28575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1E5E6C2E-C000-B999-264C-69241A7AD13E}"/>
              </a:ext>
            </a:extLst>
          </p:cNvPr>
          <p:cNvSpPr/>
          <p:nvPr/>
        </p:nvSpPr>
        <p:spPr>
          <a:xfrm rot="-10800000" flipV="1">
            <a:off x="457612" y="13283975"/>
            <a:ext cx="4628055" cy="379591"/>
          </a:xfrm>
          <a:prstGeom prst="rect">
            <a:avLst/>
          </a:prstGeom>
          <a:solidFill>
            <a:srgbClr val="5C2A7A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/>
            <a:r>
              <a:rPr lang="en-GB" sz="1800">
                <a:solidFill>
                  <a:srgbClr val="9E79A6"/>
                </a:solidFill>
                <a:latin typeface="Helvetica Neue"/>
              </a:rPr>
              <a:t>KR and MA</a:t>
            </a:r>
            <a:endParaRPr lang="en-US" sz="180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E64342D-F23F-D294-E0BF-76DB073DB7A2}"/>
              </a:ext>
            </a:extLst>
          </p:cNvPr>
          <p:cNvSpPr/>
          <p:nvPr/>
        </p:nvSpPr>
        <p:spPr>
          <a:xfrm rot="-10800000" flipV="1">
            <a:off x="19138012" y="13283101"/>
            <a:ext cx="4628055" cy="379591"/>
          </a:xfrm>
          <a:prstGeom prst="rect">
            <a:avLst/>
          </a:prstGeom>
          <a:solidFill>
            <a:srgbClr val="5C2A7A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/>
            <a:r>
              <a:rPr lang="en-GB" sz="1800">
                <a:solidFill>
                  <a:srgbClr val="9E79A6"/>
                </a:solidFill>
                <a:latin typeface="Helvetica Neue"/>
              </a:rPr>
              <a:t>22/10/2025</a:t>
            </a:r>
            <a:endParaRPr lang="en-US" sz="1800"/>
          </a:p>
        </p:txBody>
      </p:sp>
      <p:sp>
        <p:nvSpPr>
          <p:cNvPr id="65" name="Slide Number">
            <a:extLst>
              <a:ext uri="{FF2B5EF4-FFF2-40B4-BE49-F238E27FC236}">
                <a16:creationId xmlns:a16="http://schemas.microsoft.com/office/drawing/2014/main" id="{3A530B0C-0DF4-6EBB-B7F7-92464D70DE84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23805849" y="13272486"/>
            <a:ext cx="230832" cy="379591"/>
          </a:xfrm>
          <a:prstGeom prst="rect">
            <a:avLst/>
          </a:prstGeom>
        </p:spPr>
        <p:txBody>
          <a:bodyPr/>
          <a:lstStyle/>
          <a:p>
            <a:r>
              <a:rPr lang="en-GB"/>
              <a:t>3</a:t>
            </a: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2B0FEFB-7CC7-2B20-F66E-1B209E457AB4}"/>
                  </a:ext>
                </a:extLst>
              </p:cNvPr>
              <p:cNvSpPr txBox="1"/>
              <p:nvPr/>
            </p:nvSpPr>
            <p:spPr>
              <a:xfrm>
                <a:off x="391666" y="1619779"/>
                <a:ext cx="23276717" cy="206210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 algn="l"/>
                <a:r>
                  <a:rPr lang="en-GB" sz="3200">
                    <a:solidFill>
                      <a:schemeClr val="bg2">
                        <a:lumMod val="10000"/>
                      </a:schemeClr>
                    </a:solidFill>
                  </a:rPr>
                  <a:t>A fluid enters an empty unpacked pipe at a constant velocity of 2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sz="320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32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3200" b="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p>
                        <m:r>
                          <a:rPr lang="en-US" sz="320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32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GB" sz="3200">
                    <a:solidFill>
                      <a:schemeClr val="bg2">
                        <a:lumMod val="10000"/>
                      </a:schemeClr>
                    </a:solidFill>
                  </a:rPr>
                  <a:t>​. </a:t>
                </a:r>
                <a:r>
                  <a:rPr lang="en-US" sz="3200">
                    <a:solidFill>
                      <a:schemeClr val="bg2">
                        <a:lumMod val="10000"/>
                      </a:schemeClr>
                    </a:solidFill>
                  </a:rPr>
                  <a:t>The pipe length is 30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dirty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lang="en-US" sz="3200">
                    <a:solidFill>
                      <a:schemeClr val="bg2">
                        <a:lumMod val="10000"/>
                      </a:schemeClr>
                    </a:solidFill>
                  </a:rPr>
                  <a:t>. The solute is transported solely by advection (no diffusion or reaction). The inlet solute concentration increases linearly for t</a:t>
                </a:r>
                <a:r>
                  <a:rPr lang="en-GB" sz="3200">
                    <a:solidFill>
                      <a:schemeClr val="bg2">
                        <a:lumMod val="10000"/>
                      </a:schemeClr>
                    </a:solidFill>
                  </a:rPr>
                  <a:t>he first 5 seconds at a rate</a:t>
                </a:r>
              </a:p>
              <a:p>
                <a:pPr algn="l"/>
                <a14:m>
                  <m:oMath xmlns:m="http://schemas.openxmlformats.org/officeDocument/2006/math">
                    <m:r>
                      <a:rPr lang="en-US" sz="3200" b="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2 </m:t>
                    </m:r>
                    <m:r>
                      <m:rPr>
                        <m:sty m:val="p"/>
                      </m:rPr>
                      <a:rPr lang="en-US" sz="3200" b="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mol</m:t>
                    </m:r>
                    <m:r>
                      <a:rPr lang="en-US" sz="3200" b="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32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3200" b="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p>
                        <m:r>
                          <a:rPr lang="en-US" sz="3200" b="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−3</m:t>
                        </m:r>
                      </m:sup>
                    </m:sSup>
                    <m:r>
                      <a:rPr lang="en-US" sz="3200" b="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32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3200" b="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p>
                        <m:r>
                          <a:rPr lang="en-US" sz="3200" b="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3200" b="0">
                    <a:solidFill>
                      <a:schemeClr val="bg2">
                        <a:lumMod val="10000"/>
                      </a:schemeClr>
                    </a:solidFill>
                  </a:rPr>
                  <a:t>; after 5 seconds it remains constant.</a:t>
                </a:r>
              </a:p>
              <a:p>
                <a:pPr algn="l"/>
                <a:r>
                  <a:rPr lang="en-GB" sz="3200">
                    <a:solidFill>
                      <a:schemeClr val="tx1">
                        <a:lumMod val="50000"/>
                      </a:schemeClr>
                    </a:solidFill>
                  </a:rPr>
                  <a:t>Obtain the concentration distribution over time. 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2B0FEFB-7CC7-2B20-F66E-1B209E457A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666" y="1619779"/>
                <a:ext cx="23276717" cy="2062103"/>
              </a:xfrm>
              <a:prstGeom prst="rect">
                <a:avLst/>
              </a:prstGeom>
              <a:blipFill>
                <a:blip r:embed="rId21"/>
                <a:stretch>
                  <a:fillRect l="-655" t="-3846" r="-759" b="-8876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3496B3E-277D-712A-D36A-AAC620C67F16}"/>
                  </a:ext>
                </a:extLst>
              </p:cNvPr>
              <p:cNvSpPr txBox="1"/>
              <p:nvPr/>
            </p:nvSpPr>
            <p:spPr>
              <a:xfrm>
                <a:off x="4123297" y="5121056"/>
                <a:ext cx="2137059" cy="43088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GB" sz="2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𝑢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0" lang="en-GB" sz="2800" b="0" i="0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in</m:t>
                          </m:r>
                        </m:sub>
                      </m:sSub>
                      <m:r>
                        <a:rPr kumimoji="0" lang="en-GB" sz="2800" b="0" i="0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=2</m:t>
                      </m:r>
                      <m:r>
                        <m:rPr>
                          <m:sty m:val="p"/>
                        </m:rPr>
                        <a:rPr lang="en-US" sz="28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US" sz="280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p>
                          <m:r>
                            <a:rPr lang="en-US" sz="280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i="1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kumimoji="0" lang="en-GB" sz="2800" b="0" i="0" u="none" strike="noStrike" cap="none" spc="0" normalizeH="0" baseline="0">
                  <a:ln>
                    <a:noFill/>
                  </a:ln>
                  <a:solidFill>
                    <a:schemeClr val="tx1">
                      <a:lumMod val="50000"/>
                    </a:schemeClr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3496B3E-277D-712A-D36A-AAC620C67F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3297" y="5121056"/>
                <a:ext cx="2137059" cy="430887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68199E8-F854-9658-1175-2686B56995E7}"/>
                  </a:ext>
                </a:extLst>
              </p:cNvPr>
              <p:cNvSpPr txBox="1"/>
              <p:nvPr/>
            </p:nvSpPr>
            <p:spPr>
              <a:xfrm>
                <a:off x="3924011" y="5710579"/>
                <a:ext cx="2622055" cy="46166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GB" sz="24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GB" sz="24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𝑐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0" lang="en-GB" sz="2400" b="0" i="0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in</m:t>
                          </m:r>
                        </m:sub>
                      </m:sSub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68199E8-F854-9658-1175-2686B56995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4011" y="5710579"/>
                <a:ext cx="2622055" cy="461665"/>
              </a:xfrm>
              <a:prstGeom prst="rect">
                <a:avLst/>
              </a:prstGeom>
              <a:blipFill>
                <a:blip r:embed="rId23"/>
                <a:stretch>
                  <a:fillRect b="-394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8245126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5499E-B908-F654-E6A9-D5FD60CF8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Box 58">
            <a:extLst>
              <a:ext uri="{FF2B5EF4-FFF2-40B4-BE49-F238E27FC236}">
                <a16:creationId xmlns:a16="http://schemas.microsoft.com/office/drawing/2014/main" id="{F25393BC-2D3B-365D-3896-8A8DF2A4E408}"/>
              </a:ext>
            </a:extLst>
          </p:cNvPr>
          <p:cNvSpPr txBox="1"/>
          <p:nvPr/>
        </p:nvSpPr>
        <p:spPr>
          <a:xfrm>
            <a:off x="13470495" y="7966282"/>
            <a:ext cx="2406686" cy="1056775"/>
          </a:xfrm>
          <a:prstGeom prst="rect">
            <a:avLst/>
          </a:prstGeom>
          <a:solidFill>
            <a:srgbClr val="00B0F0">
              <a:alpha val="32157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D02C0DD-3182-E38E-81F8-3C70090E1810}"/>
              </a:ext>
            </a:extLst>
          </p:cNvPr>
          <p:cNvSpPr txBox="1"/>
          <p:nvPr/>
        </p:nvSpPr>
        <p:spPr>
          <a:xfrm>
            <a:off x="11549348" y="7966282"/>
            <a:ext cx="1638513" cy="1056775"/>
          </a:xfrm>
          <a:prstGeom prst="rect">
            <a:avLst/>
          </a:prstGeom>
          <a:solidFill>
            <a:schemeClr val="accent3">
              <a:lumMod val="60000"/>
              <a:lumOff val="40000"/>
              <a:alpha val="32157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E2712F0-3560-ABEA-28DA-B05D522D8344}"/>
              </a:ext>
            </a:extLst>
          </p:cNvPr>
          <p:cNvSpPr txBox="1"/>
          <p:nvPr/>
        </p:nvSpPr>
        <p:spPr>
          <a:xfrm>
            <a:off x="7529849" y="7966282"/>
            <a:ext cx="3622473" cy="1056775"/>
          </a:xfrm>
          <a:prstGeom prst="rect">
            <a:avLst/>
          </a:prstGeom>
          <a:solidFill>
            <a:schemeClr val="accent5">
              <a:lumMod val="75000"/>
              <a:alpha val="32157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8DD92C0-DF63-F46F-D14E-A94A8B909D4E}"/>
              </a:ext>
            </a:extLst>
          </p:cNvPr>
          <p:cNvSpPr/>
          <p:nvPr/>
        </p:nvSpPr>
        <p:spPr>
          <a:xfrm>
            <a:off x="3888795" y="246197"/>
            <a:ext cx="7263527" cy="923330"/>
          </a:xfrm>
          <a:prstGeom prst="rect">
            <a:avLst/>
          </a:prstGeom>
        </p:spPr>
        <p:txBody>
          <a:bodyPr wrap="none">
            <a:spAutoFit/>
          </a:bodyPr>
          <a:lstStyle>
            <a:defPPr marL="0" marR="0" indent="0" algn="l" defTabSz="18288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1pPr>
            <a:lvl2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2pPr>
            <a:lvl3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3pPr>
            <a:lvl4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4pPr>
            <a:lvl5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5pPr>
            <a:lvl6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6pPr>
            <a:lvl7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7pPr>
            <a:lvl8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8pPr>
            <a:lvl9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9pPr>
          </a:lstStyle>
          <a:p>
            <a:r>
              <a:rPr lang="en-US" sz="5400" b="1">
                <a:solidFill>
                  <a:srgbClr val="EAEAEA"/>
                </a:solidFill>
              </a:rPr>
              <a:t>Deriving the equation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E2A4E24-96FF-37F0-31BB-8EDED1753CD9}"/>
              </a:ext>
            </a:extLst>
          </p:cNvPr>
          <p:cNvSpPr/>
          <p:nvPr/>
        </p:nvSpPr>
        <p:spPr>
          <a:xfrm>
            <a:off x="6494858" y="4584298"/>
            <a:ext cx="11931295" cy="2737681"/>
          </a:xfrm>
          <a:prstGeom prst="rect">
            <a:avLst/>
          </a:prstGeom>
          <a:noFill/>
          <a:ln w="57150" cap="flat">
            <a:solidFill>
              <a:schemeClr val="bg2">
                <a:lumMod val="1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5AFA9FF-EC3C-4666-BF05-5A04EE4F8555}"/>
              </a:ext>
            </a:extLst>
          </p:cNvPr>
          <p:cNvCxnSpPr>
            <a:cxnSpLocks/>
          </p:cNvCxnSpPr>
          <p:nvPr/>
        </p:nvCxnSpPr>
        <p:spPr>
          <a:xfrm>
            <a:off x="4032211" y="6330881"/>
            <a:ext cx="2405656" cy="0"/>
          </a:xfrm>
          <a:prstGeom prst="straightConnector1">
            <a:avLst/>
          </a:prstGeom>
          <a:noFill/>
          <a:ln w="5715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ACD52B1-8B0D-688F-DC36-6D24B461120C}"/>
              </a:ext>
            </a:extLst>
          </p:cNvPr>
          <p:cNvCxnSpPr>
            <a:cxnSpLocks/>
          </p:cNvCxnSpPr>
          <p:nvPr/>
        </p:nvCxnSpPr>
        <p:spPr>
          <a:xfrm>
            <a:off x="18426153" y="6319714"/>
            <a:ext cx="2405656" cy="0"/>
          </a:xfrm>
          <a:prstGeom prst="straightConnector1">
            <a:avLst/>
          </a:prstGeom>
          <a:noFill/>
          <a:ln w="5715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26507D5A-FC6B-5A11-E0CB-40EB216CB0FC}"/>
              </a:ext>
            </a:extLst>
          </p:cNvPr>
          <p:cNvCxnSpPr>
            <a:cxnSpLocks/>
          </p:cNvCxnSpPr>
          <p:nvPr/>
        </p:nvCxnSpPr>
        <p:spPr>
          <a:xfrm>
            <a:off x="6510850" y="4334406"/>
            <a:ext cx="1191530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F68B4089-1E11-0694-6988-842D2246AA63}"/>
                  </a:ext>
                </a:extLst>
              </p:cNvPr>
              <p:cNvSpPr txBox="1"/>
              <p:nvPr/>
            </p:nvSpPr>
            <p:spPr>
              <a:xfrm>
                <a:off x="11704116" y="3740986"/>
                <a:ext cx="1548373" cy="43088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GB" sz="2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𝐿</m:t>
                      </m:r>
                      <m:r>
                        <a:rPr kumimoji="0" lang="en-GB" sz="2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=30 </m:t>
                      </m:r>
                      <m:r>
                        <a:rPr kumimoji="0" lang="en-GB" sz="2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𝑚</m:t>
                      </m:r>
                    </m:oMath>
                  </m:oMathPara>
                </a14:m>
                <a:endParaRPr kumimoji="0" lang="en-GB" sz="2800" b="0" i="0" u="none" strike="noStrike" cap="none" spc="0" normalizeH="0" baseline="0">
                  <a:ln>
                    <a:noFill/>
                  </a:ln>
                  <a:solidFill>
                    <a:schemeClr val="tx1">
                      <a:lumMod val="50000"/>
                    </a:schemeClr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F68B4089-1E11-0694-6988-842D2246AA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04116" y="3740986"/>
                <a:ext cx="1548373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96F75C28-A76F-61D1-0715-16E0B90065D1}"/>
              </a:ext>
            </a:extLst>
          </p:cNvPr>
          <p:cNvSpPr/>
          <p:nvPr/>
        </p:nvSpPr>
        <p:spPr>
          <a:xfrm>
            <a:off x="11549348" y="4584298"/>
            <a:ext cx="1843379" cy="273768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57150" cap="flat">
            <a:solidFill>
              <a:schemeClr val="tx1"/>
            </a:solidFill>
            <a:prstDash val="sysDot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22" name="Picture 21" descr="\documentclass{article}&#10;\usepackage{amsmath}&#10;\pagestyle{empty}&#10;\begin{document}&#10;\begin{equation}&#10;x+\Delta x&#10;\nonumber&#10;\end{equation}&#10;&#10;\end{document}" title="IguanaTex Bitmap Display">
            <a:extLst>
              <a:ext uri="{FF2B5EF4-FFF2-40B4-BE49-F238E27FC236}">
                <a16:creationId xmlns:a16="http://schemas.microsoft.com/office/drawing/2014/main" id="{7D2C2C56-3695-AC62-ABF4-B82C26BA263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2060" y="7512038"/>
            <a:ext cx="1188571" cy="304000"/>
          </a:xfrm>
          <a:prstGeom prst="rect">
            <a:avLst/>
          </a:prstGeom>
        </p:spPr>
      </p:pic>
      <p:pic>
        <p:nvPicPr>
          <p:cNvPr id="12" name="Picture 11" descr="\documentclass{article}&#10;\usepackage{amsmath}&#10;\pagestyle{empty}&#10;\begin{document}&#10;\begin{equation}&#10;x&#10;\nonumber&#10;\end{equation}&#10;&#10;\end{document}" title="IguanaTex Bitmap Display">
            <a:extLst>
              <a:ext uri="{FF2B5EF4-FFF2-40B4-BE49-F238E27FC236}">
                <a16:creationId xmlns:a16="http://schemas.microsoft.com/office/drawing/2014/main" id="{6CD52A88-0EAA-D41E-3F83-72D67AA66E3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8833" y="7557327"/>
            <a:ext cx="192000" cy="171429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6B33FA7-F803-3FAB-AE14-D3340F954916}"/>
              </a:ext>
            </a:extLst>
          </p:cNvPr>
          <p:cNvCxnSpPr/>
          <p:nvPr/>
        </p:nvCxnSpPr>
        <p:spPr>
          <a:xfrm>
            <a:off x="5219168" y="8494669"/>
            <a:ext cx="1563486" cy="0"/>
          </a:xfrm>
          <a:prstGeom prst="straightConnector1">
            <a:avLst/>
          </a:prstGeom>
          <a:noFill/>
          <a:ln w="28575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17" name="Picture 16" descr="\documentclass{article}&#10;\usepackage{amsmath}&#10;\pagestyle{empty}&#10;\begin{document}&#10;\begin{equation}&#10; A \Delta x c \Big|_{t + \Delta t} -  A \Delta x  c \Big|_t=A v c \Big|_{x} \Delta t-A v c \Big|_{x + \Delta x} \Delta t&#10;\nonumber&#10;\end{equation}&#10;&#10;\end{document}" title="IguanaTex Bitmap Display">
            <a:extLst>
              <a:ext uri="{FF2B5EF4-FFF2-40B4-BE49-F238E27FC236}">
                <a16:creationId xmlns:a16="http://schemas.microsoft.com/office/drawing/2014/main" id="{193B5F3E-13BD-1F4A-3941-67DEB73BA303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5119" y="8123241"/>
            <a:ext cx="7979428" cy="742857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1FC24F97-ACAF-2014-3A10-66A3B8CD27BF}"/>
              </a:ext>
            </a:extLst>
          </p:cNvPr>
          <p:cNvSpPr txBox="1"/>
          <p:nvPr/>
        </p:nvSpPr>
        <p:spPr>
          <a:xfrm flipH="1">
            <a:off x="11553266" y="6094919"/>
            <a:ext cx="1717268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CV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FFD5A1-8323-0919-18E1-3519EF14518A}"/>
              </a:ext>
            </a:extLst>
          </p:cNvPr>
          <p:cNvSpPr txBox="1"/>
          <p:nvPr/>
        </p:nvSpPr>
        <p:spPr>
          <a:xfrm>
            <a:off x="355711" y="8099908"/>
            <a:ext cx="2595791" cy="617605"/>
          </a:xfrm>
          <a:prstGeom prst="rect">
            <a:avLst/>
          </a:prstGeom>
          <a:solidFill>
            <a:schemeClr val="accent5">
              <a:lumMod val="75000"/>
              <a:alpha val="32157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D585B6B-A64B-6E09-35B2-7930B365AD59}"/>
              </a:ext>
            </a:extLst>
          </p:cNvPr>
          <p:cNvSpPr txBox="1"/>
          <p:nvPr/>
        </p:nvSpPr>
        <p:spPr>
          <a:xfrm>
            <a:off x="3234136" y="8136928"/>
            <a:ext cx="361484" cy="580585"/>
          </a:xfrm>
          <a:prstGeom prst="rect">
            <a:avLst/>
          </a:prstGeom>
          <a:solidFill>
            <a:schemeClr val="accent3">
              <a:lumMod val="60000"/>
              <a:lumOff val="40000"/>
              <a:alpha val="32157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5329E39-A718-91AA-93EE-141461969B05}"/>
              </a:ext>
            </a:extLst>
          </p:cNvPr>
          <p:cNvSpPr txBox="1"/>
          <p:nvPr/>
        </p:nvSpPr>
        <p:spPr>
          <a:xfrm>
            <a:off x="3888795" y="8122621"/>
            <a:ext cx="786330" cy="583608"/>
          </a:xfrm>
          <a:prstGeom prst="rect">
            <a:avLst/>
          </a:prstGeom>
          <a:solidFill>
            <a:srgbClr val="00B0F0">
              <a:alpha val="32157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8119D967-7FE7-45FE-EFB8-588ABEE3E67A}"/>
              </a:ext>
            </a:extLst>
          </p:cNvPr>
          <p:cNvCxnSpPr>
            <a:cxnSpLocks/>
          </p:cNvCxnSpPr>
          <p:nvPr/>
        </p:nvCxnSpPr>
        <p:spPr>
          <a:xfrm>
            <a:off x="9143692" y="6319714"/>
            <a:ext cx="2405656" cy="0"/>
          </a:xfrm>
          <a:prstGeom prst="straightConnector1">
            <a:avLst/>
          </a:prstGeom>
          <a:noFill/>
          <a:ln w="57150" cap="flat">
            <a:solidFill>
              <a:srgbClr val="92D05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6A6D8354-09DE-007C-DE5E-1AF8219B501E}"/>
              </a:ext>
            </a:extLst>
          </p:cNvPr>
          <p:cNvCxnSpPr>
            <a:cxnSpLocks/>
          </p:cNvCxnSpPr>
          <p:nvPr/>
        </p:nvCxnSpPr>
        <p:spPr>
          <a:xfrm>
            <a:off x="13392727" y="6319714"/>
            <a:ext cx="2405656" cy="0"/>
          </a:xfrm>
          <a:prstGeom prst="straightConnector1">
            <a:avLst/>
          </a:prstGeom>
          <a:noFill/>
          <a:ln w="57150" cap="flat">
            <a:solidFill>
              <a:srgbClr val="00B0F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FC9A0868-7E4E-7D68-672B-25C903947327}"/>
              </a:ext>
            </a:extLst>
          </p:cNvPr>
          <p:cNvSpPr/>
          <p:nvPr/>
        </p:nvSpPr>
        <p:spPr>
          <a:xfrm rot="-10800000" flipV="1">
            <a:off x="9853404" y="13283356"/>
            <a:ext cx="4628055" cy="379591"/>
          </a:xfrm>
          <a:prstGeom prst="rect">
            <a:avLst/>
          </a:prstGeom>
          <a:solidFill>
            <a:srgbClr val="8B79A6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n-US" sz="1800"/>
              <a:t>Workshop on Numerical Simulation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497D0F46-3363-DC12-43F2-D87A33154978}"/>
                  </a:ext>
                </a:extLst>
              </p:cNvPr>
              <p:cNvSpPr txBox="1"/>
              <p:nvPr/>
            </p:nvSpPr>
            <p:spPr>
              <a:xfrm>
                <a:off x="18757813" y="5336500"/>
                <a:ext cx="685610" cy="43088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GB" sz="2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highlight>
                                <a:srgbClr val="FFFF00"/>
                              </a:highlight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GB" sz="2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highlight>
                                <a:srgbClr val="FFFF00"/>
                              </a:highlight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𝑐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0" lang="en-GB" sz="2800" b="0" i="0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highlight>
                                <a:srgbClr val="FFFF00"/>
                              </a:highlight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out</m:t>
                          </m:r>
                        </m:sub>
                      </m:sSub>
                    </m:oMath>
                  </m:oMathPara>
                </a14:m>
                <a:endParaRPr kumimoji="0" lang="en-GB" sz="2800" b="0" i="0" u="none" strike="noStrike" cap="none" spc="0" normalizeH="0" baseline="0">
                  <a:ln>
                    <a:noFill/>
                  </a:ln>
                  <a:solidFill>
                    <a:schemeClr val="tx1">
                      <a:lumMod val="50000"/>
                    </a:schemeClr>
                  </a:solidFill>
                  <a:effectLst/>
                  <a:highlight>
                    <a:srgbClr val="FFFF00"/>
                  </a:highlight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497D0F46-3363-DC12-43F2-D87A331549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57813" y="5336500"/>
                <a:ext cx="685610" cy="43088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E00C40DD-D012-3EB9-58BA-91739ACF4487}"/>
              </a:ext>
            </a:extLst>
          </p:cNvPr>
          <p:cNvSpPr txBox="1"/>
          <p:nvPr/>
        </p:nvSpPr>
        <p:spPr>
          <a:xfrm>
            <a:off x="105225" y="8111193"/>
            <a:ext cx="4831309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sym typeface="Helvetica Neue"/>
              </a:rPr>
              <a:t>Accumulation=</a:t>
            </a:r>
            <a:r>
              <a:rPr lang="en-US" sz="3200"/>
              <a:t> In - Out</a:t>
            </a: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sym typeface="Helvetica Neue"/>
            </a:endParaRPr>
          </a:p>
        </p:txBody>
      </p:sp>
      <p:pic>
        <p:nvPicPr>
          <p:cNvPr id="5" name="Picture 4" descr="\documentclass{article}&#10;\usepackage{amsmath}&#10;\pagestyle{empty}&#10;\begin{document}&#10;\begin{equation}&#10;\frac{ A \Delta x c_j \Big|_{t + \Delta t} - A \Delta x  c_j \Big|_t}{A \Delta x \Delta t}&#10;=\frac{A v c \Big|_x \Delta t - A v c \Big|_{x + \Delta x} \Delta t}{A \Delta x \Delta t} &#10;\nonumber&#10;\end{equation}&#10;&#10;\end{document}" title="IguanaTex Bitmap Display">
            <a:extLst>
              <a:ext uri="{FF2B5EF4-FFF2-40B4-BE49-F238E27FC236}">
                <a16:creationId xmlns:a16="http://schemas.microsoft.com/office/drawing/2014/main" id="{131A2D7F-EDDF-EF4E-1978-7442FED2CF35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1550" y="9849491"/>
            <a:ext cx="8413717" cy="115657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2CBDAEE1-832A-1C83-65D0-54F739312B7B}"/>
              </a:ext>
            </a:extLst>
          </p:cNvPr>
          <p:cNvSpPr txBox="1"/>
          <p:nvPr/>
        </p:nvSpPr>
        <p:spPr>
          <a:xfrm>
            <a:off x="-836323" y="10274843"/>
            <a:ext cx="6919961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Dividing the two sides by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083BFF3-0F5A-A0C7-1C91-B94533A74FF2}"/>
              </a:ext>
            </a:extLst>
          </p:cNvPr>
          <p:cNvCxnSpPr/>
          <p:nvPr/>
        </p:nvCxnSpPr>
        <p:spPr>
          <a:xfrm flipV="1">
            <a:off x="6421989" y="10572359"/>
            <a:ext cx="862977" cy="0"/>
          </a:xfrm>
          <a:prstGeom prst="straightConnector1">
            <a:avLst/>
          </a:prstGeom>
          <a:noFill/>
          <a:ln w="28575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36" name="Picture 35" descr="\documentclass{article}&#10;\usepackage{amsmath}&#10;\pagestyle{empty}&#10;\begin{document}&#10;\begin{equation}&#10;A\Delta x \Delta t&#10;\nonumber&#10;\end{equation}&#10;&#10;\end{document}" title="IguanaTex Bitmap Display">
            <a:extLst>
              <a:ext uri="{FF2B5EF4-FFF2-40B4-BE49-F238E27FC236}">
                <a16:creationId xmlns:a16="http://schemas.microsoft.com/office/drawing/2014/main" id="{12171A47-FEC7-A939-69EE-A12B5D6BDE43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8680" y="10434074"/>
            <a:ext cx="1245714" cy="276571"/>
          </a:xfrm>
          <a:prstGeom prst="rect">
            <a:avLst/>
          </a:prstGeom>
        </p:spPr>
      </p:pic>
      <p:pic>
        <p:nvPicPr>
          <p:cNvPr id="40" name="Picture 39" descr="\documentclass{article}&#10;\usepackage{amsmath}&#10;\pagestyle{empty}&#10;\begin{document}&#10;\begin{equation}&#10;\lim_{\Delta t \to 0, \Delta x \to 0} \left( \cdot \right)&#10;\nonumber&#10;\end{equation}&#10;&#10;\end{document}" title="IguanaTex Bitmap Display">
            <a:extLst>
              <a:ext uri="{FF2B5EF4-FFF2-40B4-BE49-F238E27FC236}">
                <a16:creationId xmlns:a16="http://schemas.microsoft.com/office/drawing/2014/main" id="{B328B482-4D5C-CEC2-3560-DDE7069E9ACD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3118" y="12012164"/>
            <a:ext cx="2192000" cy="582857"/>
          </a:xfrm>
          <a:prstGeom prst="rect">
            <a:avLst/>
          </a:prstGeom>
        </p:spPr>
      </p:pic>
      <p:pic>
        <p:nvPicPr>
          <p:cNvPr id="9" name="Picture 8" descr="\documentclass{article}&#10;\usepackage{amsmath}&#10;\pagestyle{empty}&#10;\begin{document}&#10;\begin{equation}&#10; \frac{\partial c}{\partial t}=-\frac{\partial v c}{\partial x}&#10;\nonumber&#10;\end{equation}&#10;&#10;\end{document}" title="IguanaTex Bitmap Display">
            <a:extLst>
              <a:ext uri="{FF2B5EF4-FFF2-40B4-BE49-F238E27FC236}">
                <a16:creationId xmlns:a16="http://schemas.microsoft.com/office/drawing/2014/main" id="{CE50677E-E871-B54A-697B-E97E5D1E3FED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1825" y="11818010"/>
            <a:ext cx="1865143" cy="797714"/>
          </a:xfrm>
          <a:prstGeom prst="rect">
            <a:avLst/>
          </a:prstGeom>
        </p:spPr>
      </p:pic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B933D17-8F62-4ABF-3A07-F3B922BAD567}"/>
              </a:ext>
            </a:extLst>
          </p:cNvPr>
          <p:cNvCxnSpPr/>
          <p:nvPr/>
        </p:nvCxnSpPr>
        <p:spPr>
          <a:xfrm flipV="1">
            <a:off x="6774112" y="12220255"/>
            <a:ext cx="1890291" cy="0"/>
          </a:xfrm>
          <a:prstGeom prst="straightConnector1">
            <a:avLst/>
          </a:prstGeom>
          <a:noFill/>
          <a:ln w="28575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7E042C24-8531-1E79-B650-7D52E4C37916}"/>
              </a:ext>
            </a:extLst>
          </p:cNvPr>
          <p:cNvSpPr txBox="1"/>
          <p:nvPr/>
        </p:nvSpPr>
        <p:spPr>
          <a:xfrm flipH="1">
            <a:off x="13974335" y="11550569"/>
            <a:ext cx="5833273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Constant velocity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84B883A-2A94-B446-69E0-70753E523753}"/>
              </a:ext>
            </a:extLst>
          </p:cNvPr>
          <p:cNvSpPr txBox="1"/>
          <p:nvPr/>
        </p:nvSpPr>
        <p:spPr>
          <a:xfrm>
            <a:off x="19878261" y="11748674"/>
            <a:ext cx="2206487" cy="1102984"/>
          </a:xfrm>
          <a:prstGeom prst="rect">
            <a:avLst/>
          </a:prstGeom>
          <a:noFill/>
          <a:ln w="57150" cap="flat">
            <a:solidFill>
              <a:srgbClr val="9E2D28"/>
            </a:solidFill>
            <a:prstDash val="sysDot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pic>
        <p:nvPicPr>
          <p:cNvPr id="50" name="Picture 49" descr="\documentclass{article}&#10;\usepackage{amsmath}&#10;\pagestyle{empty}&#10;\begin{document}&#10;\begin{equation}&#10;\frac{\partial c}{\partial t}=-v\frac{\partial c}{\partial x}&#10;\nonumber&#10;\end{equation}&#10;&#10;\end{document}" title="IguanaTex Bitmap Display">
            <a:extLst>
              <a:ext uri="{FF2B5EF4-FFF2-40B4-BE49-F238E27FC236}">
                <a16:creationId xmlns:a16="http://schemas.microsoft.com/office/drawing/2014/main" id="{A45C4142-835A-5210-98F0-BA0092FF96AE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19567" y="11928846"/>
            <a:ext cx="1915429" cy="797714"/>
          </a:xfrm>
          <a:prstGeom prst="rect">
            <a:avLst/>
          </a:prstGeom>
        </p:spPr>
      </p:pic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20967454-CF95-7BB8-BC49-F3B47892D7BD}"/>
              </a:ext>
            </a:extLst>
          </p:cNvPr>
          <p:cNvCxnSpPr/>
          <p:nvPr/>
        </p:nvCxnSpPr>
        <p:spPr>
          <a:xfrm>
            <a:off x="14186294" y="12203558"/>
            <a:ext cx="5442687" cy="13309"/>
          </a:xfrm>
          <a:prstGeom prst="straightConnector1">
            <a:avLst/>
          </a:prstGeom>
          <a:noFill/>
          <a:ln w="28575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4E2E6593-4F2D-A747-CA6C-F83575C258C1}"/>
              </a:ext>
            </a:extLst>
          </p:cNvPr>
          <p:cNvSpPr/>
          <p:nvPr/>
        </p:nvSpPr>
        <p:spPr>
          <a:xfrm rot="-10800000" flipV="1">
            <a:off x="457612" y="13283975"/>
            <a:ext cx="4628055" cy="379591"/>
          </a:xfrm>
          <a:prstGeom prst="rect">
            <a:avLst/>
          </a:prstGeom>
          <a:solidFill>
            <a:srgbClr val="5C2A7A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/>
            <a:r>
              <a:rPr lang="en-GB" sz="1800">
                <a:solidFill>
                  <a:srgbClr val="9E79A6"/>
                </a:solidFill>
                <a:latin typeface="Helvetica Neue"/>
              </a:rPr>
              <a:t>KR and MA</a:t>
            </a:r>
            <a:endParaRPr lang="en-US" sz="180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6564CE6-66C3-2978-D851-52C31A0D85A7}"/>
              </a:ext>
            </a:extLst>
          </p:cNvPr>
          <p:cNvSpPr/>
          <p:nvPr/>
        </p:nvSpPr>
        <p:spPr>
          <a:xfrm rot="-10800000" flipV="1">
            <a:off x="19138012" y="13283101"/>
            <a:ext cx="4628055" cy="379591"/>
          </a:xfrm>
          <a:prstGeom prst="rect">
            <a:avLst/>
          </a:prstGeom>
          <a:solidFill>
            <a:srgbClr val="5C2A7A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/>
            <a:r>
              <a:rPr lang="en-GB" sz="1800">
                <a:solidFill>
                  <a:srgbClr val="9E79A6"/>
                </a:solidFill>
                <a:latin typeface="Helvetica Neue"/>
              </a:rPr>
              <a:t>22/10/2025</a:t>
            </a:r>
            <a:endParaRPr lang="en-US" sz="1800"/>
          </a:p>
        </p:txBody>
      </p:sp>
      <p:sp>
        <p:nvSpPr>
          <p:cNvPr id="65" name="Slide Number">
            <a:extLst>
              <a:ext uri="{FF2B5EF4-FFF2-40B4-BE49-F238E27FC236}">
                <a16:creationId xmlns:a16="http://schemas.microsoft.com/office/drawing/2014/main" id="{7227CE89-2D9E-72F6-5E91-BFC821BC8419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23805849" y="13272486"/>
            <a:ext cx="230832" cy="379591"/>
          </a:xfrm>
          <a:prstGeom prst="rect">
            <a:avLst/>
          </a:prstGeom>
        </p:spPr>
        <p:txBody>
          <a:bodyPr/>
          <a:lstStyle/>
          <a:p>
            <a:r>
              <a:rPr lang="en-GB"/>
              <a:t>3</a:t>
            </a: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A35B7F7-7819-999C-A956-BAB1418E773F}"/>
                  </a:ext>
                </a:extLst>
              </p:cNvPr>
              <p:cNvSpPr txBox="1"/>
              <p:nvPr/>
            </p:nvSpPr>
            <p:spPr>
              <a:xfrm>
                <a:off x="391666" y="1619779"/>
                <a:ext cx="23276717" cy="206210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 algn="l"/>
                <a:r>
                  <a:rPr lang="en-GB" sz="3200">
                    <a:solidFill>
                      <a:schemeClr val="bg2">
                        <a:lumMod val="10000"/>
                      </a:schemeClr>
                    </a:solidFill>
                  </a:rPr>
                  <a:t>A fluid enters an empty unpacked pipe at a constant velocity of 2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sz="320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32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3200" b="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p>
                        <m:r>
                          <a:rPr lang="en-US" sz="320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32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GB" sz="3200">
                    <a:solidFill>
                      <a:schemeClr val="bg2">
                        <a:lumMod val="10000"/>
                      </a:schemeClr>
                    </a:solidFill>
                  </a:rPr>
                  <a:t>​. </a:t>
                </a:r>
                <a:r>
                  <a:rPr lang="en-US" sz="3200">
                    <a:solidFill>
                      <a:schemeClr val="bg2">
                        <a:lumMod val="10000"/>
                      </a:schemeClr>
                    </a:solidFill>
                  </a:rPr>
                  <a:t>The pipe length is 30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dirty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lang="en-US" sz="3200">
                    <a:solidFill>
                      <a:schemeClr val="bg2">
                        <a:lumMod val="10000"/>
                      </a:schemeClr>
                    </a:solidFill>
                  </a:rPr>
                  <a:t>. The solute is transported solely by advection (no diffusion or reaction). The inlet solute concentration increases linearly for t</a:t>
                </a:r>
                <a:r>
                  <a:rPr lang="en-GB" sz="3200">
                    <a:solidFill>
                      <a:schemeClr val="bg2">
                        <a:lumMod val="10000"/>
                      </a:schemeClr>
                    </a:solidFill>
                  </a:rPr>
                  <a:t>he first 5 seconds at a rate</a:t>
                </a:r>
              </a:p>
              <a:p>
                <a:pPr algn="l"/>
                <a14:m>
                  <m:oMath xmlns:m="http://schemas.openxmlformats.org/officeDocument/2006/math">
                    <m:r>
                      <a:rPr lang="en-US" sz="3200" b="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2 </m:t>
                    </m:r>
                    <m:r>
                      <m:rPr>
                        <m:sty m:val="p"/>
                      </m:rPr>
                      <a:rPr lang="en-US" sz="3200" b="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mol</m:t>
                    </m:r>
                    <m:r>
                      <a:rPr lang="en-US" sz="3200" b="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32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3200" b="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p>
                        <m:r>
                          <a:rPr lang="en-US" sz="3200" b="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−3</m:t>
                        </m:r>
                      </m:sup>
                    </m:sSup>
                    <m:r>
                      <a:rPr lang="en-US" sz="3200" b="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32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3200" b="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p>
                        <m:r>
                          <a:rPr lang="en-US" sz="3200" b="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3200" b="0">
                    <a:solidFill>
                      <a:schemeClr val="bg2">
                        <a:lumMod val="10000"/>
                      </a:schemeClr>
                    </a:solidFill>
                  </a:rPr>
                  <a:t>; after 5 seconds it remains constant.</a:t>
                </a:r>
              </a:p>
              <a:p>
                <a:pPr algn="l"/>
                <a:r>
                  <a:rPr lang="en-GB" sz="3200">
                    <a:solidFill>
                      <a:schemeClr val="tx1">
                        <a:lumMod val="50000"/>
                      </a:schemeClr>
                    </a:solidFill>
                  </a:rPr>
                  <a:t>Obtain the concentration distribution over time. 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A35B7F7-7819-999C-A956-BAB1418E77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666" y="1619779"/>
                <a:ext cx="23276717" cy="2062103"/>
              </a:xfrm>
              <a:prstGeom prst="rect">
                <a:avLst/>
              </a:prstGeom>
              <a:blipFill>
                <a:blip r:embed="rId21"/>
                <a:stretch>
                  <a:fillRect l="-655" t="-3846" r="-759" b="-8876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7F4F42A-AEE2-EEFC-B0F2-62437B10D409}"/>
                  </a:ext>
                </a:extLst>
              </p:cNvPr>
              <p:cNvSpPr txBox="1"/>
              <p:nvPr/>
            </p:nvSpPr>
            <p:spPr>
              <a:xfrm>
                <a:off x="4123297" y="5121056"/>
                <a:ext cx="2137059" cy="43088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GB" sz="2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𝑢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0" lang="en-GB" sz="2800" b="0" i="0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in</m:t>
                          </m:r>
                        </m:sub>
                      </m:sSub>
                      <m:r>
                        <a:rPr kumimoji="0" lang="en-GB" sz="2800" b="0" i="0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=2</m:t>
                      </m:r>
                      <m:r>
                        <m:rPr>
                          <m:sty m:val="p"/>
                        </m:rPr>
                        <a:rPr lang="en-US" sz="28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US" sz="280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p>
                          <m:r>
                            <a:rPr lang="en-US" sz="280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i="1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kumimoji="0" lang="en-GB" sz="2800" b="0" i="0" u="none" strike="noStrike" cap="none" spc="0" normalizeH="0" baseline="0">
                  <a:ln>
                    <a:noFill/>
                  </a:ln>
                  <a:solidFill>
                    <a:schemeClr val="tx1">
                      <a:lumMod val="50000"/>
                    </a:schemeClr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7F4F42A-AEE2-EEFC-B0F2-62437B10D4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3297" y="5121056"/>
                <a:ext cx="2137059" cy="430887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5A134E2-440A-4002-10E7-6D684188C88C}"/>
                  </a:ext>
                </a:extLst>
              </p:cNvPr>
              <p:cNvSpPr txBox="1"/>
              <p:nvPr/>
            </p:nvSpPr>
            <p:spPr>
              <a:xfrm>
                <a:off x="3924011" y="5710579"/>
                <a:ext cx="2622055" cy="46166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GB" sz="24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GB" sz="24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𝑐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0" lang="en-GB" sz="2400" b="0" i="0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in</m:t>
                          </m:r>
                        </m:sub>
                      </m:sSub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5A134E2-440A-4002-10E7-6D684188C8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4011" y="5710579"/>
                <a:ext cx="2622055" cy="461665"/>
              </a:xfrm>
              <a:prstGeom prst="rect">
                <a:avLst/>
              </a:prstGeom>
              <a:blipFill>
                <a:blip r:embed="rId23"/>
                <a:stretch>
                  <a:fillRect b="-394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4E146BD5-BC0D-FABC-B164-67C3A24A5AD6}"/>
              </a:ext>
            </a:extLst>
          </p:cNvPr>
          <p:cNvSpPr txBox="1"/>
          <p:nvPr/>
        </p:nvSpPr>
        <p:spPr>
          <a:xfrm>
            <a:off x="17578568" y="8337790"/>
            <a:ext cx="5833273" cy="1938992"/>
          </a:xfrm>
          <a:prstGeom prst="rect">
            <a:avLst/>
          </a:prstGeom>
          <a:ln w="38100">
            <a:solidFill>
              <a:srgbClr val="9E2D28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GB" sz="4000" b="1">
                <a:solidFill>
                  <a:schemeClr val="accent5">
                    <a:lumMod val="50000"/>
                  </a:schemeClr>
                </a:solidFill>
                <a:effectLst/>
              </a:rPr>
              <a:t>What do you need to solve the partial differential equation?</a:t>
            </a:r>
            <a:endParaRPr lang="en-GB" sz="400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8777483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F9881-6CF5-F1FD-545C-11C83F55C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D628B8E3-082E-4C2F-2CFF-ABA7069958CA}"/>
              </a:ext>
            </a:extLst>
          </p:cNvPr>
          <p:cNvSpPr/>
          <p:nvPr/>
        </p:nvSpPr>
        <p:spPr>
          <a:xfrm>
            <a:off x="3888795" y="246197"/>
            <a:ext cx="7263527" cy="923330"/>
          </a:xfrm>
          <a:prstGeom prst="rect">
            <a:avLst/>
          </a:prstGeom>
        </p:spPr>
        <p:txBody>
          <a:bodyPr wrap="none">
            <a:spAutoFit/>
          </a:bodyPr>
          <a:lstStyle>
            <a:defPPr marL="0" marR="0" indent="0" algn="l" defTabSz="18288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1pPr>
            <a:lvl2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2pPr>
            <a:lvl3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3pPr>
            <a:lvl4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4pPr>
            <a:lvl5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5pPr>
            <a:lvl6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6pPr>
            <a:lvl7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7pPr>
            <a:lvl8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8pPr>
            <a:lvl9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9pPr>
          </a:lstStyle>
          <a:p>
            <a:r>
              <a:rPr lang="en-US" sz="5400" b="1">
                <a:solidFill>
                  <a:srgbClr val="EAEAEA"/>
                </a:solidFill>
              </a:rPr>
              <a:t>Deriving the equation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23B7F04-E6B9-3EED-BE95-B7BA09186646}"/>
              </a:ext>
            </a:extLst>
          </p:cNvPr>
          <p:cNvSpPr/>
          <p:nvPr/>
        </p:nvSpPr>
        <p:spPr>
          <a:xfrm>
            <a:off x="6494858" y="4584298"/>
            <a:ext cx="11931295" cy="2737681"/>
          </a:xfrm>
          <a:prstGeom prst="rect">
            <a:avLst/>
          </a:prstGeom>
          <a:noFill/>
          <a:ln w="57150" cap="flat">
            <a:solidFill>
              <a:schemeClr val="bg2">
                <a:lumMod val="1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130A924-3364-9EB1-93D8-9B386CD2A264}"/>
              </a:ext>
            </a:extLst>
          </p:cNvPr>
          <p:cNvCxnSpPr>
            <a:cxnSpLocks/>
          </p:cNvCxnSpPr>
          <p:nvPr/>
        </p:nvCxnSpPr>
        <p:spPr>
          <a:xfrm>
            <a:off x="4032211" y="6330881"/>
            <a:ext cx="2405656" cy="0"/>
          </a:xfrm>
          <a:prstGeom prst="straightConnector1">
            <a:avLst/>
          </a:prstGeom>
          <a:noFill/>
          <a:ln w="5715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D9AC20E-52A2-2C9C-EE66-8F53F484C932}"/>
              </a:ext>
            </a:extLst>
          </p:cNvPr>
          <p:cNvCxnSpPr>
            <a:cxnSpLocks/>
          </p:cNvCxnSpPr>
          <p:nvPr/>
        </p:nvCxnSpPr>
        <p:spPr>
          <a:xfrm>
            <a:off x="18426153" y="6319714"/>
            <a:ext cx="2405656" cy="0"/>
          </a:xfrm>
          <a:prstGeom prst="straightConnector1">
            <a:avLst/>
          </a:prstGeom>
          <a:noFill/>
          <a:ln w="5715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56AD773-0002-11BA-C03C-0C614A2C03A1}"/>
              </a:ext>
            </a:extLst>
          </p:cNvPr>
          <p:cNvCxnSpPr>
            <a:cxnSpLocks/>
          </p:cNvCxnSpPr>
          <p:nvPr/>
        </p:nvCxnSpPr>
        <p:spPr>
          <a:xfrm>
            <a:off x="6510850" y="4334406"/>
            <a:ext cx="1191530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75774F1E-9C97-6BFD-8016-93740C5E7C6E}"/>
                  </a:ext>
                </a:extLst>
              </p:cNvPr>
              <p:cNvSpPr txBox="1"/>
              <p:nvPr/>
            </p:nvSpPr>
            <p:spPr>
              <a:xfrm>
                <a:off x="11704116" y="3740986"/>
                <a:ext cx="1548373" cy="43088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GB" sz="2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𝐿</m:t>
                      </m:r>
                      <m:r>
                        <a:rPr kumimoji="0" lang="en-GB" sz="2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=30 </m:t>
                      </m:r>
                      <m:r>
                        <a:rPr kumimoji="0" lang="en-GB" sz="2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𝑚</m:t>
                      </m:r>
                    </m:oMath>
                  </m:oMathPara>
                </a14:m>
                <a:endParaRPr kumimoji="0" lang="en-GB" sz="2800" b="0" i="0" u="none" strike="noStrike" cap="none" spc="0" normalizeH="0" baseline="0">
                  <a:ln>
                    <a:noFill/>
                  </a:ln>
                  <a:solidFill>
                    <a:schemeClr val="tx1">
                      <a:lumMod val="50000"/>
                    </a:schemeClr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75774F1E-9C97-6BFD-8016-93740C5E7C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04116" y="3740986"/>
                <a:ext cx="1548373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CAB97A2D-81F9-801B-1ABB-55EFF10C12F6}"/>
              </a:ext>
            </a:extLst>
          </p:cNvPr>
          <p:cNvSpPr/>
          <p:nvPr/>
        </p:nvSpPr>
        <p:spPr>
          <a:xfrm>
            <a:off x="11549348" y="4584298"/>
            <a:ext cx="1843379" cy="273768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57150" cap="flat">
            <a:solidFill>
              <a:schemeClr val="tx1"/>
            </a:solidFill>
            <a:prstDash val="sysDot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22" name="Picture 21" descr="\documentclass{article}&#10;\usepackage{amsmath}&#10;\pagestyle{empty}&#10;\begin{document}&#10;\begin{equation}&#10;x+\Delta x&#10;\nonumber&#10;\end{equation}&#10;&#10;\end{document}" title="IguanaTex Bitmap Display">
            <a:extLst>
              <a:ext uri="{FF2B5EF4-FFF2-40B4-BE49-F238E27FC236}">
                <a16:creationId xmlns:a16="http://schemas.microsoft.com/office/drawing/2014/main" id="{1E69CB0A-DF7E-9FDA-E3C0-D32CE10C506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2060" y="7512038"/>
            <a:ext cx="1188571" cy="304000"/>
          </a:xfrm>
          <a:prstGeom prst="rect">
            <a:avLst/>
          </a:prstGeom>
        </p:spPr>
      </p:pic>
      <p:pic>
        <p:nvPicPr>
          <p:cNvPr id="12" name="Picture 11" descr="\documentclass{article}&#10;\usepackage{amsmath}&#10;\pagestyle{empty}&#10;\begin{document}&#10;\begin{equation}&#10;x&#10;\nonumber&#10;\end{equation}&#10;&#10;\end{document}" title="IguanaTex Bitmap Display">
            <a:extLst>
              <a:ext uri="{FF2B5EF4-FFF2-40B4-BE49-F238E27FC236}">
                <a16:creationId xmlns:a16="http://schemas.microsoft.com/office/drawing/2014/main" id="{17E30C0A-1C14-CE46-C4ED-7DC5EADACE3E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8833" y="7557327"/>
            <a:ext cx="192000" cy="171429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CCDF3C21-4E5F-FB1B-A377-D0362F75C221}"/>
              </a:ext>
            </a:extLst>
          </p:cNvPr>
          <p:cNvSpPr txBox="1"/>
          <p:nvPr/>
        </p:nvSpPr>
        <p:spPr>
          <a:xfrm flipH="1">
            <a:off x="11553266" y="6094919"/>
            <a:ext cx="1717268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CV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88927634-AD3D-8CEB-EEDA-1B03B56FAD70}"/>
              </a:ext>
            </a:extLst>
          </p:cNvPr>
          <p:cNvCxnSpPr>
            <a:cxnSpLocks/>
          </p:cNvCxnSpPr>
          <p:nvPr/>
        </p:nvCxnSpPr>
        <p:spPr>
          <a:xfrm>
            <a:off x="9143692" y="6319714"/>
            <a:ext cx="2405656" cy="0"/>
          </a:xfrm>
          <a:prstGeom prst="straightConnector1">
            <a:avLst/>
          </a:prstGeom>
          <a:noFill/>
          <a:ln w="57150" cap="flat">
            <a:solidFill>
              <a:srgbClr val="92D05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E102819B-1270-7785-2435-AA43679CF53D}"/>
              </a:ext>
            </a:extLst>
          </p:cNvPr>
          <p:cNvCxnSpPr>
            <a:cxnSpLocks/>
          </p:cNvCxnSpPr>
          <p:nvPr/>
        </p:nvCxnSpPr>
        <p:spPr>
          <a:xfrm>
            <a:off x="13392727" y="6319714"/>
            <a:ext cx="2405656" cy="0"/>
          </a:xfrm>
          <a:prstGeom prst="straightConnector1">
            <a:avLst/>
          </a:prstGeom>
          <a:noFill/>
          <a:ln w="57150" cap="flat">
            <a:solidFill>
              <a:srgbClr val="00B0F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B0178119-6DCA-4452-7E4C-AA8330B0D561}"/>
              </a:ext>
            </a:extLst>
          </p:cNvPr>
          <p:cNvSpPr/>
          <p:nvPr/>
        </p:nvSpPr>
        <p:spPr>
          <a:xfrm rot="-10800000" flipV="1">
            <a:off x="9853404" y="13283356"/>
            <a:ext cx="4628055" cy="379591"/>
          </a:xfrm>
          <a:prstGeom prst="rect">
            <a:avLst/>
          </a:prstGeom>
          <a:solidFill>
            <a:srgbClr val="8B79A6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n-US" sz="1800"/>
              <a:t>Workshop on Numerical Simulation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12D35706-1C04-04ED-31E0-EF93235ACF52}"/>
                  </a:ext>
                </a:extLst>
              </p:cNvPr>
              <p:cNvSpPr txBox="1"/>
              <p:nvPr/>
            </p:nvSpPr>
            <p:spPr>
              <a:xfrm>
                <a:off x="18757813" y="5336500"/>
                <a:ext cx="685610" cy="43088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GB" sz="2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highlight>
                                <a:srgbClr val="FFFF00"/>
                              </a:highlight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GB" sz="2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highlight>
                                <a:srgbClr val="FFFF00"/>
                              </a:highlight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𝑐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0" lang="en-GB" sz="2800" b="0" i="0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highlight>
                                <a:srgbClr val="FFFF00"/>
                              </a:highlight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out</m:t>
                          </m:r>
                        </m:sub>
                      </m:sSub>
                    </m:oMath>
                  </m:oMathPara>
                </a14:m>
                <a:endParaRPr kumimoji="0" lang="en-GB" sz="2800" b="0" i="0" u="none" strike="noStrike" cap="none" spc="0" normalizeH="0" baseline="0">
                  <a:ln>
                    <a:noFill/>
                  </a:ln>
                  <a:solidFill>
                    <a:schemeClr val="tx1">
                      <a:lumMod val="50000"/>
                    </a:schemeClr>
                  </a:solidFill>
                  <a:effectLst/>
                  <a:highlight>
                    <a:srgbClr val="FFFF00"/>
                  </a:highlight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12D35706-1C04-04ED-31E0-EF93235ACF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57813" y="5336500"/>
                <a:ext cx="685610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Rectangle 55">
            <a:extLst>
              <a:ext uri="{FF2B5EF4-FFF2-40B4-BE49-F238E27FC236}">
                <a16:creationId xmlns:a16="http://schemas.microsoft.com/office/drawing/2014/main" id="{EDCF07D9-D323-A20A-0CE3-8F5C2DBB51A4}"/>
              </a:ext>
            </a:extLst>
          </p:cNvPr>
          <p:cNvSpPr/>
          <p:nvPr/>
        </p:nvSpPr>
        <p:spPr>
          <a:xfrm rot="-10800000" flipV="1">
            <a:off x="457612" y="13283975"/>
            <a:ext cx="4628055" cy="379591"/>
          </a:xfrm>
          <a:prstGeom prst="rect">
            <a:avLst/>
          </a:prstGeom>
          <a:solidFill>
            <a:srgbClr val="5C2A7A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/>
            <a:r>
              <a:rPr lang="en-GB" sz="1800">
                <a:solidFill>
                  <a:srgbClr val="9E79A6"/>
                </a:solidFill>
                <a:latin typeface="Helvetica Neue"/>
              </a:rPr>
              <a:t>KR and MA</a:t>
            </a:r>
            <a:endParaRPr lang="en-US" sz="180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E6460324-243B-B34F-AC46-F66BE525CD39}"/>
              </a:ext>
            </a:extLst>
          </p:cNvPr>
          <p:cNvSpPr/>
          <p:nvPr/>
        </p:nvSpPr>
        <p:spPr>
          <a:xfrm rot="-10800000" flipV="1">
            <a:off x="19138012" y="13283101"/>
            <a:ext cx="4628055" cy="379591"/>
          </a:xfrm>
          <a:prstGeom prst="rect">
            <a:avLst/>
          </a:prstGeom>
          <a:solidFill>
            <a:srgbClr val="5C2A7A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/>
            <a:r>
              <a:rPr lang="en-GB" sz="1800">
                <a:solidFill>
                  <a:srgbClr val="9E79A6"/>
                </a:solidFill>
                <a:latin typeface="Helvetica Neue"/>
              </a:rPr>
              <a:t>22/10/2025</a:t>
            </a:r>
            <a:endParaRPr lang="en-US" sz="1800"/>
          </a:p>
        </p:txBody>
      </p:sp>
      <p:sp>
        <p:nvSpPr>
          <p:cNvPr id="65" name="Slide Number">
            <a:extLst>
              <a:ext uri="{FF2B5EF4-FFF2-40B4-BE49-F238E27FC236}">
                <a16:creationId xmlns:a16="http://schemas.microsoft.com/office/drawing/2014/main" id="{E32704CE-232A-0308-194B-4D9AFE1A504C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23805849" y="13272486"/>
            <a:ext cx="230832" cy="379591"/>
          </a:xfrm>
          <a:prstGeom prst="rect">
            <a:avLst/>
          </a:prstGeom>
        </p:spPr>
        <p:txBody>
          <a:bodyPr/>
          <a:lstStyle/>
          <a:p>
            <a:r>
              <a:rPr lang="en-GB"/>
              <a:t>3</a:t>
            </a: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00DE6FA-2E92-BC0D-E353-205FEC52CCF2}"/>
                  </a:ext>
                </a:extLst>
              </p:cNvPr>
              <p:cNvSpPr txBox="1"/>
              <p:nvPr/>
            </p:nvSpPr>
            <p:spPr>
              <a:xfrm>
                <a:off x="391666" y="1619779"/>
                <a:ext cx="23276717" cy="206210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 algn="l"/>
                <a:r>
                  <a:rPr lang="en-GB" sz="3200">
                    <a:solidFill>
                      <a:schemeClr val="bg2">
                        <a:lumMod val="10000"/>
                      </a:schemeClr>
                    </a:solidFill>
                  </a:rPr>
                  <a:t>A fluid enters an empty unpacked pipe at a constant velocity of 2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sz="320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32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3200" b="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p>
                        <m:r>
                          <a:rPr lang="en-US" sz="320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32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GB" sz="3200">
                    <a:solidFill>
                      <a:schemeClr val="bg2">
                        <a:lumMod val="10000"/>
                      </a:schemeClr>
                    </a:solidFill>
                  </a:rPr>
                  <a:t>​. </a:t>
                </a:r>
                <a:r>
                  <a:rPr lang="en-US" sz="3200">
                    <a:solidFill>
                      <a:schemeClr val="bg2">
                        <a:lumMod val="10000"/>
                      </a:schemeClr>
                    </a:solidFill>
                  </a:rPr>
                  <a:t>The pipe length is 30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dirty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lang="en-US" sz="3200">
                    <a:solidFill>
                      <a:schemeClr val="bg2">
                        <a:lumMod val="10000"/>
                      </a:schemeClr>
                    </a:solidFill>
                  </a:rPr>
                  <a:t>. The solute is transported solely by advection (no diffusion or reaction). The inlet solute concentration increases linearly for t</a:t>
                </a:r>
                <a:r>
                  <a:rPr lang="en-GB" sz="3200">
                    <a:solidFill>
                      <a:schemeClr val="bg2">
                        <a:lumMod val="10000"/>
                      </a:schemeClr>
                    </a:solidFill>
                  </a:rPr>
                  <a:t>he first 5 seconds at a rate</a:t>
                </a:r>
              </a:p>
              <a:p>
                <a:pPr algn="l"/>
                <a14:m>
                  <m:oMath xmlns:m="http://schemas.openxmlformats.org/officeDocument/2006/math">
                    <m:r>
                      <a:rPr lang="en-US" sz="3200" b="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2 </m:t>
                    </m:r>
                    <m:r>
                      <m:rPr>
                        <m:sty m:val="p"/>
                      </m:rPr>
                      <a:rPr lang="en-US" sz="3200" b="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mol</m:t>
                    </m:r>
                    <m:r>
                      <a:rPr lang="en-US" sz="3200" b="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32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3200" b="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p>
                        <m:r>
                          <a:rPr lang="en-US" sz="3200" b="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−3</m:t>
                        </m:r>
                      </m:sup>
                    </m:sSup>
                    <m:r>
                      <a:rPr lang="en-US" sz="3200" b="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32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3200" b="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p>
                        <m:r>
                          <a:rPr lang="en-US" sz="3200" b="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3200" b="0">
                    <a:solidFill>
                      <a:schemeClr val="bg2">
                        <a:lumMod val="10000"/>
                      </a:schemeClr>
                    </a:solidFill>
                  </a:rPr>
                  <a:t>; after 5 seconds it remains constant.</a:t>
                </a:r>
              </a:p>
              <a:p>
                <a:pPr algn="l"/>
                <a:r>
                  <a:rPr lang="en-GB" sz="3200">
                    <a:solidFill>
                      <a:schemeClr val="tx1">
                        <a:lumMod val="50000"/>
                      </a:schemeClr>
                    </a:solidFill>
                  </a:rPr>
                  <a:t>Obtain the concentration distribution over time. 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00DE6FA-2E92-BC0D-E353-205FEC52CC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666" y="1619779"/>
                <a:ext cx="23276717" cy="2062103"/>
              </a:xfrm>
              <a:prstGeom prst="rect">
                <a:avLst/>
              </a:prstGeom>
              <a:blipFill>
                <a:blip r:embed="rId9"/>
                <a:stretch>
                  <a:fillRect l="-655" t="-3846" r="-759" b="-8876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EEB3DF1-E2C3-1028-24B3-3E92CF01A30F}"/>
                  </a:ext>
                </a:extLst>
              </p:cNvPr>
              <p:cNvSpPr txBox="1"/>
              <p:nvPr/>
            </p:nvSpPr>
            <p:spPr>
              <a:xfrm>
                <a:off x="4123297" y="5121056"/>
                <a:ext cx="2137059" cy="43088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GB" sz="2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𝑢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0" lang="en-GB" sz="2800" b="0" i="0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in</m:t>
                          </m:r>
                        </m:sub>
                      </m:sSub>
                      <m:r>
                        <a:rPr kumimoji="0" lang="en-GB" sz="2800" b="0" i="0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=2</m:t>
                      </m:r>
                      <m:r>
                        <m:rPr>
                          <m:sty m:val="p"/>
                        </m:rPr>
                        <a:rPr lang="en-US" sz="28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US" sz="280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p>
                          <m:r>
                            <a:rPr lang="en-US" sz="280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i="1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kumimoji="0" lang="en-GB" sz="2800" b="0" i="0" u="none" strike="noStrike" cap="none" spc="0" normalizeH="0" baseline="0">
                  <a:ln>
                    <a:noFill/>
                  </a:ln>
                  <a:solidFill>
                    <a:schemeClr val="tx1">
                      <a:lumMod val="50000"/>
                    </a:schemeClr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EEB3DF1-E2C3-1028-24B3-3E92CF01A3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3297" y="5121056"/>
                <a:ext cx="2137059" cy="43088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329316F-F172-0D84-8983-9D562F0F0A4C}"/>
                  </a:ext>
                </a:extLst>
              </p:cNvPr>
              <p:cNvSpPr txBox="1"/>
              <p:nvPr/>
            </p:nvSpPr>
            <p:spPr>
              <a:xfrm>
                <a:off x="3924011" y="5710579"/>
                <a:ext cx="2622055" cy="46166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GB" sz="24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GB" sz="24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𝑐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0" lang="en-GB" sz="2400" b="0" i="0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in</m:t>
                          </m:r>
                        </m:sub>
                      </m:sSub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329316F-F172-0D84-8983-9D562F0F0A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4011" y="5710579"/>
                <a:ext cx="2622055" cy="461665"/>
              </a:xfrm>
              <a:prstGeom prst="rect">
                <a:avLst/>
              </a:prstGeom>
              <a:blipFill>
                <a:blip r:embed="rId11"/>
                <a:stretch>
                  <a:fillRect b="-394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B5C16477-3E23-179D-70DB-54F21B533E87}"/>
              </a:ext>
            </a:extLst>
          </p:cNvPr>
          <p:cNvSpPr txBox="1"/>
          <p:nvPr/>
        </p:nvSpPr>
        <p:spPr>
          <a:xfrm>
            <a:off x="0" y="8761153"/>
            <a:ext cx="24384000" cy="707886"/>
          </a:xfrm>
          <a:prstGeom prst="rect">
            <a:avLst/>
          </a:prstGeom>
          <a:noFill/>
          <a:ln w="38100" cap="flat">
            <a:solidFill>
              <a:srgbClr val="9E2D28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GB" sz="4000" b="1">
                <a:solidFill>
                  <a:schemeClr val="accent5">
                    <a:lumMod val="50000"/>
                  </a:schemeClr>
                </a:solidFill>
              </a:rPr>
              <a:t>In total, how many initial and boundary conditions do you need?</a:t>
            </a:r>
          </a:p>
        </p:txBody>
      </p:sp>
    </p:spTree>
    <p:extLst>
      <p:ext uri="{BB962C8B-B14F-4D97-AF65-F5344CB8AC3E}">
        <p14:creationId xmlns:p14="http://schemas.microsoft.com/office/powerpoint/2010/main" val="438181839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FAADF-8DD2-6CBB-65D3-9DDC40F35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">
            <a:extLst>
              <a:ext uri="{FF2B5EF4-FFF2-40B4-BE49-F238E27FC236}">
                <a16:creationId xmlns:a16="http://schemas.microsoft.com/office/drawing/2014/main" id="{527E0E3E-4DB4-CEFC-2DC7-DBDEA9EDB3A3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23805849" y="13272486"/>
            <a:ext cx="230832" cy="379591"/>
          </a:xfrm>
          <a:prstGeom prst="rect">
            <a:avLst/>
          </a:prstGeom>
        </p:spPr>
        <p:txBody>
          <a:bodyPr/>
          <a:lstStyle/>
          <a:p>
            <a:r>
              <a:rPr lang="en-GB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422D1F-1D5B-B709-179C-0870C1F81F18}"/>
              </a:ext>
            </a:extLst>
          </p:cNvPr>
          <p:cNvSpPr txBox="1"/>
          <p:nvPr/>
        </p:nvSpPr>
        <p:spPr>
          <a:xfrm>
            <a:off x="4539565" y="9311003"/>
            <a:ext cx="102656" cy="8412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C2D616F-07BA-D232-683C-7F062206D3FA}"/>
              </a:ext>
            </a:extLst>
          </p:cNvPr>
          <p:cNvSpPr/>
          <p:nvPr/>
        </p:nvSpPr>
        <p:spPr>
          <a:xfrm>
            <a:off x="6494858" y="4584298"/>
            <a:ext cx="11931295" cy="2737681"/>
          </a:xfrm>
          <a:prstGeom prst="rect">
            <a:avLst/>
          </a:prstGeom>
          <a:noFill/>
          <a:ln w="57150" cap="flat">
            <a:solidFill>
              <a:schemeClr val="bg2">
                <a:lumMod val="1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FAF7F24-F6D9-EEDC-1C2B-6AD9BDCF0FCD}"/>
              </a:ext>
            </a:extLst>
          </p:cNvPr>
          <p:cNvCxnSpPr>
            <a:cxnSpLocks/>
          </p:cNvCxnSpPr>
          <p:nvPr/>
        </p:nvCxnSpPr>
        <p:spPr>
          <a:xfrm>
            <a:off x="4032211" y="6330881"/>
            <a:ext cx="2405656" cy="0"/>
          </a:xfrm>
          <a:prstGeom prst="straightConnector1">
            <a:avLst/>
          </a:prstGeom>
          <a:noFill/>
          <a:ln w="5715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19DEFEB-A362-4AAF-77AD-08F563122742}"/>
              </a:ext>
            </a:extLst>
          </p:cNvPr>
          <p:cNvCxnSpPr>
            <a:cxnSpLocks/>
          </p:cNvCxnSpPr>
          <p:nvPr/>
        </p:nvCxnSpPr>
        <p:spPr>
          <a:xfrm>
            <a:off x="18426153" y="6319714"/>
            <a:ext cx="2405656" cy="0"/>
          </a:xfrm>
          <a:prstGeom prst="straightConnector1">
            <a:avLst/>
          </a:prstGeom>
          <a:noFill/>
          <a:ln w="5715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5B974492-EDBF-B84C-6137-4CCE799FCF2B}"/>
              </a:ext>
            </a:extLst>
          </p:cNvPr>
          <p:cNvCxnSpPr>
            <a:cxnSpLocks/>
          </p:cNvCxnSpPr>
          <p:nvPr/>
        </p:nvCxnSpPr>
        <p:spPr>
          <a:xfrm>
            <a:off x="6510850" y="4334406"/>
            <a:ext cx="1191530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B8E5782-F9AA-96C0-0CC7-7DD2B5C6DBCA}"/>
                  </a:ext>
                </a:extLst>
              </p:cNvPr>
              <p:cNvSpPr txBox="1"/>
              <p:nvPr/>
            </p:nvSpPr>
            <p:spPr>
              <a:xfrm>
                <a:off x="11704116" y="3740986"/>
                <a:ext cx="1548373" cy="43088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GB" sz="2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5E5E5E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𝐿</m:t>
                      </m:r>
                      <m:r>
                        <a:rPr kumimoji="0" lang="en-GB" sz="2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5E5E5E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=30 </m:t>
                      </m:r>
                      <m:r>
                        <a:rPr kumimoji="0" lang="en-GB" sz="2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5E5E5E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𝑚</m:t>
                      </m:r>
                    </m:oMath>
                  </m:oMathPara>
                </a14:m>
                <a:endParaRPr kumimoji="0" lang="en-GB" sz="28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B8E5782-F9AA-96C0-0CC7-7DD2B5C6DB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04116" y="3740986"/>
                <a:ext cx="1548373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33CE192D-5E9D-BDF2-80B2-F17DDA734184}"/>
              </a:ext>
            </a:extLst>
          </p:cNvPr>
          <p:cNvSpPr txBox="1"/>
          <p:nvPr/>
        </p:nvSpPr>
        <p:spPr>
          <a:xfrm>
            <a:off x="11136850" y="7507871"/>
            <a:ext cx="576000" cy="1044000"/>
          </a:xfrm>
          <a:prstGeom prst="rect">
            <a:avLst/>
          </a:prstGeom>
          <a:solidFill>
            <a:schemeClr val="accent5">
              <a:lumMod val="75000"/>
              <a:alpha val="32157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0D761F8-8B27-13A0-1252-87977C009B2B}"/>
              </a:ext>
            </a:extLst>
          </p:cNvPr>
          <p:cNvSpPr/>
          <p:nvPr/>
        </p:nvSpPr>
        <p:spPr>
          <a:xfrm>
            <a:off x="3888795" y="246197"/>
            <a:ext cx="10649069" cy="923330"/>
          </a:xfrm>
          <a:prstGeom prst="rect">
            <a:avLst/>
          </a:prstGeom>
        </p:spPr>
        <p:txBody>
          <a:bodyPr wrap="none">
            <a:spAutoFit/>
          </a:bodyPr>
          <a:lstStyle>
            <a:defPPr marL="0" marR="0" indent="0" algn="l" defTabSz="18288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1pPr>
            <a:lvl2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2pPr>
            <a:lvl3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3pPr>
            <a:lvl4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4pPr>
            <a:lvl5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5pPr>
            <a:lvl6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6pPr>
            <a:lvl7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7pPr>
            <a:lvl8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8pPr>
            <a:lvl9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9pPr>
          </a:lstStyle>
          <a:p>
            <a:r>
              <a:rPr lang="en-US" sz="5400" b="1">
                <a:solidFill>
                  <a:srgbClr val="EAEAEA"/>
                </a:solidFill>
              </a:rPr>
              <a:t>Initial and Boundary Conditions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671A351D-C5AA-57F9-688C-23C4DE42C16D}"/>
              </a:ext>
            </a:extLst>
          </p:cNvPr>
          <p:cNvSpPr/>
          <p:nvPr/>
        </p:nvSpPr>
        <p:spPr>
          <a:xfrm rot="-10800000" flipV="1">
            <a:off x="9853404" y="13283356"/>
            <a:ext cx="4628055" cy="379591"/>
          </a:xfrm>
          <a:prstGeom prst="rect">
            <a:avLst/>
          </a:prstGeom>
          <a:solidFill>
            <a:srgbClr val="8B79A6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n-US" sz="1800"/>
              <a:t>Workshop on Numerical Simulation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4BCAFB9C-6C1E-9466-C1C0-093C6BB4D84B}"/>
                  </a:ext>
                </a:extLst>
              </p:cNvPr>
              <p:cNvSpPr txBox="1"/>
              <p:nvPr/>
            </p:nvSpPr>
            <p:spPr>
              <a:xfrm>
                <a:off x="18757813" y="5336500"/>
                <a:ext cx="685610" cy="43088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GB" sz="2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highlight>
                                <a:srgbClr val="FFFF00"/>
                              </a:highlight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GB" sz="2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highlight>
                                <a:srgbClr val="FFFF00"/>
                              </a:highlight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𝑐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0" lang="en-GB" sz="2800" b="0" i="0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highlight>
                                <a:srgbClr val="FFFF00"/>
                              </a:highlight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out</m:t>
                          </m:r>
                        </m:sub>
                      </m:sSub>
                    </m:oMath>
                  </m:oMathPara>
                </a14:m>
                <a:endParaRPr kumimoji="0" lang="en-GB" sz="2800" b="0" i="0" u="none" strike="noStrike" cap="none" spc="0" normalizeH="0" baseline="0">
                  <a:ln>
                    <a:noFill/>
                  </a:ln>
                  <a:solidFill>
                    <a:schemeClr val="tx1">
                      <a:lumMod val="50000"/>
                    </a:schemeClr>
                  </a:solidFill>
                  <a:effectLst/>
                  <a:highlight>
                    <a:srgbClr val="FFFF00"/>
                  </a:highlight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4BCAFB9C-6C1E-9466-C1C0-093C6BB4D8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57813" y="5336500"/>
                <a:ext cx="685610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" name="Rectangle 70">
            <a:extLst>
              <a:ext uri="{FF2B5EF4-FFF2-40B4-BE49-F238E27FC236}">
                <a16:creationId xmlns:a16="http://schemas.microsoft.com/office/drawing/2014/main" id="{2B7D8DE9-7EB7-321D-0F2D-0B6F82781C76}"/>
              </a:ext>
            </a:extLst>
          </p:cNvPr>
          <p:cNvSpPr/>
          <p:nvPr/>
        </p:nvSpPr>
        <p:spPr>
          <a:xfrm rot="-10800000" flipV="1">
            <a:off x="457612" y="13283975"/>
            <a:ext cx="4628055" cy="379591"/>
          </a:xfrm>
          <a:prstGeom prst="rect">
            <a:avLst/>
          </a:prstGeom>
          <a:solidFill>
            <a:srgbClr val="5C2A7A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/>
            <a:r>
              <a:rPr lang="en-GB" sz="1800">
                <a:solidFill>
                  <a:srgbClr val="9E79A6"/>
                </a:solidFill>
                <a:latin typeface="Helvetica Neue"/>
              </a:rPr>
              <a:t>KR and MA</a:t>
            </a:r>
            <a:endParaRPr lang="en-US" sz="180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399AB4B-AA77-E827-4279-222C582DAD93}"/>
              </a:ext>
            </a:extLst>
          </p:cNvPr>
          <p:cNvSpPr txBox="1"/>
          <p:nvPr/>
        </p:nvSpPr>
        <p:spPr>
          <a:xfrm>
            <a:off x="3510355" y="1657401"/>
            <a:ext cx="1161602" cy="580169"/>
          </a:xfrm>
          <a:prstGeom prst="rect">
            <a:avLst/>
          </a:prstGeom>
          <a:solidFill>
            <a:schemeClr val="accent5">
              <a:lumMod val="75000"/>
              <a:alpha val="32157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F3B278F-C164-6DB3-6505-010FE8F71801}"/>
              </a:ext>
            </a:extLst>
          </p:cNvPr>
          <p:cNvSpPr txBox="1"/>
          <p:nvPr/>
        </p:nvSpPr>
        <p:spPr>
          <a:xfrm>
            <a:off x="8274694" y="2105865"/>
            <a:ext cx="4523093" cy="733100"/>
          </a:xfrm>
          <a:prstGeom prst="rect">
            <a:avLst/>
          </a:prstGeom>
          <a:solidFill>
            <a:srgbClr val="92D050">
              <a:alpha val="32157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0F4DC9F-BF70-7D7A-406F-71B4E3D878B9}"/>
              </a:ext>
            </a:extLst>
          </p:cNvPr>
          <p:cNvSpPr txBox="1"/>
          <p:nvPr/>
        </p:nvSpPr>
        <p:spPr>
          <a:xfrm>
            <a:off x="4671957" y="8062111"/>
            <a:ext cx="102656" cy="8412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759A03E-8914-B4E9-B8D2-9CD4FA283DA4}"/>
              </a:ext>
            </a:extLst>
          </p:cNvPr>
          <p:cNvSpPr txBox="1"/>
          <p:nvPr/>
        </p:nvSpPr>
        <p:spPr>
          <a:xfrm>
            <a:off x="8467919" y="8659582"/>
            <a:ext cx="7093288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3200" b="0" i="0" u="none" strike="noStrike" cap="none" spc="0" normalizeH="0" baseline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Initial state of concentration in the pipe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960EC2C-EE8F-4204-D47D-6C6C9F7DBFC0}"/>
              </a:ext>
            </a:extLst>
          </p:cNvPr>
          <p:cNvGrpSpPr/>
          <p:nvPr/>
        </p:nvGrpSpPr>
        <p:grpSpPr>
          <a:xfrm>
            <a:off x="3452757" y="8619661"/>
            <a:ext cx="3571743" cy="674877"/>
            <a:chOff x="3599976" y="8619661"/>
            <a:chExt cx="3571743" cy="674877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5A64CCC3-7FC0-9B10-3B99-BBCD3D5410F0}"/>
                </a:ext>
              </a:extLst>
            </p:cNvPr>
            <p:cNvSpPr txBox="1"/>
            <p:nvPr/>
          </p:nvSpPr>
          <p:spPr>
            <a:xfrm>
              <a:off x="3599976" y="8619661"/>
              <a:ext cx="3571743" cy="674877"/>
            </a:xfrm>
            <a:prstGeom prst="rect">
              <a:avLst/>
            </a:prstGeom>
            <a:solidFill>
              <a:schemeClr val="accent5">
                <a:lumMod val="75000"/>
                <a:alpha val="32157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8AC1B7EF-65F9-B4D7-7C07-59377F7ACC9A}"/>
                </a:ext>
              </a:extLst>
            </p:cNvPr>
            <p:cNvSpPr txBox="1"/>
            <p:nvPr/>
          </p:nvSpPr>
          <p:spPr>
            <a:xfrm>
              <a:off x="3612568" y="8659582"/>
              <a:ext cx="3546558" cy="59503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GB" sz="3200" b="0" i="0" u="none" strike="noStrike" cap="none" spc="0" normalizeH="0" baseline="0">
                  <a:ln>
                    <a:noFill/>
                  </a:ln>
                  <a:solidFill>
                    <a:schemeClr val="tx1">
                      <a:lumMod val="50000"/>
                    </a:schemeClr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Initial condition</a:t>
              </a:r>
            </a:p>
          </p:txBody>
        </p:sp>
      </p:grp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D35E0F89-5AD2-E8C4-B6C1-54ECEDFA2A1F}"/>
              </a:ext>
            </a:extLst>
          </p:cNvPr>
          <p:cNvCxnSpPr>
            <a:cxnSpLocks/>
            <a:stCxn id="73" idx="3"/>
          </p:cNvCxnSpPr>
          <p:nvPr/>
        </p:nvCxnSpPr>
        <p:spPr>
          <a:xfrm>
            <a:off x="7011907" y="8957100"/>
            <a:ext cx="1332903" cy="8442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 w="lg" len="lg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160148A0-04F9-BB6E-500B-4037A36FEA6F}"/>
              </a:ext>
            </a:extLst>
          </p:cNvPr>
          <p:cNvCxnSpPr>
            <a:cxnSpLocks/>
          </p:cNvCxnSpPr>
          <p:nvPr/>
        </p:nvCxnSpPr>
        <p:spPr>
          <a:xfrm>
            <a:off x="15828128" y="8957099"/>
            <a:ext cx="1085850" cy="0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03E2FACA-A516-B82C-5524-499B694F254F}"/>
                  </a:ext>
                </a:extLst>
              </p:cNvPr>
              <p:cNvSpPr txBox="1"/>
              <p:nvPr/>
            </p:nvSpPr>
            <p:spPr>
              <a:xfrm>
                <a:off x="17261431" y="8710878"/>
                <a:ext cx="4628768" cy="49244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GB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GB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𝑐</m:t>
                          </m:r>
                          <m:r>
                            <a:rPr kumimoji="0" lang="en-GB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(</m:t>
                          </m:r>
                          <m:r>
                            <a:rPr kumimoji="0" lang="en-GB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𝑡</m:t>
                          </m:r>
                          <m:r>
                            <a:rPr kumimoji="0" lang="en-GB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=0,</m:t>
                          </m:r>
                          <m:r>
                            <a:rPr kumimoji="0" lang="en-GB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𝑥</m:t>
                          </m:r>
                          <m:r>
                            <a:rPr kumimoji="0" lang="en-GB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)</m:t>
                          </m:r>
                        </m:e>
                        <m:sub/>
                      </m:sSub>
                      <m:r>
                        <a:rPr kumimoji="0" lang="en-GB" sz="32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=0</m:t>
                      </m:r>
                      <m:r>
                        <a:rPr kumimoji="0" lang="en-US" sz="32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320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mol</m:t>
                      </m:r>
                      <m:r>
                        <a:rPr lang="en-US" sz="320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3200" i="1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320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p>
                          <m:r>
                            <a:rPr lang="en-US" sz="320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−3</m:t>
                          </m:r>
                        </m:sup>
                      </m:sSup>
                    </m:oMath>
                  </m:oMathPara>
                </a14:m>
                <a:endParaRPr kumimoji="0" lang="en-GB" sz="3200" b="0" i="0" u="none" strike="noStrike" cap="none" spc="0" normalizeH="0" baseline="0">
                  <a:ln>
                    <a:noFill/>
                  </a:ln>
                  <a:solidFill>
                    <a:schemeClr val="tx1">
                      <a:lumMod val="50000"/>
                    </a:schemeClr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03E2FACA-A516-B82C-5524-499B694F25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61431" y="8710878"/>
                <a:ext cx="4628768" cy="4924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TextBox 77">
            <a:extLst>
              <a:ext uri="{FF2B5EF4-FFF2-40B4-BE49-F238E27FC236}">
                <a16:creationId xmlns:a16="http://schemas.microsoft.com/office/drawing/2014/main" id="{6C766291-E30D-8834-F0CF-23E3BD29EC5B}"/>
              </a:ext>
            </a:extLst>
          </p:cNvPr>
          <p:cNvSpPr txBox="1"/>
          <p:nvPr/>
        </p:nvSpPr>
        <p:spPr>
          <a:xfrm>
            <a:off x="12739013" y="7507871"/>
            <a:ext cx="576000" cy="1044000"/>
          </a:xfrm>
          <a:prstGeom prst="rect">
            <a:avLst/>
          </a:prstGeom>
          <a:solidFill>
            <a:srgbClr val="92D050">
              <a:alpha val="32157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72F375DE-A1D7-8035-9572-6A8311D8595E}"/>
              </a:ext>
            </a:extLst>
          </p:cNvPr>
          <p:cNvSpPr/>
          <p:nvPr/>
        </p:nvSpPr>
        <p:spPr>
          <a:xfrm rot="-10800000" flipV="1">
            <a:off x="19138012" y="13283101"/>
            <a:ext cx="4628055" cy="379591"/>
          </a:xfrm>
          <a:prstGeom prst="rect">
            <a:avLst/>
          </a:prstGeom>
          <a:solidFill>
            <a:srgbClr val="5C2A7A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/>
            <a:r>
              <a:rPr lang="en-GB" sz="1800">
                <a:solidFill>
                  <a:srgbClr val="9E79A6"/>
                </a:solidFill>
                <a:latin typeface="Helvetica Neue"/>
              </a:rPr>
              <a:t>22/10/2025</a:t>
            </a:r>
            <a:endParaRPr lang="en-US" sz="1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52C9C1C-874A-B762-E304-5B32CDEFDD72}"/>
                  </a:ext>
                </a:extLst>
              </p:cNvPr>
              <p:cNvSpPr txBox="1"/>
              <p:nvPr/>
            </p:nvSpPr>
            <p:spPr>
              <a:xfrm>
                <a:off x="4123297" y="5121056"/>
                <a:ext cx="2137059" cy="43088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GB" sz="2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𝑢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0" lang="en-GB" sz="2800" b="0" i="0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in</m:t>
                          </m:r>
                        </m:sub>
                      </m:sSub>
                      <m:r>
                        <a:rPr kumimoji="0" lang="en-GB" sz="2800" b="0" i="0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=2</m:t>
                      </m:r>
                      <m:r>
                        <m:rPr>
                          <m:sty m:val="p"/>
                        </m:rPr>
                        <a:rPr lang="en-US" sz="28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US" sz="280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p>
                          <m:r>
                            <a:rPr lang="en-US" sz="280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i="1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kumimoji="0" lang="en-GB" sz="2800" b="0" i="0" u="none" strike="noStrike" cap="none" spc="0" normalizeH="0" baseline="0">
                  <a:ln>
                    <a:noFill/>
                  </a:ln>
                  <a:solidFill>
                    <a:schemeClr val="tx1">
                      <a:lumMod val="50000"/>
                    </a:schemeClr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52C9C1C-874A-B762-E304-5B32CDEFDD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3297" y="5121056"/>
                <a:ext cx="2137059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93D594FE-B17E-90EF-AB96-50114B1B057D}"/>
                  </a:ext>
                </a:extLst>
              </p:cNvPr>
              <p:cNvSpPr txBox="1"/>
              <p:nvPr/>
            </p:nvSpPr>
            <p:spPr>
              <a:xfrm>
                <a:off x="3924011" y="5710579"/>
                <a:ext cx="2622055" cy="46166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GB" sz="24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GB" sz="24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𝑐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0" lang="en-GB" sz="2400" b="0" i="0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in</m:t>
                          </m:r>
                        </m:sub>
                      </m:sSub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93D594FE-B17E-90EF-AB96-50114B1B05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4011" y="5710579"/>
                <a:ext cx="2622055" cy="461665"/>
              </a:xfrm>
              <a:prstGeom prst="rect">
                <a:avLst/>
              </a:prstGeom>
              <a:blipFill>
                <a:blip r:embed="rId8"/>
                <a:stretch>
                  <a:fillRect b="-394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6612E35-FD21-6F65-2F15-0A79E8144416}"/>
                  </a:ext>
                </a:extLst>
              </p:cNvPr>
              <p:cNvSpPr txBox="1"/>
              <p:nvPr/>
            </p:nvSpPr>
            <p:spPr>
              <a:xfrm>
                <a:off x="391666" y="1619779"/>
                <a:ext cx="23276717" cy="206210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 algn="l"/>
                <a:r>
                  <a:rPr lang="en-GB" sz="3200">
                    <a:solidFill>
                      <a:schemeClr val="bg2">
                        <a:lumMod val="10000"/>
                      </a:schemeClr>
                    </a:solidFill>
                  </a:rPr>
                  <a:t>A fluid enters an empty unpacked pipe at a constant velocity of 2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sz="320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32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3200" b="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p>
                        <m:r>
                          <a:rPr lang="en-US" sz="320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32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GB" sz="3200">
                    <a:solidFill>
                      <a:schemeClr val="bg2">
                        <a:lumMod val="10000"/>
                      </a:schemeClr>
                    </a:solidFill>
                  </a:rPr>
                  <a:t>​. </a:t>
                </a:r>
                <a:r>
                  <a:rPr lang="en-US" sz="3200">
                    <a:solidFill>
                      <a:schemeClr val="bg2">
                        <a:lumMod val="10000"/>
                      </a:schemeClr>
                    </a:solidFill>
                  </a:rPr>
                  <a:t>The pipe length is 30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dirty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lang="en-US" sz="3200">
                    <a:solidFill>
                      <a:schemeClr val="bg2">
                        <a:lumMod val="10000"/>
                      </a:schemeClr>
                    </a:solidFill>
                  </a:rPr>
                  <a:t>. The solute is transported solely by advection (no diffusion or reaction). The inlet solute concentration increases linearly for t</a:t>
                </a:r>
                <a:r>
                  <a:rPr lang="en-GB" sz="3200">
                    <a:solidFill>
                      <a:schemeClr val="bg2">
                        <a:lumMod val="10000"/>
                      </a:schemeClr>
                    </a:solidFill>
                  </a:rPr>
                  <a:t>he first 5 seconds at a rate</a:t>
                </a:r>
              </a:p>
              <a:p>
                <a:pPr algn="l"/>
                <a14:m>
                  <m:oMath xmlns:m="http://schemas.openxmlformats.org/officeDocument/2006/math">
                    <m:r>
                      <a:rPr lang="en-US" sz="3200" b="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2 </m:t>
                    </m:r>
                    <m:r>
                      <m:rPr>
                        <m:sty m:val="p"/>
                      </m:rPr>
                      <a:rPr lang="en-US" sz="3200" b="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mol</m:t>
                    </m:r>
                    <m:r>
                      <a:rPr lang="en-US" sz="3200" b="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32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3200" b="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p>
                        <m:r>
                          <a:rPr lang="en-US" sz="3200" b="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−3</m:t>
                        </m:r>
                      </m:sup>
                    </m:sSup>
                    <m:r>
                      <a:rPr lang="en-US" sz="3200" b="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32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3200" b="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p>
                        <m:r>
                          <a:rPr lang="en-US" sz="3200" b="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3200" b="0">
                    <a:solidFill>
                      <a:schemeClr val="bg2">
                        <a:lumMod val="10000"/>
                      </a:schemeClr>
                    </a:solidFill>
                  </a:rPr>
                  <a:t>; after 5 seconds it remains constant.</a:t>
                </a:r>
              </a:p>
              <a:p>
                <a:pPr algn="l"/>
                <a:r>
                  <a:rPr lang="en-GB" sz="3200">
                    <a:solidFill>
                      <a:schemeClr val="tx1">
                        <a:lumMod val="50000"/>
                      </a:schemeClr>
                    </a:solidFill>
                  </a:rPr>
                  <a:t>Obtain the concentration distribution over time.  </a:t>
                </a: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6612E35-FD21-6F65-2F15-0A79E8144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666" y="1619779"/>
                <a:ext cx="23276717" cy="2062103"/>
              </a:xfrm>
              <a:prstGeom prst="rect">
                <a:avLst/>
              </a:prstGeom>
              <a:blipFill>
                <a:blip r:embed="rId9"/>
                <a:stretch>
                  <a:fillRect l="-655" t="-3846" r="-759" b="-8876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5B4BDF6-E387-9239-2FDD-0D6A79336B26}"/>
                  </a:ext>
                </a:extLst>
              </p:cNvPr>
              <p:cNvSpPr txBox="1"/>
              <p:nvPr/>
            </p:nvSpPr>
            <p:spPr>
              <a:xfrm>
                <a:off x="9289547" y="9176836"/>
                <a:ext cx="4681485" cy="58477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32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GB" sz="320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5B4BDF6-E387-9239-2FDD-0D6A79336B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9547" y="9176836"/>
                <a:ext cx="4681485" cy="58477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\documentclass{article}&#10;\usepackage{amsmath}&#10;\pagestyle{empty}&#10;\begin{document}&#10;\begin{equation}&#10;\frac{\partial c}{\partial t}=-v\frac{\partial c}{\partial x}&#10;\nonumber&#10;\end{equation}&#10;&#10;\end{document}" title="IguanaTex Bitmap Display">
            <a:extLst>
              <a:ext uri="{FF2B5EF4-FFF2-40B4-BE49-F238E27FC236}">
                <a16:creationId xmlns:a16="http://schemas.microsoft.com/office/drawing/2014/main" id="{FD02A7BC-0EF1-7F16-23B9-FE6F6CB954D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9365" y="7604424"/>
            <a:ext cx="2043124" cy="850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049488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76FDE-9826-1CDD-1753-4F89454BC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">
            <a:extLst>
              <a:ext uri="{FF2B5EF4-FFF2-40B4-BE49-F238E27FC236}">
                <a16:creationId xmlns:a16="http://schemas.microsoft.com/office/drawing/2014/main" id="{D0B52D35-B89C-AABC-7F50-E2B9AA71534E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23805849" y="13272486"/>
            <a:ext cx="230832" cy="379591"/>
          </a:xfrm>
          <a:prstGeom prst="rect">
            <a:avLst/>
          </a:prstGeom>
        </p:spPr>
        <p:txBody>
          <a:bodyPr/>
          <a:lstStyle/>
          <a:p>
            <a:r>
              <a:rPr lang="en-GB"/>
              <a:t>3</a:t>
            </a:r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005B729-A306-A91A-2AB2-D836AB4F1C0D}"/>
              </a:ext>
            </a:extLst>
          </p:cNvPr>
          <p:cNvSpPr txBox="1"/>
          <p:nvPr/>
        </p:nvSpPr>
        <p:spPr>
          <a:xfrm>
            <a:off x="4539565" y="9311003"/>
            <a:ext cx="102656" cy="8412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E5A7DF0-280B-4DEA-DBFE-5C3EEC72D9CD}"/>
              </a:ext>
            </a:extLst>
          </p:cNvPr>
          <p:cNvSpPr/>
          <p:nvPr/>
        </p:nvSpPr>
        <p:spPr>
          <a:xfrm>
            <a:off x="6494858" y="4584298"/>
            <a:ext cx="11931295" cy="2737681"/>
          </a:xfrm>
          <a:prstGeom prst="rect">
            <a:avLst/>
          </a:prstGeom>
          <a:noFill/>
          <a:ln w="57150" cap="flat">
            <a:solidFill>
              <a:schemeClr val="bg2">
                <a:lumMod val="1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992A39D-F063-0F02-74D7-118A20BB6F0B}"/>
              </a:ext>
            </a:extLst>
          </p:cNvPr>
          <p:cNvCxnSpPr>
            <a:cxnSpLocks/>
          </p:cNvCxnSpPr>
          <p:nvPr/>
        </p:nvCxnSpPr>
        <p:spPr>
          <a:xfrm>
            <a:off x="4032211" y="6330881"/>
            <a:ext cx="2405656" cy="0"/>
          </a:xfrm>
          <a:prstGeom prst="straightConnector1">
            <a:avLst/>
          </a:prstGeom>
          <a:noFill/>
          <a:ln w="5715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1B0B744-B5EA-A869-0C7B-D77D916283D5}"/>
              </a:ext>
            </a:extLst>
          </p:cNvPr>
          <p:cNvCxnSpPr>
            <a:cxnSpLocks/>
          </p:cNvCxnSpPr>
          <p:nvPr/>
        </p:nvCxnSpPr>
        <p:spPr>
          <a:xfrm>
            <a:off x="18426153" y="6319714"/>
            <a:ext cx="2405656" cy="0"/>
          </a:xfrm>
          <a:prstGeom prst="straightConnector1">
            <a:avLst/>
          </a:prstGeom>
          <a:noFill/>
          <a:ln w="5715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DCC1414F-3C63-7C19-52EF-B8F240136E36}"/>
              </a:ext>
            </a:extLst>
          </p:cNvPr>
          <p:cNvCxnSpPr>
            <a:cxnSpLocks/>
          </p:cNvCxnSpPr>
          <p:nvPr/>
        </p:nvCxnSpPr>
        <p:spPr>
          <a:xfrm>
            <a:off x="6510850" y="4334406"/>
            <a:ext cx="1191530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77B4920-F062-BEDF-799E-DC75FA132F28}"/>
                  </a:ext>
                </a:extLst>
              </p:cNvPr>
              <p:cNvSpPr txBox="1"/>
              <p:nvPr/>
            </p:nvSpPr>
            <p:spPr>
              <a:xfrm>
                <a:off x="11704116" y="3740986"/>
                <a:ext cx="1548373" cy="43088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GB" sz="2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5E5E5E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𝐿</m:t>
                      </m:r>
                      <m:r>
                        <a:rPr kumimoji="0" lang="en-GB" sz="2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5E5E5E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=30 </m:t>
                      </m:r>
                      <m:r>
                        <a:rPr kumimoji="0" lang="en-GB" sz="2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5E5E5E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𝑚</m:t>
                      </m:r>
                    </m:oMath>
                  </m:oMathPara>
                </a14:m>
                <a:endParaRPr kumimoji="0" lang="en-GB" sz="28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77B4920-F062-BEDF-799E-DC75FA132F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04116" y="3740986"/>
                <a:ext cx="1548373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1AF51F3E-0188-9657-840B-C4BB025383FA}"/>
              </a:ext>
            </a:extLst>
          </p:cNvPr>
          <p:cNvSpPr txBox="1"/>
          <p:nvPr/>
        </p:nvSpPr>
        <p:spPr>
          <a:xfrm>
            <a:off x="11136850" y="7507871"/>
            <a:ext cx="576000" cy="1044000"/>
          </a:xfrm>
          <a:prstGeom prst="rect">
            <a:avLst/>
          </a:prstGeom>
          <a:solidFill>
            <a:schemeClr val="accent5">
              <a:lumMod val="75000"/>
              <a:alpha val="32157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0BEF4A9-3D17-FA5B-CCDF-A6E69476AB50}"/>
                  </a:ext>
                </a:extLst>
              </p:cNvPr>
              <p:cNvSpPr txBox="1"/>
              <p:nvPr/>
            </p:nvSpPr>
            <p:spPr>
              <a:xfrm>
                <a:off x="14988631" y="9294538"/>
                <a:ext cx="4669740" cy="12002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sz="3200" i="1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320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3200" b="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num>
                                <m:den>
                                  <m:r>
                                    <a:rPr lang="en-US" sz="320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3200" b="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32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32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2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32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</m:sSub>
                      <m:r>
                        <a:rPr lang="en-US" sz="3200" i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=2 </m:t>
                      </m:r>
                      <m:r>
                        <m:rPr>
                          <m:sty m:val="p"/>
                        </m:rPr>
                        <a:rPr lang="en-US" sz="3200" i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mol</m:t>
                      </m:r>
                      <m:r>
                        <a:rPr lang="en-US" sz="3200" i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3200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3200" i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p>
                          <m:r>
                            <a:rPr lang="en-US" sz="3200" i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−3</m:t>
                          </m:r>
                        </m:sup>
                      </m:sSup>
                      <m:r>
                        <a:rPr lang="en-US" sz="3200" i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3200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3200" i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p>
                          <m:r>
                            <a:rPr lang="en-US" sz="3200" i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GB" sz="3200" b="0" i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kumimoji="0" lang="en-GB" sz="3200" b="0" u="none" strike="noStrike" cap="none" spc="0" normalizeH="0" baseline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FillTx/>
                  <a:sym typeface="Helvetica Neue"/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0BEF4A9-3D17-FA5B-CCDF-A6E69476AB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88631" y="9294538"/>
                <a:ext cx="4669740" cy="12002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63F71C15-366D-8432-B23A-BBA9113F40A5}"/>
              </a:ext>
            </a:extLst>
          </p:cNvPr>
          <p:cNvSpPr txBox="1"/>
          <p:nvPr/>
        </p:nvSpPr>
        <p:spPr>
          <a:xfrm>
            <a:off x="9377805" y="9844153"/>
            <a:ext cx="4451540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3200" b="0" i="0" u="none" strike="noStrike" cap="none" spc="0" normalizeH="0" baseline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Inlet boundary condition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9D86422-5112-759D-3E24-BC9924AC322B}"/>
              </a:ext>
            </a:extLst>
          </p:cNvPr>
          <p:cNvSpPr txBox="1"/>
          <p:nvPr/>
        </p:nvSpPr>
        <p:spPr>
          <a:xfrm>
            <a:off x="9218306" y="12209185"/>
            <a:ext cx="4770538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3200" b="0" i="0" u="none" strike="noStrike" cap="none" spc="0" normalizeH="0" baseline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Outlet boundary condition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C2C842E-4F31-2FC2-B5FF-A31E8DFC5349}"/>
              </a:ext>
            </a:extLst>
          </p:cNvPr>
          <p:cNvGrpSpPr/>
          <p:nvPr/>
        </p:nvGrpSpPr>
        <p:grpSpPr>
          <a:xfrm>
            <a:off x="3218297" y="10474381"/>
            <a:ext cx="4040663" cy="673506"/>
            <a:chOff x="3218297" y="10474381"/>
            <a:chExt cx="4040663" cy="673506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CCF7E755-B066-749A-5D37-5B063ABCBC67}"/>
                </a:ext>
              </a:extLst>
            </p:cNvPr>
            <p:cNvSpPr txBox="1"/>
            <p:nvPr/>
          </p:nvSpPr>
          <p:spPr>
            <a:xfrm>
              <a:off x="3218297" y="10474381"/>
              <a:ext cx="4040663" cy="673506"/>
            </a:xfrm>
            <a:prstGeom prst="rect">
              <a:avLst/>
            </a:prstGeom>
            <a:solidFill>
              <a:srgbClr val="92D050">
                <a:alpha val="32157"/>
              </a:srgb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18472B5-6421-3551-BB4C-A58C54E66F1C}"/>
                </a:ext>
              </a:extLst>
            </p:cNvPr>
            <p:cNvSpPr txBox="1"/>
            <p:nvPr/>
          </p:nvSpPr>
          <p:spPr>
            <a:xfrm>
              <a:off x="3218297" y="10513617"/>
              <a:ext cx="4040663" cy="59503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GB" sz="3200" b="0" i="0" u="none" strike="noStrike" cap="none" spc="0" normalizeH="0" baseline="0">
                  <a:ln>
                    <a:noFill/>
                  </a:ln>
                  <a:solidFill>
                    <a:schemeClr val="tx1">
                      <a:lumMod val="50000"/>
                    </a:schemeClr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Boundary conditions</a:t>
              </a:r>
            </a:p>
          </p:txBody>
        </p:sp>
      </p:grpSp>
      <p:cxnSp>
        <p:nvCxnSpPr>
          <p:cNvPr id="45" name="Connector: Elbow 31">
            <a:extLst>
              <a:ext uri="{FF2B5EF4-FFF2-40B4-BE49-F238E27FC236}">
                <a16:creationId xmlns:a16="http://schemas.microsoft.com/office/drawing/2014/main" id="{3CE8317A-BA7A-9640-C199-137944EFA755}"/>
              </a:ext>
            </a:extLst>
          </p:cNvPr>
          <p:cNvCxnSpPr>
            <a:cxnSpLocks/>
          </p:cNvCxnSpPr>
          <p:nvPr/>
        </p:nvCxnSpPr>
        <p:spPr>
          <a:xfrm flipV="1">
            <a:off x="7258960" y="10152259"/>
            <a:ext cx="1888900" cy="658875"/>
          </a:xfrm>
          <a:prstGeom prst="bentConnector3">
            <a:avLst>
              <a:gd name="adj1" fmla="val 50000"/>
            </a:avLst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 w="lg" len="lg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9ABEA7BB-E33A-F069-0414-9CAD44A86B17}"/>
              </a:ext>
            </a:extLst>
          </p:cNvPr>
          <p:cNvSpPr/>
          <p:nvPr/>
        </p:nvSpPr>
        <p:spPr>
          <a:xfrm>
            <a:off x="3888795" y="246197"/>
            <a:ext cx="10649069" cy="923330"/>
          </a:xfrm>
          <a:prstGeom prst="rect">
            <a:avLst/>
          </a:prstGeom>
        </p:spPr>
        <p:txBody>
          <a:bodyPr wrap="none">
            <a:spAutoFit/>
          </a:bodyPr>
          <a:lstStyle>
            <a:defPPr marL="0" marR="0" indent="0" algn="l" defTabSz="18288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1pPr>
            <a:lvl2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2pPr>
            <a:lvl3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3pPr>
            <a:lvl4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4pPr>
            <a:lvl5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5pPr>
            <a:lvl6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6pPr>
            <a:lvl7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7pPr>
            <a:lvl8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8pPr>
            <a:lvl9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9pPr>
          </a:lstStyle>
          <a:p>
            <a:r>
              <a:rPr lang="en-US" sz="5400" b="1">
                <a:solidFill>
                  <a:srgbClr val="EAEAEA"/>
                </a:solidFill>
              </a:rPr>
              <a:t>Initial and Boundary Conditions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1E71106E-BA5A-2747-84B4-3EE12BE0D171}"/>
              </a:ext>
            </a:extLst>
          </p:cNvPr>
          <p:cNvSpPr/>
          <p:nvPr/>
        </p:nvSpPr>
        <p:spPr>
          <a:xfrm rot="-10800000" flipV="1">
            <a:off x="9853404" y="13283356"/>
            <a:ext cx="4628055" cy="379591"/>
          </a:xfrm>
          <a:prstGeom prst="rect">
            <a:avLst/>
          </a:prstGeom>
          <a:solidFill>
            <a:srgbClr val="8B79A6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n-US" sz="1800"/>
              <a:t>Workshop on Numerical Simulation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AA4FE952-C7AE-DECF-07D8-6880437B35F8}"/>
                  </a:ext>
                </a:extLst>
              </p:cNvPr>
              <p:cNvSpPr txBox="1"/>
              <p:nvPr/>
            </p:nvSpPr>
            <p:spPr>
              <a:xfrm>
                <a:off x="18757813" y="5336500"/>
                <a:ext cx="685610" cy="43088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GB" sz="2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highlight>
                                <a:srgbClr val="FFFF00"/>
                              </a:highlight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GB" sz="2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highlight>
                                <a:srgbClr val="FFFF00"/>
                              </a:highlight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𝑐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0" lang="en-GB" sz="2800" b="0" i="0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highlight>
                                <a:srgbClr val="FFFF00"/>
                              </a:highlight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out</m:t>
                          </m:r>
                        </m:sub>
                      </m:sSub>
                    </m:oMath>
                  </m:oMathPara>
                </a14:m>
                <a:endParaRPr kumimoji="0" lang="en-GB" sz="2800" b="0" i="0" u="none" strike="noStrike" cap="none" spc="0" normalizeH="0" baseline="0">
                  <a:ln>
                    <a:noFill/>
                  </a:ln>
                  <a:solidFill>
                    <a:schemeClr val="tx1">
                      <a:lumMod val="50000"/>
                    </a:schemeClr>
                  </a:solidFill>
                  <a:effectLst/>
                  <a:highlight>
                    <a:srgbClr val="FFFF00"/>
                  </a:highlight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AA4FE952-C7AE-DECF-07D8-6880437B35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57813" y="5336500"/>
                <a:ext cx="685610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" name="Rectangle 70">
            <a:extLst>
              <a:ext uri="{FF2B5EF4-FFF2-40B4-BE49-F238E27FC236}">
                <a16:creationId xmlns:a16="http://schemas.microsoft.com/office/drawing/2014/main" id="{8F41D42B-3857-3CED-946A-07958EC84894}"/>
              </a:ext>
            </a:extLst>
          </p:cNvPr>
          <p:cNvSpPr/>
          <p:nvPr/>
        </p:nvSpPr>
        <p:spPr>
          <a:xfrm rot="-10800000" flipV="1">
            <a:off x="457612" y="13283975"/>
            <a:ext cx="4628055" cy="379591"/>
          </a:xfrm>
          <a:prstGeom prst="rect">
            <a:avLst/>
          </a:prstGeom>
          <a:solidFill>
            <a:srgbClr val="5C2A7A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/>
            <a:r>
              <a:rPr lang="en-GB" sz="1800">
                <a:solidFill>
                  <a:srgbClr val="9E79A6"/>
                </a:solidFill>
                <a:latin typeface="Helvetica Neue"/>
              </a:rPr>
              <a:t>KR and MA</a:t>
            </a:r>
            <a:endParaRPr lang="en-US" sz="180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0DF631F-13B5-6A1F-2D21-A6546EC9581B}"/>
              </a:ext>
            </a:extLst>
          </p:cNvPr>
          <p:cNvSpPr txBox="1"/>
          <p:nvPr/>
        </p:nvSpPr>
        <p:spPr>
          <a:xfrm>
            <a:off x="3510355" y="1657401"/>
            <a:ext cx="1161602" cy="580169"/>
          </a:xfrm>
          <a:prstGeom prst="rect">
            <a:avLst/>
          </a:prstGeom>
          <a:solidFill>
            <a:schemeClr val="accent5">
              <a:lumMod val="75000"/>
              <a:alpha val="32157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21E102A-B023-8DD2-A842-DC9B449FF0DF}"/>
              </a:ext>
            </a:extLst>
          </p:cNvPr>
          <p:cNvSpPr txBox="1"/>
          <p:nvPr/>
        </p:nvSpPr>
        <p:spPr>
          <a:xfrm>
            <a:off x="8274694" y="2105865"/>
            <a:ext cx="4523093" cy="733100"/>
          </a:xfrm>
          <a:prstGeom prst="rect">
            <a:avLst/>
          </a:prstGeom>
          <a:solidFill>
            <a:srgbClr val="92D050">
              <a:alpha val="32157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82E7CC8-DE09-F589-0E34-16AD2FF55F3C}"/>
              </a:ext>
            </a:extLst>
          </p:cNvPr>
          <p:cNvSpPr txBox="1"/>
          <p:nvPr/>
        </p:nvSpPr>
        <p:spPr>
          <a:xfrm>
            <a:off x="4671957" y="8062111"/>
            <a:ext cx="102656" cy="8412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3CE755A-613E-8B3B-750E-EE87FD04E222}"/>
              </a:ext>
            </a:extLst>
          </p:cNvPr>
          <p:cNvSpPr txBox="1"/>
          <p:nvPr/>
        </p:nvSpPr>
        <p:spPr>
          <a:xfrm>
            <a:off x="8467919" y="8659582"/>
            <a:ext cx="7093288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3200" b="0" i="0" u="none" strike="noStrike" cap="none" spc="0" normalizeH="0" baseline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Initial state of concentration in the pipe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CAD69C5-E3C6-A58F-46F8-A0C4CED5178F}"/>
              </a:ext>
            </a:extLst>
          </p:cNvPr>
          <p:cNvGrpSpPr/>
          <p:nvPr/>
        </p:nvGrpSpPr>
        <p:grpSpPr>
          <a:xfrm>
            <a:off x="3452757" y="8619661"/>
            <a:ext cx="3571743" cy="674877"/>
            <a:chOff x="3599976" y="8619661"/>
            <a:chExt cx="3571743" cy="674877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26E4088C-A96A-9664-5E23-2060E6AB01F8}"/>
                </a:ext>
              </a:extLst>
            </p:cNvPr>
            <p:cNvSpPr txBox="1"/>
            <p:nvPr/>
          </p:nvSpPr>
          <p:spPr>
            <a:xfrm>
              <a:off x="3599976" y="8619661"/>
              <a:ext cx="3571743" cy="674877"/>
            </a:xfrm>
            <a:prstGeom prst="rect">
              <a:avLst/>
            </a:prstGeom>
            <a:solidFill>
              <a:schemeClr val="accent5">
                <a:lumMod val="75000"/>
                <a:alpha val="32157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0996D010-F0EE-122B-B9D2-589395C861E7}"/>
                </a:ext>
              </a:extLst>
            </p:cNvPr>
            <p:cNvSpPr txBox="1"/>
            <p:nvPr/>
          </p:nvSpPr>
          <p:spPr>
            <a:xfrm>
              <a:off x="3612568" y="8659582"/>
              <a:ext cx="3546558" cy="59503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GB" sz="3200" b="0" i="0" u="none" strike="noStrike" cap="none" spc="0" normalizeH="0" baseline="0">
                  <a:ln>
                    <a:noFill/>
                  </a:ln>
                  <a:solidFill>
                    <a:schemeClr val="tx1">
                      <a:lumMod val="50000"/>
                    </a:schemeClr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Initial condition</a:t>
              </a:r>
            </a:p>
          </p:txBody>
        </p:sp>
      </p:grp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34842235-05DE-DCD7-F1AB-61D16F243A1B}"/>
              </a:ext>
            </a:extLst>
          </p:cNvPr>
          <p:cNvCxnSpPr>
            <a:cxnSpLocks/>
            <a:stCxn id="73" idx="3"/>
          </p:cNvCxnSpPr>
          <p:nvPr/>
        </p:nvCxnSpPr>
        <p:spPr>
          <a:xfrm>
            <a:off x="7011907" y="8957100"/>
            <a:ext cx="1332903" cy="8442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 w="lg" len="lg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0206B42-B567-05B9-8900-65DB0841619F}"/>
              </a:ext>
            </a:extLst>
          </p:cNvPr>
          <p:cNvCxnSpPr>
            <a:cxnSpLocks/>
          </p:cNvCxnSpPr>
          <p:nvPr/>
        </p:nvCxnSpPr>
        <p:spPr>
          <a:xfrm>
            <a:off x="15828128" y="8957099"/>
            <a:ext cx="1085850" cy="0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60520C5B-31F9-1587-8E5C-15908B73C24B}"/>
                  </a:ext>
                </a:extLst>
              </p:cNvPr>
              <p:cNvSpPr txBox="1"/>
              <p:nvPr/>
            </p:nvSpPr>
            <p:spPr>
              <a:xfrm>
                <a:off x="17261431" y="8710878"/>
                <a:ext cx="4628768" cy="49244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GB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GB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𝑐</m:t>
                          </m:r>
                          <m:r>
                            <a:rPr kumimoji="0" lang="en-GB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(</m:t>
                          </m:r>
                          <m:r>
                            <a:rPr kumimoji="0" lang="en-GB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𝑡</m:t>
                          </m:r>
                          <m:r>
                            <a:rPr kumimoji="0" lang="en-GB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=0,</m:t>
                          </m:r>
                          <m:r>
                            <a:rPr kumimoji="0" lang="en-GB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𝑥</m:t>
                          </m:r>
                          <m:r>
                            <a:rPr kumimoji="0" lang="en-GB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)</m:t>
                          </m:r>
                        </m:e>
                        <m:sub/>
                      </m:sSub>
                      <m:r>
                        <a:rPr kumimoji="0" lang="en-GB" sz="32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=0</m:t>
                      </m:r>
                      <m:r>
                        <a:rPr kumimoji="0" lang="en-US" sz="32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320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mol</m:t>
                      </m:r>
                      <m:r>
                        <a:rPr lang="en-US" sz="320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3200" i="1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320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p>
                          <m:r>
                            <a:rPr lang="en-US" sz="320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−3</m:t>
                          </m:r>
                        </m:sup>
                      </m:sSup>
                    </m:oMath>
                  </m:oMathPara>
                </a14:m>
                <a:endParaRPr kumimoji="0" lang="en-GB" sz="3200" b="0" i="0" u="none" strike="noStrike" cap="none" spc="0" normalizeH="0" baseline="0">
                  <a:ln>
                    <a:noFill/>
                  </a:ln>
                  <a:solidFill>
                    <a:schemeClr val="tx1">
                      <a:lumMod val="50000"/>
                    </a:schemeClr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60520C5B-31F9-1587-8E5C-15908B73C2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61431" y="8710878"/>
                <a:ext cx="4628768" cy="4924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TextBox 77">
            <a:extLst>
              <a:ext uri="{FF2B5EF4-FFF2-40B4-BE49-F238E27FC236}">
                <a16:creationId xmlns:a16="http://schemas.microsoft.com/office/drawing/2014/main" id="{1181679E-CA65-7885-198C-42AF6487B4F7}"/>
              </a:ext>
            </a:extLst>
          </p:cNvPr>
          <p:cNvSpPr txBox="1"/>
          <p:nvPr/>
        </p:nvSpPr>
        <p:spPr>
          <a:xfrm>
            <a:off x="12739013" y="7507871"/>
            <a:ext cx="576000" cy="1044000"/>
          </a:xfrm>
          <a:prstGeom prst="rect">
            <a:avLst/>
          </a:prstGeom>
          <a:solidFill>
            <a:srgbClr val="92D050">
              <a:alpha val="32157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0A7DCDBD-FC5A-49D8-7219-A6FE362C166B}"/>
              </a:ext>
            </a:extLst>
          </p:cNvPr>
          <p:cNvSpPr/>
          <p:nvPr/>
        </p:nvSpPr>
        <p:spPr>
          <a:xfrm rot="-10800000" flipV="1">
            <a:off x="19138012" y="13283101"/>
            <a:ext cx="4628055" cy="379591"/>
          </a:xfrm>
          <a:prstGeom prst="rect">
            <a:avLst/>
          </a:prstGeom>
          <a:solidFill>
            <a:srgbClr val="5C2A7A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/>
            <a:r>
              <a:rPr lang="en-GB" sz="1800">
                <a:solidFill>
                  <a:srgbClr val="9E79A6"/>
                </a:solidFill>
                <a:latin typeface="Helvetica Neue"/>
              </a:rPr>
              <a:t>22/10/2025</a:t>
            </a:r>
            <a:endParaRPr lang="en-US" sz="1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AC1F0F0-FBF1-DDE2-5C64-7FC72EE8B91C}"/>
                  </a:ext>
                </a:extLst>
              </p:cNvPr>
              <p:cNvSpPr txBox="1"/>
              <p:nvPr/>
            </p:nvSpPr>
            <p:spPr>
              <a:xfrm>
                <a:off x="9262833" y="10351147"/>
                <a:ext cx="4681485" cy="58477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2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GB" sz="320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AC1F0F0-FBF1-DDE2-5C64-7FC72EE8B9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2833" y="10351147"/>
                <a:ext cx="4681485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5147151-720A-B053-F8D3-D1A794324B48}"/>
                  </a:ext>
                </a:extLst>
              </p:cNvPr>
              <p:cNvSpPr txBox="1"/>
              <p:nvPr/>
            </p:nvSpPr>
            <p:spPr>
              <a:xfrm>
                <a:off x="9289547" y="12597712"/>
                <a:ext cx="4628056" cy="58477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2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2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GB" sz="320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5147151-720A-B053-F8D3-D1A794324B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9547" y="12597712"/>
                <a:ext cx="4628056" cy="584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Left Brace 10">
            <a:extLst>
              <a:ext uri="{FF2B5EF4-FFF2-40B4-BE49-F238E27FC236}">
                <a16:creationId xmlns:a16="http://schemas.microsoft.com/office/drawing/2014/main" id="{EA400BC4-5CFB-3DEE-E3BE-9F6F9734F156}"/>
              </a:ext>
            </a:extLst>
          </p:cNvPr>
          <p:cNvSpPr/>
          <p:nvPr/>
        </p:nvSpPr>
        <p:spPr>
          <a:xfrm>
            <a:off x="14367580" y="9362329"/>
            <a:ext cx="729282" cy="2446696"/>
          </a:xfrm>
          <a:prstGeom prst="leftBrace">
            <a:avLst>
              <a:gd name="adj1" fmla="val 8333"/>
              <a:gd name="adj2" fmla="val 34162"/>
            </a:avLst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2616E7C-28E9-5BE7-486D-A9C1FA39F1F7}"/>
                  </a:ext>
                </a:extLst>
              </p:cNvPr>
              <p:cNvSpPr txBox="1"/>
              <p:nvPr/>
            </p:nvSpPr>
            <p:spPr>
              <a:xfrm>
                <a:off x="15020274" y="10614704"/>
                <a:ext cx="4555541" cy="12002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sz="3200" i="1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320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3200" b="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num>
                                <m:den>
                                  <m:r>
                                    <a:rPr lang="en-US" sz="320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3200" b="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32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32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2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32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</m:sSub>
                      <m:r>
                        <a:rPr lang="en-US" sz="3200" i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2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3200" i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3200" i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mol</m:t>
                      </m:r>
                      <m:r>
                        <a:rPr lang="en-US" sz="3200" i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3200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3200" i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p>
                          <m:r>
                            <a:rPr lang="en-US" sz="3200" i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−3</m:t>
                          </m:r>
                        </m:sup>
                      </m:sSup>
                      <m:r>
                        <a:rPr lang="en-US" sz="3200" i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3200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3200" i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p>
                          <m:r>
                            <a:rPr lang="en-US" sz="3200" i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kumimoji="0" lang="en-GB" sz="3200" b="0" u="none" strike="noStrike" cap="none" spc="0" normalizeH="0" baseline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FillTx/>
                  <a:sym typeface="Helvetica Neue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2616E7C-28E9-5BE7-486D-A9C1FA39F1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20274" y="10614704"/>
                <a:ext cx="4555541" cy="12002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9C63A59-354A-BB1B-7432-530828198E09}"/>
                  </a:ext>
                </a:extLst>
              </p:cNvPr>
              <p:cNvSpPr txBox="1"/>
              <p:nvPr/>
            </p:nvSpPr>
            <p:spPr>
              <a:xfrm>
                <a:off x="20731545" y="9537728"/>
                <a:ext cx="1049133" cy="49244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GB" sz="32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𝑡</m:t>
                      </m:r>
                      <m:r>
                        <a:rPr kumimoji="0" lang="en-GB" sz="32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&lt;5</m:t>
                      </m:r>
                    </m:oMath>
                  </m:oMathPara>
                </a14:m>
                <a:endParaRPr kumimoji="0" lang="en-GB" sz="3200" b="0" i="1" u="none" strike="noStrike" cap="none" spc="0" normalizeH="0" baseline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9C63A59-354A-BB1B-7432-530828198E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31545" y="9537728"/>
                <a:ext cx="1049133" cy="49244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C756C47-2FDF-4805-5220-08067A55C4E7}"/>
                  </a:ext>
                </a:extLst>
              </p:cNvPr>
              <p:cNvSpPr txBox="1"/>
              <p:nvPr/>
            </p:nvSpPr>
            <p:spPr>
              <a:xfrm>
                <a:off x="20731544" y="10860376"/>
                <a:ext cx="1049133" cy="49244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GB" sz="32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sym typeface="Helvetica Neue"/>
                        </a:rPr>
                        <m:t>𝑡</m:t>
                      </m:r>
                      <m:r>
                        <a:rPr kumimoji="0" lang="en-GB" sz="32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Helvetica Neue"/>
                        </a:rPr>
                        <m:t>≥</m:t>
                      </m:r>
                      <m:r>
                        <a:rPr kumimoji="0" lang="en-GB" sz="32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sym typeface="Helvetica Neue"/>
                        </a:rPr>
                        <m:t>5</m:t>
                      </m:r>
                    </m:oMath>
                  </m:oMathPara>
                </a14:m>
                <a:endParaRPr kumimoji="0" lang="en-GB" sz="3200" b="0" i="1" u="none" strike="noStrike" cap="none" spc="0" normalizeH="0" baseline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FillTx/>
                  <a:sym typeface="Helvetica Neue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C756C47-2FDF-4805-5220-08067A55C4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31544" y="10860376"/>
                <a:ext cx="1049133" cy="49244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Connector: Elbow 31">
            <a:extLst>
              <a:ext uri="{FF2B5EF4-FFF2-40B4-BE49-F238E27FC236}">
                <a16:creationId xmlns:a16="http://schemas.microsoft.com/office/drawing/2014/main" id="{148C0FBF-B8F0-69A2-76D9-C6C15A6CF984}"/>
              </a:ext>
            </a:extLst>
          </p:cNvPr>
          <p:cNvCxnSpPr>
            <a:cxnSpLocks/>
          </p:cNvCxnSpPr>
          <p:nvPr/>
        </p:nvCxnSpPr>
        <p:spPr>
          <a:xfrm>
            <a:off x="7281404" y="10811134"/>
            <a:ext cx="1866456" cy="1695568"/>
          </a:xfrm>
          <a:prstGeom prst="bentConnector3">
            <a:avLst>
              <a:gd name="adj1" fmla="val 50000"/>
            </a:avLst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 w="lg" len="lg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04EB16CF-32DB-3C69-5476-99F150033930}"/>
                  </a:ext>
                </a:extLst>
              </p:cNvPr>
              <p:cNvSpPr txBox="1"/>
              <p:nvPr/>
            </p:nvSpPr>
            <p:spPr>
              <a:xfrm>
                <a:off x="4123297" y="5121056"/>
                <a:ext cx="2137059" cy="43088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GB" sz="2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𝑢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0" lang="en-GB" sz="2800" b="0" i="0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in</m:t>
                          </m:r>
                        </m:sub>
                      </m:sSub>
                      <m:r>
                        <a:rPr kumimoji="0" lang="en-GB" sz="2800" b="0" i="0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=2</m:t>
                      </m:r>
                      <m:r>
                        <m:rPr>
                          <m:sty m:val="p"/>
                        </m:rPr>
                        <a:rPr lang="en-US" sz="28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US" sz="280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p>
                          <m:r>
                            <a:rPr lang="en-US" sz="280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i="1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kumimoji="0" lang="en-GB" sz="2800" b="0" i="0" u="none" strike="noStrike" cap="none" spc="0" normalizeH="0" baseline="0">
                  <a:ln>
                    <a:noFill/>
                  </a:ln>
                  <a:solidFill>
                    <a:schemeClr val="tx1">
                      <a:lumMod val="50000"/>
                    </a:schemeClr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04EB16CF-32DB-3C69-5476-99F1500339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3297" y="5121056"/>
                <a:ext cx="2137059" cy="43088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2AE2ED4D-84F4-478A-0620-A2CEBADC8534}"/>
                  </a:ext>
                </a:extLst>
              </p:cNvPr>
              <p:cNvSpPr txBox="1"/>
              <p:nvPr/>
            </p:nvSpPr>
            <p:spPr>
              <a:xfrm>
                <a:off x="3924011" y="5710579"/>
                <a:ext cx="2622055" cy="46166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GB" sz="24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GB" sz="24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𝑐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0" lang="en-GB" sz="2400" b="0" i="0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in</m:t>
                          </m:r>
                        </m:sub>
                      </m:sSub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2AE2ED4D-84F4-478A-0620-A2CEBADC85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4011" y="5710579"/>
                <a:ext cx="2622055" cy="461665"/>
              </a:xfrm>
              <a:prstGeom prst="rect">
                <a:avLst/>
              </a:prstGeom>
              <a:blipFill>
                <a:blip r:embed="rId14"/>
                <a:stretch>
                  <a:fillRect b="-394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614D56C2-EF56-A297-2867-6B7A509F6DB0}"/>
                  </a:ext>
                </a:extLst>
              </p:cNvPr>
              <p:cNvSpPr txBox="1"/>
              <p:nvPr/>
            </p:nvSpPr>
            <p:spPr>
              <a:xfrm>
                <a:off x="391666" y="1619779"/>
                <a:ext cx="23276717" cy="206210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 algn="l"/>
                <a:r>
                  <a:rPr lang="en-GB" sz="3200">
                    <a:solidFill>
                      <a:schemeClr val="bg2">
                        <a:lumMod val="10000"/>
                      </a:schemeClr>
                    </a:solidFill>
                  </a:rPr>
                  <a:t>A fluid enters an empty unpacked pipe at a constant velocity of 2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sz="320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32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3200" b="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p>
                        <m:r>
                          <a:rPr lang="en-US" sz="320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32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GB" sz="3200">
                    <a:solidFill>
                      <a:schemeClr val="bg2">
                        <a:lumMod val="10000"/>
                      </a:schemeClr>
                    </a:solidFill>
                  </a:rPr>
                  <a:t>​. </a:t>
                </a:r>
                <a:r>
                  <a:rPr lang="en-US" sz="3200">
                    <a:solidFill>
                      <a:schemeClr val="bg2">
                        <a:lumMod val="10000"/>
                      </a:schemeClr>
                    </a:solidFill>
                  </a:rPr>
                  <a:t>The pipe length is 30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dirty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lang="en-US" sz="3200">
                    <a:solidFill>
                      <a:schemeClr val="bg2">
                        <a:lumMod val="10000"/>
                      </a:schemeClr>
                    </a:solidFill>
                  </a:rPr>
                  <a:t>. The solute is transported solely by advection (no diffusion or reaction). The inlet solute concentration increases linearly for t</a:t>
                </a:r>
                <a:r>
                  <a:rPr lang="en-GB" sz="3200">
                    <a:solidFill>
                      <a:schemeClr val="bg2">
                        <a:lumMod val="10000"/>
                      </a:schemeClr>
                    </a:solidFill>
                  </a:rPr>
                  <a:t>he first 5 seconds at a rate</a:t>
                </a:r>
              </a:p>
              <a:p>
                <a:pPr algn="l"/>
                <a14:m>
                  <m:oMath xmlns:m="http://schemas.openxmlformats.org/officeDocument/2006/math">
                    <m:r>
                      <a:rPr lang="en-US" sz="3200" b="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2 </m:t>
                    </m:r>
                    <m:r>
                      <m:rPr>
                        <m:sty m:val="p"/>
                      </m:rPr>
                      <a:rPr lang="en-US" sz="3200" b="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mol</m:t>
                    </m:r>
                    <m:r>
                      <a:rPr lang="en-US" sz="3200" b="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32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3200" b="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p>
                        <m:r>
                          <a:rPr lang="en-US" sz="3200" b="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−3</m:t>
                        </m:r>
                      </m:sup>
                    </m:sSup>
                    <m:r>
                      <a:rPr lang="en-US" sz="3200" b="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32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3200" b="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p>
                        <m:r>
                          <a:rPr lang="en-US" sz="3200" b="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3200" b="0">
                    <a:solidFill>
                      <a:schemeClr val="bg2">
                        <a:lumMod val="10000"/>
                      </a:schemeClr>
                    </a:solidFill>
                  </a:rPr>
                  <a:t>; after 5 seconds it remains constant.</a:t>
                </a:r>
              </a:p>
              <a:p>
                <a:pPr algn="l"/>
                <a:r>
                  <a:rPr lang="en-GB" sz="3200">
                    <a:solidFill>
                      <a:schemeClr val="tx1">
                        <a:lumMod val="50000"/>
                      </a:schemeClr>
                    </a:solidFill>
                  </a:rPr>
                  <a:t>Obtain the concentration distribution over time.  </a:t>
                </a: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614D56C2-EF56-A297-2867-6B7A509F6D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666" y="1619779"/>
                <a:ext cx="23276717" cy="2062103"/>
              </a:xfrm>
              <a:prstGeom prst="rect">
                <a:avLst/>
              </a:prstGeom>
              <a:blipFill>
                <a:blip r:embed="rId15"/>
                <a:stretch>
                  <a:fillRect l="-655" t="-3846" r="-759" b="-8876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03E958E-BF33-BD96-DCF9-F00E651B68B6}"/>
                  </a:ext>
                </a:extLst>
              </p:cNvPr>
              <p:cNvSpPr txBox="1"/>
              <p:nvPr/>
            </p:nvSpPr>
            <p:spPr>
              <a:xfrm>
                <a:off x="9289547" y="9176836"/>
                <a:ext cx="4681485" cy="58477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32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GB" sz="320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03E958E-BF33-BD96-DCF9-F00E651B68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9547" y="9176836"/>
                <a:ext cx="4681485" cy="58477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 descr="\documentclass{article}&#10;\usepackage{amsmath}&#10;\pagestyle{empty}&#10;\begin{document}&#10;\begin{equation}&#10;\frac{\partial c}{\partial t}=-v\frac{\partial c}{\partial x}&#10;\nonumber&#10;\end{equation}&#10;&#10;\end{document}" title="IguanaTex Bitmap Display">
            <a:extLst>
              <a:ext uri="{FF2B5EF4-FFF2-40B4-BE49-F238E27FC236}">
                <a16:creationId xmlns:a16="http://schemas.microsoft.com/office/drawing/2014/main" id="{ABBD19E9-5202-D85C-01CC-41997FC679D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9365" y="7604424"/>
            <a:ext cx="2043124" cy="850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383770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C8E11-F905-2A2C-2117-F3B40F804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">
            <a:extLst>
              <a:ext uri="{FF2B5EF4-FFF2-40B4-BE49-F238E27FC236}">
                <a16:creationId xmlns:a16="http://schemas.microsoft.com/office/drawing/2014/main" id="{1E3C1777-8CFD-BE2E-E18E-571AD1652887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23805849" y="13272486"/>
            <a:ext cx="230832" cy="379591"/>
          </a:xfrm>
          <a:prstGeom prst="rect">
            <a:avLst/>
          </a:prstGeom>
        </p:spPr>
        <p:txBody>
          <a:bodyPr/>
          <a:lstStyle/>
          <a:p>
            <a:r>
              <a:rPr lang="en-GB"/>
              <a:t>3</a:t>
            </a:r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E8FE957-2DD4-82FB-6F2A-5B29FD887BD2}"/>
              </a:ext>
            </a:extLst>
          </p:cNvPr>
          <p:cNvSpPr txBox="1"/>
          <p:nvPr/>
        </p:nvSpPr>
        <p:spPr>
          <a:xfrm>
            <a:off x="4539565" y="9311003"/>
            <a:ext cx="102656" cy="8412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394024C-AEAB-827F-F971-E7EE23531F7F}"/>
              </a:ext>
            </a:extLst>
          </p:cNvPr>
          <p:cNvSpPr/>
          <p:nvPr/>
        </p:nvSpPr>
        <p:spPr>
          <a:xfrm>
            <a:off x="6494858" y="4584298"/>
            <a:ext cx="11931295" cy="2737681"/>
          </a:xfrm>
          <a:prstGeom prst="rect">
            <a:avLst/>
          </a:prstGeom>
          <a:noFill/>
          <a:ln w="57150" cap="flat">
            <a:solidFill>
              <a:schemeClr val="bg2">
                <a:lumMod val="1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A8D0074-E46E-B385-1EC7-D0E2B7A8079E}"/>
              </a:ext>
            </a:extLst>
          </p:cNvPr>
          <p:cNvCxnSpPr>
            <a:cxnSpLocks/>
          </p:cNvCxnSpPr>
          <p:nvPr/>
        </p:nvCxnSpPr>
        <p:spPr>
          <a:xfrm>
            <a:off x="4032211" y="6330881"/>
            <a:ext cx="2405656" cy="0"/>
          </a:xfrm>
          <a:prstGeom prst="straightConnector1">
            <a:avLst/>
          </a:prstGeom>
          <a:noFill/>
          <a:ln w="5715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0A0EB5B-CFDE-0883-6096-6C4BC859C47D}"/>
              </a:ext>
            </a:extLst>
          </p:cNvPr>
          <p:cNvCxnSpPr>
            <a:cxnSpLocks/>
          </p:cNvCxnSpPr>
          <p:nvPr/>
        </p:nvCxnSpPr>
        <p:spPr>
          <a:xfrm>
            <a:off x="18426153" y="6319714"/>
            <a:ext cx="2405656" cy="0"/>
          </a:xfrm>
          <a:prstGeom prst="straightConnector1">
            <a:avLst/>
          </a:prstGeom>
          <a:noFill/>
          <a:ln w="5715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A22F78C-E738-2A87-83CA-C7A748C0F311}"/>
              </a:ext>
            </a:extLst>
          </p:cNvPr>
          <p:cNvCxnSpPr>
            <a:cxnSpLocks/>
          </p:cNvCxnSpPr>
          <p:nvPr/>
        </p:nvCxnSpPr>
        <p:spPr>
          <a:xfrm>
            <a:off x="6510850" y="4334406"/>
            <a:ext cx="1191530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E7D73E6-AA5F-7AC4-0E09-44B1E8B5AF4C}"/>
                  </a:ext>
                </a:extLst>
              </p:cNvPr>
              <p:cNvSpPr txBox="1"/>
              <p:nvPr/>
            </p:nvSpPr>
            <p:spPr>
              <a:xfrm>
                <a:off x="11704116" y="3740986"/>
                <a:ext cx="1548373" cy="43088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GB" sz="2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5E5E5E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𝐿</m:t>
                      </m:r>
                      <m:r>
                        <a:rPr kumimoji="0" lang="en-GB" sz="2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5E5E5E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=30 </m:t>
                      </m:r>
                      <m:r>
                        <a:rPr kumimoji="0" lang="en-GB" sz="2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5E5E5E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𝑚</m:t>
                      </m:r>
                    </m:oMath>
                  </m:oMathPara>
                </a14:m>
                <a:endParaRPr kumimoji="0" lang="en-GB" sz="28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E7D73E6-AA5F-7AC4-0E09-44B1E8B5AF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04116" y="3740986"/>
                <a:ext cx="1548373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AF4592DB-FE05-3B6F-A680-5438F62F68F4}"/>
              </a:ext>
            </a:extLst>
          </p:cNvPr>
          <p:cNvSpPr txBox="1"/>
          <p:nvPr/>
        </p:nvSpPr>
        <p:spPr>
          <a:xfrm>
            <a:off x="11136850" y="7507871"/>
            <a:ext cx="576000" cy="1044000"/>
          </a:xfrm>
          <a:prstGeom prst="rect">
            <a:avLst/>
          </a:prstGeom>
          <a:solidFill>
            <a:schemeClr val="accent5">
              <a:lumMod val="75000"/>
              <a:alpha val="32157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25540C6-4477-F1AB-F01D-A633E26A85A9}"/>
                  </a:ext>
                </a:extLst>
              </p:cNvPr>
              <p:cNvSpPr txBox="1"/>
              <p:nvPr/>
            </p:nvSpPr>
            <p:spPr>
              <a:xfrm>
                <a:off x="14988631" y="9294538"/>
                <a:ext cx="4669740" cy="12002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sz="3200" i="1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320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3200" b="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num>
                                <m:den>
                                  <m:r>
                                    <a:rPr lang="en-US" sz="320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3200" b="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32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32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2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32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</m:sSub>
                      <m:r>
                        <a:rPr lang="en-US" sz="3200" i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i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2 </m:t>
                      </m:r>
                      <m:r>
                        <m:rPr>
                          <m:sty m:val="p"/>
                        </m:rPr>
                        <a:rPr lang="en-US" sz="3200" i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mol</m:t>
                      </m:r>
                      <m:r>
                        <a:rPr lang="en-US" sz="3200" i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3200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3200" i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p>
                          <m:r>
                            <a:rPr lang="en-US" sz="3200" i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−3</m:t>
                          </m:r>
                        </m:sup>
                      </m:sSup>
                      <m:r>
                        <a:rPr lang="en-US" sz="3200" i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3200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3200" i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p>
                          <m:r>
                            <a:rPr lang="en-US" sz="3200" i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GB" sz="3200" b="0" i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kumimoji="0" lang="en-GB" sz="3200" b="0" u="none" strike="noStrike" cap="none" spc="0" normalizeH="0" baseline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FillTx/>
                  <a:sym typeface="Helvetica Neue"/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25540C6-4477-F1AB-F01D-A633E26A85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88631" y="9294538"/>
                <a:ext cx="4669740" cy="12002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A6DA7F1-403A-6DBD-7CB3-050322733502}"/>
                  </a:ext>
                </a:extLst>
              </p:cNvPr>
              <p:cNvSpPr txBox="1"/>
              <p:nvPr/>
            </p:nvSpPr>
            <p:spPr>
              <a:xfrm>
                <a:off x="15020274" y="11988190"/>
                <a:ext cx="2256002" cy="12002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GB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Neue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GB" sz="3200" i="1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sz="3200" i="1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3200" i="1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GB" sz="3200" i="1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num>
                                <m:den>
                                  <m:r>
                                    <a:rPr lang="en-GB" sz="3200" i="1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GB" sz="3200" b="0" i="1" smtClean="0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kumimoji="0" lang="en-GB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Neue"/>
                            </a:rPr>
                            <m:t>𝑡</m:t>
                          </m:r>
                          <m:r>
                            <a:rPr kumimoji="0" lang="en-GB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Neue"/>
                            </a:rPr>
                            <m:t>,</m:t>
                          </m:r>
                          <m:r>
                            <a:rPr kumimoji="0" lang="en-GB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Neue"/>
                            </a:rPr>
                            <m:t>𝑥</m:t>
                          </m:r>
                          <m:r>
                            <a:rPr kumimoji="0" lang="en-GB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Neue"/>
                            </a:rPr>
                            <m:t>=</m:t>
                          </m:r>
                          <m:r>
                            <a:rPr kumimoji="0" lang="en-GB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Neue"/>
                            </a:rPr>
                            <m:t>𝐿</m:t>
                          </m:r>
                        </m:sub>
                      </m:sSub>
                      <m:r>
                        <a:rPr kumimoji="0" lang="en-GB" sz="32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sym typeface="Helvetica Neue"/>
                        </a:rPr>
                        <m:t>=0</m:t>
                      </m:r>
                    </m:oMath>
                  </m:oMathPara>
                </a14:m>
                <a:endParaRPr kumimoji="0" lang="en-GB" sz="3200" b="0" i="1" u="none" strike="noStrike" cap="none" spc="0" normalizeH="0" baseline="0">
                  <a:ln>
                    <a:noFill/>
                  </a:ln>
                  <a:solidFill>
                    <a:schemeClr val="tx1">
                      <a:lumMod val="50000"/>
                    </a:schemeClr>
                  </a:solidFill>
                  <a:effectLst/>
                  <a:uFillTx/>
                  <a:sym typeface="Helvetica Neue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A6DA7F1-403A-6DBD-7CB3-0503227335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20274" y="11988190"/>
                <a:ext cx="2256002" cy="1200200"/>
              </a:xfrm>
              <a:prstGeom prst="rect">
                <a:avLst/>
              </a:prstGeom>
              <a:blipFill>
                <a:blip r:embed="rId6"/>
                <a:stretch>
                  <a:fillRect b="-510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280B9CD2-94AC-B4ED-4A3D-BFA404AD2A7C}"/>
              </a:ext>
            </a:extLst>
          </p:cNvPr>
          <p:cNvSpPr txBox="1"/>
          <p:nvPr/>
        </p:nvSpPr>
        <p:spPr>
          <a:xfrm>
            <a:off x="9377805" y="9844153"/>
            <a:ext cx="4451540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3200" b="0" i="0" u="none" strike="noStrike" cap="none" spc="0" normalizeH="0" baseline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Inlet boundary condition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390F158-B5D6-2BB2-A265-2CCF9B59A850}"/>
              </a:ext>
            </a:extLst>
          </p:cNvPr>
          <p:cNvSpPr txBox="1"/>
          <p:nvPr/>
        </p:nvSpPr>
        <p:spPr>
          <a:xfrm>
            <a:off x="9218306" y="12209185"/>
            <a:ext cx="4770538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3200" b="0" i="0" u="none" strike="noStrike" cap="none" spc="0" normalizeH="0" baseline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Outlet boundary condition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D843765-1373-9F43-C6E4-2E631F7F751D}"/>
              </a:ext>
            </a:extLst>
          </p:cNvPr>
          <p:cNvGrpSpPr/>
          <p:nvPr/>
        </p:nvGrpSpPr>
        <p:grpSpPr>
          <a:xfrm>
            <a:off x="3218297" y="10474381"/>
            <a:ext cx="4040663" cy="673506"/>
            <a:chOff x="3218297" y="10474381"/>
            <a:chExt cx="4040663" cy="673506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803BAC65-5BAB-8AE5-4C3D-14495639E829}"/>
                </a:ext>
              </a:extLst>
            </p:cNvPr>
            <p:cNvSpPr txBox="1"/>
            <p:nvPr/>
          </p:nvSpPr>
          <p:spPr>
            <a:xfrm>
              <a:off x="3218297" y="10474381"/>
              <a:ext cx="4040663" cy="673506"/>
            </a:xfrm>
            <a:prstGeom prst="rect">
              <a:avLst/>
            </a:prstGeom>
            <a:solidFill>
              <a:srgbClr val="92D050">
                <a:alpha val="32157"/>
              </a:srgb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88F68B75-9C05-90FA-D343-9F35AA488F80}"/>
                </a:ext>
              </a:extLst>
            </p:cNvPr>
            <p:cNvSpPr txBox="1"/>
            <p:nvPr/>
          </p:nvSpPr>
          <p:spPr>
            <a:xfrm>
              <a:off x="3218297" y="10513617"/>
              <a:ext cx="4040663" cy="59503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GB" sz="3200" b="0" i="0" u="none" strike="noStrike" cap="none" spc="0" normalizeH="0" baseline="0">
                  <a:ln>
                    <a:noFill/>
                  </a:ln>
                  <a:solidFill>
                    <a:schemeClr val="tx1">
                      <a:lumMod val="50000"/>
                    </a:schemeClr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Boundary conditions</a:t>
              </a:r>
            </a:p>
          </p:txBody>
        </p:sp>
      </p:grpSp>
      <p:cxnSp>
        <p:nvCxnSpPr>
          <p:cNvPr id="45" name="Connector: Elbow 31">
            <a:extLst>
              <a:ext uri="{FF2B5EF4-FFF2-40B4-BE49-F238E27FC236}">
                <a16:creationId xmlns:a16="http://schemas.microsoft.com/office/drawing/2014/main" id="{BC58ABC7-EEFF-C75F-07B2-F0088FC7117A}"/>
              </a:ext>
            </a:extLst>
          </p:cNvPr>
          <p:cNvCxnSpPr>
            <a:cxnSpLocks/>
          </p:cNvCxnSpPr>
          <p:nvPr/>
        </p:nvCxnSpPr>
        <p:spPr>
          <a:xfrm flipV="1">
            <a:off x="7258960" y="10152259"/>
            <a:ext cx="1888900" cy="658875"/>
          </a:xfrm>
          <a:prstGeom prst="bentConnector3">
            <a:avLst>
              <a:gd name="adj1" fmla="val 50000"/>
            </a:avLst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 w="lg" len="lg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87D1AF1-3D0E-7267-45C8-04CC3EC8BF19}"/>
              </a:ext>
            </a:extLst>
          </p:cNvPr>
          <p:cNvCxnSpPr>
            <a:cxnSpLocks/>
          </p:cNvCxnSpPr>
          <p:nvPr/>
        </p:nvCxnSpPr>
        <p:spPr>
          <a:xfrm>
            <a:off x="14113335" y="12574089"/>
            <a:ext cx="736006" cy="0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 w="lg" len="lg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8AF3DCC7-17C5-7C08-7E44-2066F51E9186}"/>
              </a:ext>
            </a:extLst>
          </p:cNvPr>
          <p:cNvSpPr/>
          <p:nvPr/>
        </p:nvSpPr>
        <p:spPr>
          <a:xfrm>
            <a:off x="3888795" y="246197"/>
            <a:ext cx="10649069" cy="923330"/>
          </a:xfrm>
          <a:prstGeom prst="rect">
            <a:avLst/>
          </a:prstGeom>
        </p:spPr>
        <p:txBody>
          <a:bodyPr wrap="none">
            <a:spAutoFit/>
          </a:bodyPr>
          <a:lstStyle>
            <a:defPPr marL="0" marR="0" indent="0" algn="l" defTabSz="18288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1pPr>
            <a:lvl2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2pPr>
            <a:lvl3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3pPr>
            <a:lvl4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4pPr>
            <a:lvl5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5pPr>
            <a:lvl6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6pPr>
            <a:lvl7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7pPr>
            <a:lvl8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8pPr>
            <a:lvl9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9pPr>
          </a:lstStyle>
          <a:p>
            <a:r>
              <a:rPr lang="en-US" sz="5400" b="1">
                <a:solidFill>
                  <a:srgbClr val="EAEAEA"/>
                </a:solidFill>
              </a:rPr>
              <a:t>Initial and Boundary Conditions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0645A1C-0A24-8AA3-0299-25849E0B0B8A}"/>
              </a:ext>
            </a:extLst>
          </p:cNvPr>
          <p:cNvSpPr/>
          <p:nvPr/>
        </p:nvSpPr>
        <p:spPr>
          <a:xfrm rot="-10800000" flipV="1">
            <a:off x="9853404" y="13283356"/>
            <a:ext cx="4628055" cy="379591"/>
          </a:xfrm>
          <a:prstGeom prst="rect">
            <a:avLst/>
          </a:prstGeom>
          <a:solidFill>
            <a:srgbClr val="8B79A6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n-US" sz="1800"/>
              <a:t>Workshop on Numerical Simulation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043FB151-1EFA-84D0-C570-585103BA5256}"/>
                  </a:ext>
                </a:extLst>
              </p:cNvPr>
              <p:cNvSpPr txBox="1"/>
              <p:nvPr/>
            </p:nvSpPr>
            <p:spPr>
              <a:xfrm>
                <a:off x="18757813" y="5336500"/>
                <a:ext cx="685610" cy="43088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GB" sz="2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highlight>
                                <a:srgbClr val="FFFF00"/>
                              </a:highlight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GB" sz="2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highlight>
                                <a:srgbClr val="FFFF00"/>
                              </a:highlight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𝑐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0" lang="en-GB" sz="2800" b="0" i="0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highlight>
                                <a:srgbClr val="FFFF00"/>
                              </a:highlight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out</m:t>
                          </m:r>
                        </m:sub>
                      </m:sSub>
                    </m:oMath>
                  </m:oMathPara>
                </a14:m>
                <a:endParaRPr kumimoji="0" lang="en-GB" sz="2800" b="0" i="0" u="none" strike="noStrike" cap="none" spc="0" normalizeH="0" baseline="0">
                  <a:ln>
                    <a:noFill/>
                  </a:ln>
                  <a:solidFill>
                    <a:schemeClr val="tx1">
                      <a:lumMod val="50000"/>
                    </a:schemeClr>
                  </a:solidFill>
                  <a:effectLst/>
                  <a:highlight>
                    <a:srgbClr val="FFFF00"/>
                  </a:highlight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043FB151-1EFA-84D0-C570-585103BA52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57813" y="5336500"/>
                <a:ext cx="685610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" name="Rectangle 70">
            <a:extLst>
              <a:ext uri="{FF2B5EF4-FFF2-40B4-BE49-F238E27FC236}">
                <a16:creationId xmlns:a16="http://schemas.microsoft.com/office/drawing/2014/main" id="{33F5E552-3159-6C3B-2AA9-4FA188F2A5E0}"/>
              </a:ext>
            </a:extLst>
          </p:cNvPr>
          <p:cNvSpPr/>
          <p:nvPr/>
        </p:nvSpPr>
        <p:spPr>
          <a:xfrm rot="-10800000" flipV="1">
            <a:off x="457612" y="13283975"/>
            <a:ext cx="4628055" cy="379591"/>
          </a:xfrm>
          <a:prstGeom prst="rect">
            <a:avLst/>
          </a:prstGeom>
          <a:solidFill>
            <a:srgbClr val="5C2A7A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/>
            <a:r>
              <a:rPr lang="en-GB" sz="1800">
                <a:solidFill>
                  <a:srgbClr val="9E79A6"/>
                </a:solidFill>
                <a:latin typeface="Helvetica Neue"/>
              </a:rPr>
              <a:t>KR and MA</a:t>
            </a:r>
            <a:endParaRPr lang="en-US" sz="18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9BA6F3-36D7-3D4B-E832-5D90DA453BCD}"/>
              </a:ext>
            </a:extLst>
          </p:cNvPr>
          <p:cNvSpPr txBox="1"/>
          <p:nvPr/>
        </p:nvSpPr>
        <p:spPr>
          <a:xfrm>
            <a:off x="19443423" y="12081537"/>
            <a:ext cx="4674510" cy="10874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Outlet concentration is the same as the last cell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73D0482-A061-1D4E-122E-484C161DF3D6}"/>
              </a:ext>
            </a:extLst>
          </p:cNvPr>
          <p:cNvSpPr txBox="1"/>
          <p:nvPr/>
        </p:nvSpPr>
        <p:spPr>
          <a:xfrm>
            <a:off x="3510355" y="1657401"/>
            <a:ext cx="1161602" cy="580169"/>
          </a:xfrm>
          <a:prstGeom prst="rect">
            <a:avLst/>
          </a:prstGeom>
          <a:solidFill>
            <a:schemeClr val="accent5">
              <a:lumMod val="75000"/>
              <a:alpha val="32157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C93C271-1339-261D-E247-11E15C811FE7}"/>
              </a:ext>
            </a:extLst>
          </p:cNvPr>
          <p:cNvSpPr txBox="1"/>
          <p:nvPr/>
        </p:nvSpPr>
        <p:spPr>
          <a:xfrm>
            <a:off x="8274694" y="2105865"/>
            <a:ext cx="4523093" cy="733100"/>
          </a:xfrm>
          <a:prstGeom prst="rect">
            <a:avLst/>
          </a:prstGeom>
          <a:solidFill>
            <a:srgbClr val="92D050">
              <a:alpha val="32157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A3C0832-17B1-710D-6799-0BF1D313F34E}"/>
              </a:ext>
            </a:extLst>
          </p:cNvPr>
          <p:cNvSpPr txBox="1"/>
          <p:nvPr/>
        </p:nvSpPr>
        <p:spPr>
          <a:xfrm>
            <a:off x="4671957" y="8062111"/>
            <a:ext cx="102656" cy="8412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254227B-6178-2EDF-3541-8B6A67265A91}"/>
              </a:ext>
            </a:extLst>
          </p:cNvPr>
          <p:cNvSpPr txBox="1"/>
          <p:nvPr/>
        </p:nvSpPr>
        <p:spPr>
          <a:xfrm>
            <a:off x="8467919" y="8659582"/>
            <a:ext cx="7093288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3200" b="0" i="0" u="none" strike="noStrike" cap="none" spc="0" normalizeH="0" baseline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Initial state of concentration in the pipe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FDB1B9B-61E2-B995-BC87-F611EC61E2DA}"/>
              </a:ext>
            </a:extLst>
          </p:cNvPr>
          <p:cNvGrpSpPr/>
          <p:nvPr/>
        </p:nvGrpSpPr>
        <p:grpSpPr>
          <a:xfrm>
            <a:off x="3452757" y="8619661"/>
            <a:ext cx="3571743" cy="674877"/>
            <a:chOff x="3599976" y="8619661"/>
            <a:chExt cx="3571743" cy="674877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F422B822-2CC4-38DD-1DF5-FB94A7134AC0}"/>
                </a:ext>
              </a:extLst>
            </p:cNvPr>
            <p:cNvSpPr txBox="1"/>
            <p:nvPr/>
          </p:nvSpPr>
          <p:spPr>
            <a:xfrm>
              <a:off x="3599976" y="8619661"/>
              <a:ext cx="3571743" cy="674877"/>
            </a:xfrm>
            <a:prstGeom prst="rect">
              <a:avLst/>
            </a:prstGeom>
            <a:solidFill>
              <a:schemeClr val="accent5">
                <a:lumMod val="75000"/>
                <a:alpha val="32157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BE315863-0F80-0951-2464-F475E6A121D5}"/>
                </a:ext>
              </a:extLst>
            </p:cNvPr>
            <p:cNvSpPr txBox="1"/>
            <p:nvPr/>
          </p:nvSpPr>
          <p:spPr>
            <a:xfrm>
              <a:off x="3612568" y="8659582"/>
              <a:ext cx="3546558" cy="59503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GB" sz="3200" b="0" i="0" u="none" strike="noStrike" cap="none" spc="0" normalizeH="0" baseline="0">
                  <a:ln>
                    <a:noFill/>
                  </a:ln>
                  <a:solidFill>
                    <a:schemeClr val="tx1">
                      <a:lumMod val="50000"/>
                    </a:schemeClr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Initial condition</a:t>
              </a:r>
            </a:p>
          </p:txBody>
        </p:sp>
      </p:grp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F2B60327-3653-AD2D-377C-24E8D91861B0}"/>
              </a:ext>
            </a:extLst>
          </p:cNvPr>
          <p:cNvCxnSpPr>
            <a:cxnSpLocks/>
            <a:stCxn id="73" idx="3"/>
          </p:cNvCxnSpPr>
          <p:nvPr/>
        </p:nvCxnSpPr>
        <p:spPr>
          <a:xfrm>
            <a:off x="7011907" y="8957100"/>
            <a:ext cx="1332903" cy="8442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 w="lg" len="lg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E33C8FA4-0C96-D620-8490-AF6CB00431E1}"/>
              </a:ext>
            </a:extLst>
          </p:cNvPr>
          <p:cNvCxnSpPr>
            <a:cxnSpLocks/>
          </p:cNvCxnSpPr>
          <p:nvPr/>
        </p:nvCxnSpPr>
        <p:spPr>
          <a:xfrm>
            <a:off x="15828128" y="8957099"/>
            <a:ext cx="1085850" cy="0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0583EDEA-6920-7E06-DB25-EB8B7F6BADB4}"/>
                  </a:ext>
                </a:extLst>
              </p:cNvPr>
              <p:cNvSpPr txBox="1"/>
              <p:nvPr/>
            </p:nvSpPr>
            <p:spPr>
              <a:xfrm>
                <a:off x="17261431" y="8710878"/>
                <a:ext cx="4628768" cy="49244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GB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GB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𝑐</m:t>
                          </m:r>
                          <m:r>
                            <a:rPr kumimoji="0" lang="en-GB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(</m:t>
                          </m:r>
                          <m:r>
                            <a:rPr kumimoji="0" lang="en-GB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𝑡</m:t>
                          </m:r>
                          <m:r>
                            <a:rPr kumimoji="0" lang="en-GB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=0,</m:t>
                          </m:r>
                          <m:r>
                            <a:rPr kumimoji="0" lang="en-GB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𝑥</m:t>
                          </m:r>
                          <m:r>
                            <a:rPr kumimoji="0" lang="en-GB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)</m:t>
                          </m:r>
                        </m:e>
                        <m:sub/>
                      </m:sSub>
                      <m:r>
                        <a:rPr kumimoji="0" lang="en-GB" sz="32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=0</m:t>
                      </m:r>
                      <m:r>
                        <a:rPr kumimoji="0" lang="en-US" sz="32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320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mol</m:t>
                      </m:r>
                      <m:r>
                        <a:rPr lang="en-US" sz="320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3200" i="1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320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p>
                          <m:r>
                            <a:rPr lang="en-US" sz="320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−3</m:t>
                          </m:r>
                        </m:sup>
                      </m:sSup>
                    </m:oMath>
                  </m:oMathPara>
                </a14:m>
                <a:endParaRPr kumimoji="0" lang="en-GB" sz="3200" b="0" i="0" u="none" strike="noStrike" cap="none" spc="0" normalizeH="0" baseline="0">
                  <a:ln>
                    <a:noFill/>
                  </a:ln>
                  <a:solidFill>
                    <a:schemeClr val="tx1">
                      <a:lumMod val="50000"/>
                    </a:schemeClr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0583EDEA-6920-7E06-DB25-EB8B7F6BAD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61431" y="8710878"/>
                <a:ext cx="4628768" cy="4924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TextBox 77">
            <a:extLst>
              <a:ext uri="{FF2B5EF4-FFF2-40B4-BE49-F238E27FC236}">
                <a16:creationId xmlns:a16="http://schemas.microsoft.com/office/drawing/2014/main" id="{7D7DB7CE-0DA7-EBBD-FA34-2871614DD79F}"/>
              </a:ext>
            </a:extLst>
          </p:cNvPr>
          <p:cNvSpPr txBox="1"/>
          <p:nvPr/>
        </p:nvSpPr>
        <p:spPr>
          <a:xfrm>
            <a:off x="12739013" y="7507871"/>
            <a:ext cx="576000" cy="1044000"/>
          </a:xfrm>
          <a:prstGeom prst="rect">
            <a:avLst/>
          </a:prstGeom>
          <a:solidFill>
            <a:srgbClr val="92D050">
              <a:alpha val="32157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8AC30FA4-F392-F824-AF4D-4B327206343B}"/>
              </a:ext>
            </a:extLst>
          </p:cNvPr>
          <p:cNvSpPr/>
          <p:nvPr/>
        </p:nvSpPr>
        <p:spPr>
          <a:xfrm rot="-10800000" flipV="1">
            <a:off x="19138012" y="13283101"/>
            <a:ext cx="4628055" cy="379591"/>
          </a:xfrm>
          <a:prstGeom prst="rect">
            <a:avLst/>
          </a:prstGeom>
          <a:solidFill>
            <a:srgbClr val="5C2A7A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/>
            <a:r>
              <a:rPr lang="en-GB" sz="1800">
                <a:solidFill>
                  <a:srgbClr val="9E79A6"/>
                </a:solidFill>
                <a:latin typeface="Helvetica Neue"/>
              </a:rPr>
              <a:t>22/10/2025</a:t>
            </a:r>
            <a:endParaRPr lang="en-US" sz="1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3C2A691-28BD-57F2-72E0-2E444DD6AF8C}"/>
                  </a:ext>
                </a:extLst>
              </p:cNvPr>
              <p:cNvSpPr txBox="1"/>
              <p:nvPr/>
            </p:nvSpPr>
            <p:spPr>
              <a:xfrm>
                <a:off x="9262833" y="10351147"/>
                <a:ext cx="4681485" cy="58477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2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GB" sz="320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3C2A691-28BD-57F2-72E0-2E444DD6AF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2833" y="10351147"/>
                <a:ext cx="4681485" cy="584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078F159-B6D8-499F-F46F-09102EEE10E2}"/>
                  </a:ext>
                </a:extLst>
              </p:cNvPr>
              <p:cNvSpPr txBox="1"/>
              <p:nvPr/>
            </p:nvSpPr>
            <p:spPr>
              <a:xfrm>
                <a:off x="9289547" y="12597712"/>
                <a:ext cx="4628056" cy="58477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2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2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GB" sz="320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078F159-B6D8-499F-F46F-09102EEE10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9547" y="12597712"/>
                <a:ext cx="4628056" cy="58477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Left Brace 10">
            <a:extLst>
              <a:ext uri="{FF2B5EF4-FFF2-40B4-BE49-F238E27FC236}">
                <a16:creationId xmlns:a16="http://schemas.microsoft.com/office/drawing/2014/main" id="{AE07DB67-E583-412A-9966-B09DC6C05417}"/>
              </a:ext>
            </a:extLst>
          </p:cNvPr>
          <p:cNvSpPr/>
          <p:nvPr/>
        </p:nvSpPr>
        <p:spPr>
          <a:xfrm>
            <a:off x="14367580" y="9362329"/>
            <a:ext cx="729282" cy="2446696"/>
          </a:xfrm>
          <a:prstGeom prst="leftBrace">
            <a:avLst>
              <a:gd name="adj1" fmla="val 8333"/>
              <a:gd name="adj2" fmla="val 34162"/>
            </a:avLst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5981ADE-60AF-AD05-584D-B54B48C71408}"/>
                  </a:ext>
                </a:extLst>
              </p:cNvPr>
              <p:cNvSpPr txBox="1"/>
              <p:nvPr/>
            </p:nvSpPr>
            <p:spPr>
              <a:xfrm>
                <a:off x="15020274" y="10614704"/>
                <a:ext cx="4555541" cy="12002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sz="3200" i="1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320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3200" b="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num>
                                <m:den>
                                  <m:r>
                                    <a:rPr lang="en-US" sz="320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3200" b="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32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32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2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32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</m:sSub>
                      <m:r>
                        <a:rPr lang="en-US" sz="3200" i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2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3200" i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3200" i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mol</m:t>
                      </m:r>
                      <m:r>
                        <a:rPr lang="en-US" sz="3200" i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3200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3200" i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p>
                          <m:r>
                            <a:rPr lang="en-US" sz="3200" i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−3</m:t>
                          </m:r>
                        </m:sup>
                      </m:sSup>
                      <m:r>
                        <a:rPr lang="en-US" sz="3200" i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3200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3200" i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p>
                          <m:r>
                            <a:rPr lang="en-US" sz="3200" i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kumimoji="0" lang="en-GB" sz="3200" b="0" u="none" strike="noStrike" cap="none" spc="0" normalizeH="0" baseline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FillTx/>
                  <a:sym typeface="Helvetica Neue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5981ADE-60AF-AD05-584D-B54B48C714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20274" y="10614704"/>
                <a:ext cx="4555541" cy="12002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5F25B0D-D783-3C78-2009-E7C5A91B0575}"/>
                  </a:ext>
                </a:extLst>
              </p:cNvPr>
              <p:cNvSpPr txBox="1"/>
              <p:nvPr/>
            </p:nvSpPr>
            <p:spPr>
              <a:xfrm>
                <a:off x="20731545" y="9537728"/>
                <a:ext cx="1049133" cy="49244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GB" sz="32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𝑡</m:t>
                      </m:r>
                      <m:r>
                        <a:rPr kumimoji="0" lang="en-GB" sz="32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&lt;5</m:t>
                      </m:r>
                    </m:oMath>
                  </m:oMathPara>
                </a14:m>
                <a:endParaRPr kumimoji="0" lang="en-GB" sz="3200" b="0" i="1" u="none" strike="noStrike" cap="none" spc="0" normalizeH="0" baseline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5F25B0D-D783-3C78-2009-E7C5A91B05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31545" y="9537728"/>
                <a:ext cx="1049133" cy="49244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A056E95-02F6-6146-025E-1DD8FF5DD42B}"/>
                  </a:ext>
                </a:extLst>
              </p:cNvPr>
              <p:cNvSpPr txBox="1"/>
              <p:nvPr/>
            </p:nvSpPr>
            <p:spPr>
              <a:xfrm>
                <a:off x="20731544" y="10860376"/>
                <a:ext cx="1049133" cy="49244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GB" sz="32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sym typeface="Helvetica Neue"/>
                        </a:rPr>
                        <m:t>𝑡</m:t>
                      </m:r>
                      <m:r>
                        <a:rPr kumimoji="0" lang="en-GB" sz="32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Helvetica Neue"/>
                        </a:rPr>
                        <m:t>≥</m:t>
                      </m:r>
                      <m:r>
                        <a:rPr kumimoji="0" lang="en-GB" sz="32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sym typeface="Helvetica Neue"/>
                        </a:rPr>
                        <m:t>5</m:t>
                      </m:r>
                    </m:oMath>
                  </m:oMathPara>
                </a14:m>
                <a:endParaRPr kumimoji="0" lang="en-GB" sz="3200" b="0" i="1" u="none" strike="noStrike" cap="none" spc="0" normalizeH="0" baseline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FillTx/>
                  <a:sym typeface="Helvetica Neue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A056E95-02F6-6146-025E-1DD8FF5DD4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31544" y="10860376"/>
                <a:ext cx="1049133" cy="49244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Connector: Elbow 31">
            <a:extLst>
              <a:ext uri="{FF2B5EF4-FFF2-40B4-BE49-F238E27FC236}">
                <a16:creationId xmlns:a16="http://schemas.microsoft.com/office/drawing/2014/main" id="{BD75963D-8355-7F0F-E5A5-5617497E2451}"/>
              </a:ext>
            </a:extLst>
          </p:cNvPr>
          <p:cNvCxnSpPr>
            <a:cxnSpLocks/>
          </p:cNvCxnSpPr>
          <p:nvPr/>
        </p:nvCxnSpPr>
        <p:spPr>
          <a:xfrm>
            <a:off x="7281404" y="10811134"/>
            <a:ext cx="1866456" cy="1695568"/>
          </a:xfrm>
          <a:prstGeom prst="bentConnector3">
            <a:avLst>
              <a:gd name="adj1" fmla="val 50000"/>
            </a:avLst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 w="lg" len="lg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A029FC9-4111-7A61-69C6-CA15E8C509FD}"/>
                  </a:ext>
                </a:extLst>
              </p:cNvPr>
              <p:cNvSpPr txBox="1"/>
              <p:nvPr/>
            </p:nvSpPr>
            <p:spPr>
              <a:xfrm>
                <a:off x="4123297" y="5121056"/>
                <a:ext cx="2137059" cy="43088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GB" sz="2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𝑢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0" lang="en-GB" sz="2800" b="0" i="0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in</m:t>
                          </m:r>
                        </m:sub>
                      </m:sSub>
                      <m:r>
                        <a:rPr kumimoji="0" lang="en-GB" sz="2800" b="0" i="0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=2</m:t>
                      </m:r>
                      <m:r>
                        <m:rPr>
                          <m:sty m:val="p"/>
                        </m:rPr>
                        <a:rPr lang="en-US" sz="28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US" sz="280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p>
                          <m:r>
                            <a:rPr lang="en-US" sz="280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i="1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kumimoji="0" lang="en-GB" sz="2800" b="0" i="0" u="none" strike="noStrike" cap="none" spc="0" normalizeH="0" baseline="0">
                  <a:ln>
                    <a:noFill/>
                  </a:ln>
                  <a:solidFill>
                    <a:schemeClr val="tx1">
                      <a:lumMod val="50000"/>
                    </a:schemeClr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A029FC9-4111-7A61-69C6-CA15E8C509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3297" y="5121056"/>
                <a:ext cx="2137059" cy="43088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A60DD27-C654-0812-2F6C-ED47AA161A60}"/>
                  </a:ext>
                </a:extLst>
              </p:cNvPr>
              <p:cNvSpPr txBox="1"/>
              <p:nvPr/>
            </p:nvSpPr>
            <p:spPr>
              <a:xfrm>
                <a:off x="3924011" y="5710579"/>
                <a:ext cx="2622055" cy="46166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GB" sz="24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GB" sz="24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𝑐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0" lang="en-GB" sz="2400" b="0" i="0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in</m:t>
                          </m:r>
                        </m:sub>
                      </m:sSub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A60DD27-C654-0812-2F6C-ED47AA161A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4011" y="5710579"/>
                <a:ext cx="2622055" cy="461665"/>
              </a:xfrm>
              <a:prstGeom prst="rect">
                <a:avLst/>
              </a:prstGeom>
              <a:blipFill>
                <a:blip r:embed="rId15"/>
                <a:stretch>
                  <a:fillRect b="-394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9BCDBB9-DDE4-8CCD-9A02-E0AD958CABA1}"/>
                  </a:ext>
                </a:extLst>
              </p:cNvPr>
              <p:cNvSpPr txBox="1"/>
              <p:nvPr/>
            </p:nvSpPr>
            <p:spPr>
              <a:xfrm>
                <a:off x="391666" y="1619779"/>
                <a:ext cx="23276717" cy="206210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 algn="l"/>
                <a:r>
                  <a:rPr lang="en-GB" sz="3200">
                    <a:solidFill>
                      <a:schemeClr val="bg2">
                        <a:lumMod val="10000"/>
                      </a:schemeClr>
                    </a:solidFill>
                  </a:rPr>
                  <a:t>A fluid enters an empty unpacked pipe at a constant velocity of 2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sz="320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32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3200" b="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p>
                        <m:r>
                          <a:rPr lang="en-US" sz="320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32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GB" sz="3200">
                    <a:solidFill>
                      <a:schemeClr val="bg2">
                        <a:lumMod val="10000"/>
                      </a:schemeClr>
                    </a:solidFill>
                  </a:rPr>
                  <a:t>​. </a:t>
                </a:r>
                <a:r>
                  <a:rPr lang="en-US" sz="3200">
                    <a:solidFill>
                      <a:schemeClr val="bg2">
                        <a:lumMod val="10000"/>
                      </a:schemeClr>
                    </a:solidFill>
                  </a:rPr>
                  <a:t>The pipe length is 30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dirty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lang="en-US" sz="3200">
                    <a:solidFill>
                      <a:schemeClr val="bg2">
                        <a:lumMod val="10000"/>
                      </a:schemeClr>
                    </a:solidFill>
                  </a:rPr>
                  <a:t>. The solute is transported solely by advection (no diffusion or reaction). The inlet solute concentration increases linearly for t</a:t>
                </a:r>
                <a:r>
                  <a:rPr lang="en-GB" sz="3200">
                    <a:solidFill>
                      <a:schemeClr val="bg2">
                        <a:lumMod val="10000"/>
                      </a:schemeClr>
                    </a:solidFill>
                  </a:rPr>
                  <a:t>he first 5 seconds at a rate</a:t>
                </a:r>
              </a:p>
              <a:p>
                <a:pPr algn="l"/>
                <a14:m>
                  <m:oMath xmlns:m="http://schemas.openxmlformats.org/officeDocument/2006/math">
                    <m:r>
                      <a:rPr lang="en-US" sz="3200" b="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2 </m:t>
                    </m:r>
                    <m:r>
                      <m:rPr>
                        <m:sty m:val="p"/>
                      </m:rPr>
                      <a:rPr lang="en-US" sz="3200" b="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mol</m:t>
                    </m:r>
                    <m:r>
                      <a:rPr lang="en-US" sz="3200" b="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32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3200" b="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p>
                        <m:r>
                          <a:rPr lang="en-US" sz="3200" b="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−3</m:t>
                        </m:r>
                      </m:sup>
                    </m:sSup>
                    <m:r>
                      <a:rPr lang="en-US" sz="3200" b="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32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3200" b="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p>
                        <m:r>
                          <a:rPr lang="en-US" sz="3200" b="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3200" b="0">
                    <a:solidFill>
                      <a:schemeClr val="bg2">
                        <a:lumMod val="10000"/>
                      </a:schemeClr>
                    </a:solidFill>
                  </a:rPr>
                  <a:t>; after 5 seconds it remains constant.</a:t>
                </a:r>
              </a:p>
              <a:p>
                <a:pPr algn="l"/>
                <a:r>
                  <a:rPr lang="en-GB" sz="3200">
                    <a:solidFill>
                      <a:schemeClr val="tx1">
                        <a:lumMod val="50000"/>
                      </a:schemeClr>
                    </a:solidFill>
                  </a:rPr>
                  <a:t>Obtain the concentration distribution over time.  </a:t>
                </a: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9BCDBB9-DDE4-8CCD-9A02-E0AD958CAB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666" y="1619779"/>
                <a:ext cx="23276717" cy="2062103"/>
              </a:xfrm>
              <a:prstGeom prst="rect">
                <a:avLst/>
              </a:prstGeom>
              <a:blipFill>
                <a:blip r:embed="rId16"/>
                <a:stretch>
                  <a:fillRect l="-655" t="-3846" r="-759" b="-8876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1BA74B2-8B3D-F7F1-B10E-12836C613519}"/>
                  </a:ext>
                </a:extLst>
              </p:cNvPr>
              <p:cNvSpPr txBox="1"/>
              <p:nvPr/>
            </p:nvSpPr>
            <p:spPr>
              <a:xfrm>
                <a:off x="9289547" y="9176836"/>
                <a:ext cx="4681485" cy="58477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32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GB" sz="320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1BA74B2-8B3D-F7F1-B10E-12836C6135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9547" y="9176836"/>
                <a:ext cx="4681485" cy="58477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\documentclass{article}&#10;\usepackage{amsmath}&#10;\pagestyle{empty}&#10;\begin{document}&#10;\begin{equation}&#10;\frac{\partial c}{\partial t}=-v\frac{\partial c}{\partial x}&#10;\nonumber&#10;\end{equation}&#10;&#10;\end{document}" title="IguanaTex Bitmap Display">
            <a:extLst>
              <a:ext uri="{FF2B5EF4-FFF2-40B4-BE49-F238E27FC236}">
                <a16:creationId xmlns:a16="http://schemas.microsoft.com/office/drawing/2014/main" id="{1E3B01FC-3E6F-0BE2-4C52-FFFC89B3EFF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9365" y="7604424"/>
            <a:ext cx="2043124" cy="850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468979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Text">
            <a:extLst>
              <a:ext uri="{FF2B5EF4-FFF2-40B4-BE49-F238E27FC236}">
                <a16:creationId xmlns:a16="http://schemas.microsoft.com/office/drawing/2014/main" id="{DC221190-372A-493B-07D6-DB5433783B15}"/>
              </a:ext>
            </a:extLst>
          </p:cNvPr>
          <p:cNvSpPr txBox="1">
            <a:spLocks/>
          </p:cNvSpPr>
          <p:nvPr/>
        </p:nvSpPr>
        <p:spPr>
          <a:xfrm>
            <a:off x="5691630" y="5214938"/>
            <a:ext cx="13000739" cy="10582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t">
            <a:normAutofit/>
          </a:bodyPr>
          <a:lstStyle>
            <a:lvl1pPr marL="0" marR="0" indent="0" algn="r" defTabSz="1357312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1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algn="ctr" hangingPunct="1"/>
            <a:r>
              <a:rPr lang="en-US"/>
              <a:t>Complete section 1 in the notebook</a:t>
            </a:r>
          </a:p>
        </p:txBody>
      </p:sp>
      <p:sp>
        <p:nvSpPr>
          <p:cNvPr id="4" name="Authors…">
            <a:extLst>
              <a:ext uri="{FF2B5EF4-FFF2-40B4-BE49-F238E27FC236}">
                <a16:creationId xmlns:a16="http://schemas.microsoft.com/office/drawing/2014/main" id="{A9F1C91D-020B-7701-A5FC-9457F9B5C251}"/>
              </a:ext>
            </a:extLst>
          </p:cNvPr>
          <p:cNvSpPr txBox="1">
            <a:spLocks/>
          </p:cNvSpPr>
          <p:nvPr/>
        </p:nvSpPr>
        <p:spPr>
          <a:xfrm>
            <a:off x="10684170" y="6438014"/>
            <a:ext cx="3015659" cy="8399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71437" tIns="71437" rIns="71437" bIns="71437">
            <a:normAutofit/>
          </a:bodyPr>
          <a:lstStyle>
            <a:lvl1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lvl="2" indent="0" algn="ctr" defTabSz="1357312" hangingPunct="1">
              <a:defRPr sz="3200" b="0">
                <a:solidFill>
                  <a:srgbClr val="FFFFFF"/>
                </a:solidFill>
              </a:defRPr>
            </a:pPr>
            <a:r>
              <a:rPr lang="en-GB" sz="3200" b="0">
                <a:solidFill>
                  <a:srgbClr val="FFFFFF"/>
                </a:solidFill>
              </a:rPr>
              <a:t>(~10 minutes)</a:t>
            </a:r>
          </a:p>
        </p:txBody>
      </p:sp>
    </p:spTree>
    <p:extLst>
      <p:ext uri="{BB962C8B-B14F-4D97-AF65-F5344CB8AC3E}">
        <p14:creationId xmlns:p14="http://schemas.microsoft.com/office/powerpoint/2010/main" val="2621136240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CA993-BF05-D695-3C38-8A8764296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DFC22C69-D59B-1C41-2DE4-D1EED7F197FB}"/>
              </a:ext>
            </a:extLst>
          </p:cNvPr>
          <p:cNvSpPr/>
          <p:nvPr/>
        </p:nvSpPr>
        <p:spPr>
          <a:xfrm>
            <a:off x="3888795" y="246197"/>
            <a:ext cx="7994496" cy="923330"/>
          </a:xfrm>
          <a:prstGeom prst="rect">
            <a:avLst/>
          </a:prstGeom>
        </p:spPr>
        <p:txBody>
          <a:bodyPr wrap="none">
            <a:spAutoFit/>
          </a:bodyPr>
          <a:lstStyle>
            <a:defPPr marL="0" marR="0" indent="0" algn="l" defTabSz="18288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1pPr>
            <a:lvl2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2pPr>
            <a:lvl3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3pPr>
            <a:lvl4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4pPr>
            <a:lvl5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5pPr>
            <a:lvl6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6pPr>
            <a:lvl7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7pPr>
            <a:lvl8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8pPr>
            <a:lvl9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9pPr>
          </a:lstStyle>
          <a:p>
            <a:r>
              <a:rPr lang="en-US" sz="5400" b="1">
                <a:solidFill>
                  <a:srgbClr val="EAEAEA"/>
                </a:solidFill>
              </a:rPr>
              <a:t>Converting PDE to ODE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C257E49-3B61-E7F3-0DEA-9864ABD8C53F}"/>
              </a:ext>
            </a:extLst>
          </p:cNvPr>
          <p:cNvSpPr txBox="1"/>
          <p:nvPr/>
        </p:nvSpPr>
        <p:spPr>
          <a:xfrm>
            <a:off x="1378345" y="2896336"/>
            <a:ext cx="947375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3200" b="1" i="0" u="none" strike="noStrike" cap="none" spc="0" normalizeH="0" baseline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PDE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D46533-8D07-2247-44D0-B1F54B79ADA9}"/>
              </a:ext>
            </a:extLst>
          </p:cNvPr>
          <p:cNvSpPr/>
          <p:nvPr/>
        </p:nvSpPr>
        <p:spPr>
          <a:xfrm rot="-10800000" flipV="1">
            <a:off x="9853404" y="13283356"/>
            <a:ext cx="4628055" cy="379591"/>
          </a:xfrm>
          <a:prstGeom prst="rect">
            <a:avLst/>
          </a:prstGeom>
          <a:solidFill>
            <a:srgbClr val="8B79A6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n-US" sz="1800"/>
              <a:t>Workshop on Numerical Simulation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107D877-D9CA-A0D7-9E3D-2076AA27A46F}"/>
              </a:ext>
            </a:extLst>
          </p:cNvPr>
          <p:cNvSpPr/>
          <p:nvPr/>
        </p:nvSpPr>
        <p:spPr>
          <a:xfrm rot="-10800000" flipV="1">
            <a:off x="457612" y="13283975"/>
            <a:ext cx="4628055" cy="379591"/>
          </a:xfrm>
          <a:prstGeom prst="rect">
            <a:avLst/>
          </a:prstGeom>
          <a:solidFill>
            <a:srgbClr val="5C2A7A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/>
            <a:r>
              <a:rPr lang="en-GB" sz="1800">
                <a:solidFill>
                  <a:srgbClr val="9E79A6"/>
                </a:solidFill>
                <a:latin typeface="Helvetica Neue"/>
              </a:rPr>
              <a:t>KR and MA</a:t>
            </a:r>
            <a:endParaRPr lang="en-US" sz="18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B0D43C-A293-F469-8731-98EDA9BBA21A}"/>
              </a:ext>
            </a:extLst>
          </p:cNvPr>
          <p:cNvSpPr txBox="1"/>
          <p:nvPr/>
        </p:nvSpPr>
        <p:spPr>
          <a:xfrm flipH="1">
            <a:off x="2446661" y="1752132"/>
            <a:ext cx="632311" cy="1194507"/>
          </a:xfrm>
          <a:prstGeom prst="rect">
            <a:avLst/>
          </a:prstGeom>
          <a:solidFill>
            <a:srgbClr val="CCECFF">
              <a:alpha val="50196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3E52BF0-4DDC-391F-09EF-D6D3814ADEB3}"/>
              </a:ext>
            </a:extLst>
          </p:cNvPr>
          <p:cNvSpPr/>
          <p:nvPr/>
        </p:nvSpPr>
        <p:spPr>
          <a:xfrm rot="-10800000" flipV="1">
            <a:off x="19138012" y="13283101"/>
            <a:ext cx="4628055" cy="379591"/>
          </a:xfrm>
          <a:prstGeom prst="rect">
            <a:avLst/>
          </a:prstGeom>
          <a:solidFill>
            <a:srgbClr val="5C2A7A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/>
            <a:r>
              <a:rPr lang="en-GB" sz="1800">
                <a:solidFill>
                  <a:srgbClr val="9E79A6"/>
                </a:solidFill>
                <a:latin typeface="Helvetica Neue"/>
              </a:rPr>
              <a:t>22/10/2025</a:t>
            </a:r>
            <a:endParaRPr lang="en-US" sz="1800"/>
          </a:p>
        </p:txBody>
      </p:sp>
      <p:sp>
        <p:nvSpPr>
          <p:cNvPr id="59" name="Slide Number">
            <a:extLst>
              <a:ext uri="{FF2B5EF4-FFF2-40B4-BE49-F238E27FC236}">
                <a16:creationId xmlns:a16="http://schemas.microsoft.com/office/drawing/2014/main" id="{9F620BEF-931A-F85D-650E-3DBA5C8F82A4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23805849" y="13272486"/>
            <a:ext cx="230832" cy="379591"/>
          </a:xfrm>
          <a:prstGeom prst="rect">
            <a:avLst/>
          </a:prstGeom>
        </p:spPr>
        <p:txBody>
          <a:bodyPr/>
          <a:lstStyle/>
          <a:p>
            <a:r>
              <a:rPr lang="en-GB"/>
              <a:t>4</a:t>
            </a:r>
            <a:endParaRPr/>
          </a:p>
        </p:txBody>
      </p:sp>
      <p:pic>
        <p:nvPicPr>
          <p:cNvPr id="12" name="Picture 11" descr="\documentclass{article}&#10;\usepackage{amsmath}&#10;\pagestyle{empty}&#10;\begin{document}&#10;\begin{equation}&#10;\frac{\partial c}{\partial t}=-v\frac{\partial c}{\partial x}&#10;\nonumber&#10;\end{equation}&#10;&#10;\end{document}" title="IguanaTex Bitmap Display">
            <a:extLst>
              <a:ext uri="{FF2B5EF4-FFF2-40B4-BE49-F238E27FC236}">
                <a16:creationId xmlns:a16="http://schemas.microsoft.com/office/drawing/2014/main" id="{0742E0E0-F7D6-23D4-B4E8-8C91A7996F6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187" y="1819920"/>
            <a:ext cx="2419693" cy="100772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2B32EB7-923C-4946-84A8-F02C20F39D9F}"/>
              </a:ext>
            </a:extLst>
          </p:cNvPr>
          <p:cNvSpPr txBox="1"/>
          <p:nvPr/>
        </p:nvSpPr>
        <p:spPr>
          <a:xfrm>
            <a:off x="-939616" y="14691370"/>
            <a:ext cx="787075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Back</a:t>
            </a:r>
          </a:p>
        </p:txBody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D71DE369-A4F0-0C09-6FDB-690CA7C934DA}"/>
              </a:ext>
            </a:extLst>
          </p:cNvPr>
          <p:cNvGrpSpPr/>
          <p:nvPr/>
        </p:nvGrpSpPr>
        <p:grpSpPr>
          <a:xfrm>
            <a:off x="160623" y="3820967"/>
            <a:ext cx="7125496" cy="6842119"/>
            <a:chOff x="169550" y="4788349"/>
            <a:chExt cx="7125496" cy="6842119"/>
          </a:xfrm>
        </p:grpSpPr>
        <p:pic>
          <p:nvPicPr>
            <p:cNvPr id="20" name="Picture 19" descr="A graph of a function&#10;&#10;AI-generated content may be incorrect.">
              <a:extLst>
                <a:ext uri="{FF2B5EF4-FFF2-40B4-BE49-F238E27FC236}">
                  <a16:creationId xmlns:a16="http://schemas.microsoft.com/office/drawing/2014/main" id="{A0E4CBF2-BD6A-B160-C6FF-2CB972893B7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69550" y="4788349"/>
              <a:ext cx="6842119" cy="6842119"/>
            </a:xfrm>
            <a:prstGeom prst="rect">
              <a:avLst/>
            </a:prstGeom>
          </p:spPr>
        </p:pic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1A753500-7EC8-7DA5-31BF-0864FB574D63}"/>
                </a:ext>
              </a:extLst>
            </p:cNvPr>
            <p:cNvSpPr txBox="1"/>
            <p:nvPr/>
          </p:nvSpPr>
          <p:spPr>
            <a:xfrm>
              <a:off x="899983" y="5433188"/>
              <a:ext cx="1337891" cy="859327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67FD5410-4302-1493-AB26-D15311E071B9}"/>
                </a:ext>
              </a:extLst>
            </p:cNvPr>
            <p:cNvSpPr txBox="1"/>
            <p:nvPr/>
          </p:nvSpPr>
          <p:spPr>
            <a:xfrm>
              <a:off x="5673778" y="10492747"/>
              <a:ext cx="1337891" cy="859327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987C4A93-4A85-1F07-D6EC-92EEA8E89DC5}"/>
                </a:ext>
              </a:extLst>
            </p:cNvPr>
            <p:cNvSpPr/>
            <p:nvPr/>
          </p:nvSpPr>
          <p:spPr>
            <a:xfrm>
              <a:off x="3830641" y="8588501"/>
              <a:ext cx="163244" cy="172045"/>
            </a:xfrm>
            <a:prstGeom prst="ellipse">
              <a:avLst/>
            </a:prstGeom>
            <a:solidFill>
              <a:srgbClr val="00B0F0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A641CE98-E42F-F752-1440-96E16B3FA8C2}"/>
                </a:ext>
              </a:extLst>
            </p:cNvPr>
            <p:cNvSpPr/>
            <p:nvPr/>
          </p:nvSpPr>
          <p:spPr>
            <a:xfrm>
              <a:off x="2614199" y="9114146"/>
              <a:ext cx="163244" cy="172045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68C458D3-671D-7C75-7BC5-FA73367E03FD}"/>
                </a:ext>
              </a:extLst>
            </p:cNvPr>
            <p:cNvSpPr/>
            <p:nvPr/>
          </p:nvSpPr>
          <p:spPr>
            <a:xfrm>
              <a:off x="5004045" y="7782815"/>
              <a:ext cx="163244" cy="172045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A1FA4472-A918-0C77-6D1A-0E57505FE964}"/>
                </a:ext>
              </a:extLst>
            </p:cNvPr>
            <p:cNvCxnSpPr>
              <a:cxnSpLocks/>
            </p:cNvCxnSpPr>
            <p:nvPr/>
          </p:nvCxnSpPr>
          <p:spPr>
            <a:xfrm>
              <a:off x="2696568" y="9274159"/>
              <a:ext cx="0" cy="94065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dash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05E5A4F9-FE1D-B219-2B82-647FB4319B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88795" y="8760546"/>
              <a:ext cx="23468" cy="1454263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dash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157D2A9E-0F40-EBDF-6AC2-566631FB01B7}"/>
                </a:ext>
              </a:extLst>
            </p:cNvPr>
            <p:cNvCxnSpPr>
              <a:cxnSpLocks/>
            </p:cNvCxnSpPr>
            <p:nvPr/>
          </p:nvCxnSpPr>
          <p:spPr>
            <a:xfrm>
              <a:off x="5085667" y="7958547"/>
              <a:ext cx="0" cy="2256262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dash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C443192E-7B97-B8EE-1883-BA444B0B05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13047" y="7517693"/>
              <a:ext cx="4361676" cy="2256669"/>
            </a:xfrm>
            <a:prstGeom prst="line">
              <a:avLst/>
            </a:prstGeom>
            <a:noFill/>
            <a:ln w="57150" cap="flat">
              <a:solidFill>
                <a:schemeClr val="accent1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D1AF8EEF-B922-B0F5-5C3E-1CA09362443C}"/>
                    </a:ext>
                  </a:extLst>
                </p:cNvPr>
                <p:cNvSpPr txBox="1"/>
                <p:nvPr/>
              </p:nvSpPr>
              <p:spPr>
                <a:xfrm>
                  <a:off x="407453" y="6231323"/>
                  <a:ext cx="886268" cy="49244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ctr">
                  <a:spAutoFit/>
                </a:bodyPr>
                <a:lstStyle/>
                <a:p>
                  <a:pPr marL="0" marR="0" indent="0" algn="ctr" defTabSz="2438338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GB" sz="32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𝑐</m:t>
                        </m:r>
                        <m:r>
                          <a:rPr kumimoji="0" lang="en-GB" sz="32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(</m:t>
                        </m:r>
                        <m:r>
                          <a:rPr kumimoji="0" lang="en-GB" sz="32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𝑥</m:t>
                        </m:r>
                        <m:r>
                          <a:rPr kumimoji="0" lang="en-GB" sz="32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)</m:t>
                        </m:r>
                      </m:oMath>
                    </m:oMathPara>
                  </a14:m>
                  <a:endParaRPr kumimoji="0" lang="en-GB" sz="3200" b="0" i="0" u="none" strike="noStrike" cap="none" spc="0" normalizeH="0" baseline="0">
                    <a:ln>
                      <a:noFill/>
                    </a:ln>
                    <a:solidFill>
                      <a:schemeClr val="bg2">
                        <a:lumMod val="10000"/>
                      </a:schemeClr>
                    </a:solidFill>
                    <a:effectLst/>
                    <a:uFillTx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D1AF8EEF-B922-B0F5-5C3E-1CA0936244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7453" y="6231323"/>
                  <a:ext cx="886268" cy="492443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AF3CDCC3-6B9D-C799-625F-848967E230DD}"/>
                    </a:ext>
                  </a:extLst>
                </p:cNvPr>
                <p:cNvSpPr txBox="1"/>
                <p:nvPr/>
              </p:nvSpPr>
              <p:spPr>
                <a:xfrm>
                  <a:off x="6005114" y="10292644"/>
                  <a:ext cx="344261" cy="49244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ctr">
                  <a:spAutoFit/>
                </a:bodyPr>
                <a:lstStyle/>
                <a:p>
                  <a:pPr marL="0" marR="0" indent="0" algn="ctr" defTabSz="2438338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GB" sz="32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𝑥</m:t>
                        </m:r>
                      </m:oMath>
                    </m:oMathPara>
                  </a14:m>
                  <a:endParaRPr kumimoji="0" lang="en-GB" sz="3200" b="0" i="0" u="none" strike="noStrike" cap="none" spc="0" normalizeH="0" baseline="0">
                    <a:ln>
                      <a:noFill/>
                    </a:ln>
                    <a:solidFill>
                      <a:schemeClr val="bg2">
                        <a:lumMod val="10000"/>
                      </a:schemeClr>
                    </a:solidFill>
                    <a:effectLst/>
                    <a:uFillTx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AF3CDCC3-6B9D-C799-625F-848967E230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05114" y="10292644"/>
                  <a:ext cx="344261" cy="492443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DF8869F7-0E1E-4D78-256F-1CDE43CAE5C4}"/>
                    </a:ext>
                  </a:extLst>
                </p:cNvPr>
                <p:cNvSpPr txBox="1"/>
                <p:nvPr/>
              </p:nvSpPr>
              <p:spPr>
                <a:xfrm>
                  <a:off x="3712268" y="10292644"/>
                  <a:ext cx="460960" cy="49244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ctr">
                  <a:spAutoFit/>
                </a:bodyPr>
                <a:lstStyle/>
                <a:p>
                  <a:pPr marL="0" marR="0" indent="0" algn="ctr" defTabSz="2438338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GB" sz="32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Helvetica Neue"/>
                              </a:rPr>
                            </m:ctrlPr>
                          </m:sSubPr>
                          <m:e>
                            <m:r>
                              <a:rPr kumimoji="0" lang="en-GB" sz="32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Helvetica Neue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GB" sz="32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Helvetica Neue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kumimoji="0" lang="en-GB" sz="3200" b="0" i="0" u="none" strike="noStrike" cap="none" spc="0" normalizeH="0" baseline="0">
                    <a:ln>
                      <a:noFill/>
                    </a:ln>
                    <a:solidFill>
                      <a:schemeClr val="bg2">
                        <a:lumMod val="10000"/>
                      </a:schemeClr>
                    </a:solidFill>
                    <a:effectLst/>
                    <a:uFillTx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DF8869F7-0E1E-4D78-256F-1CDE43CAE5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12268" y="10292644"/>
                  <a:ext cx="460960" cy="492443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650E6A1B-6105-6CF8-479F-388B1117823F}"/>
                    </a:ext>
                  </a:extLst>
                </p:cNvPr>
                <p:cNvSpPr txBox="1"/>
                <p:nvPr/>
              </p:nvSpPr>
              <p:spPr>
                <a:xfrm>
                  <a:off x="4661863" y="10292644"/>
                  <a:ext cx="852093" cy="49244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ctr">
                  <a:spAutoFit/>
                </a:bodyPr>
                <a:lstStyle/>
                <a:p>
                  <a:pPr marL="0" marR="0" indent="0" algn="ctr" defTabSz="2438338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GB" sz="32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Helvetica Neue"/>
                              </a:rPr>
                            </m:ctrlPr>
                          </m:sSubPr>
                          <m:e>
                            <m:r>
                              <a:rPr kumimoji="0" lang="en-GB" sz="32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Helvetica Neue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GB" sz="32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Helvetica Neue"/>
                              </a:rPr>
                              <m:t>𝑖</m:t>
                            </m:r>
                            <m:r>
                              <a:rPr kumimoji="0" lang="en-GB" sz="32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Helvetica Neue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kumimoji="0" lang="en-GB" sz="3200" b="0" i="0" u="none" strike="noStrike" cap="none" spc="0" normalizeH="0" baseline="0">
                    <a:ln>
                      <a:noFill/>
                    </a:ln>
                    <a:solidFill>
                      <a:schemeClr val="bg2">
                        <a:lumMod val="10000"/>
                      </a:schemeClr>
                    </a:solidFill>
                    <a:effectLst/>
                    <a:uFillTx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650E6A1B-6105-6CF8-479F-388B111782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61863" y="10292644"/>
                  <a:ext cx="852093" cy="492443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211F4008-085E-064E-F034-499FAA40983C}"/>
                    </a:ext>
                  </a:extLst>
                </p:cNvPr>
                <p:cNvSpPr txBox="1"/>
                <p:nvPr/>
              </p:nvSpPr>
              <p:spPr>
                <a:xfrm>
                  <a:off x="2274822" y="10292644"/>
                  <a:ext cx="852093" cy="49244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ctr">
                  <a:spAutoFit/>
                </a:bodyPr>
                <a:lstStyle/>
                <a:p>
                  <a:pPr marL="0" marR="0" indent="0" algn="ctr" defTabSz="2438338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GB" sz="32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Helvetica Neue"/>
                              </a:rPr>
                            </m:ctrlPr>
                          </m:sSubPr>
                          <m:e>
                            <m:r>
                              <a:rPr kumimoji="0" lang="en-GB" sz="32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Helvetica Neue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GB" sz="32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Helvetica Neue"/>
                              </a:rPr>
                              <m:t>𝑖</m:t>
                            </m:r>
                            <m:r>
                              <a:rPr kumimoji="0" lang="en-GB" sz="32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Helvetica Neue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kumimoji="0" lang="en-GB" sz="3200" b="0" i="0" u="none" strike="noStrike" cap="none" spc="0" normalizeH="0" baseline="0">
                    <a:ln>
                      <a:noFill/>
                    </a:ln>
                    <a:solidFill>
                      <a:schemeClr val="bg2">
                        <a:lumMod val="10000"/>
                      </a:schemeClr>
                    </a:solidFill>
                    <a:effectLst/>
                    <a:uFillTx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211F4008-085E-064E-F034-499FAA4098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74822" y="10292644"/>
                  <a:ext cx="852093" cy="492443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304391F9-C946-B786-901B-991E8D3F16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09800" y="7590611"/>
              <a:ext cx="493566" cy="711178"/>
            </a:xfrm>
            <a:prstGeom prst="straightConnector1">
              <a:avLst/>
            </a:prstGeom>
            <a:noFill/>
            <a:ln w="57150" cap="flat">
              <a:solidFill>
                <a:srgbClr val="00B0F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6EFFA7B1-A618-E17E-BE88-2817F0E74E31}"/>
                </a:ext>
              </a:extLst>
            </p:cNvPr>
            <p:cNvSpPr txBox="1"/>
            <p:nvPr/>
          </p:nvSpPr>
          <p:spPr>
            <a:xfrm>
              <a:off x="6153708" y="8277196"/>
              <a:ext cx="1141338" cy="96436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GB" sz="2800" b="1" i="0" u="none" strike="noStrike" cap="none" spc="0" normalizeH="0" baseline="0">
                  <a:ln>
                    <a:noFill/>
                  </a:ln>
                  <a:solidFill>
                    <a:srgbClr val="00B0F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True</a:t>
              </a:r>
            </a:p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GB" sz="2800" b="1" i="0" u="none" strike="noStrike" cap="none" spc="0" normalizeH="0" baseline="0">
                  <a:ln>
                    <a:noFill/>
                  </a:ln>
                  <a:solidFill>
                    <a:srgbClr val="00B0F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 slope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06980094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9D656-855F-382F-D705-D342B6AF3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BA2AEE9D-DF16-93A0-FD21-AA675185C594}"/>
              </a:ext>
            </a:extLst>
          </p:cNvPr>
          <p:cNvSpPr/>
          <p:nvPr/>
        </p:nvSpPr>
        <p:spPr>
          <a:xfrm>
            <a:off x="3888795" y="246197"/>
            <a:ext cx="7994496" cy="923330"/>
          </a:xfrm>
          <a:prstGeom prst="rect">
            <a:avLst/>
          </a:prstGeom>
        </p:spPr>
        <p:txBody>
          <a:bodyPr wrap="none">
            <a:spAutoFit/>
          </a:bodyPr>
          <a:lstStyle>
            <a:defPPr marL="0" marR="0" indent="0" algn="l" defTabSz="18288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1pPr>
            <a:lvl2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2pPr>
            <a:lvl3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3pPr>
            <a:lvl4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4pPr>
            <a:lvl5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5pPr>
            <a:lvl6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6pPr>
            <a:lvl7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7pPr>
            <a:lvl8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8pPr>
            <a:lvl9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9pPr>
          </a:lstStyle>
          <a:p>
            <a:r>
              <a:rPr lang="en-US" sz="5400" b="1">
                <a:solidFill>
                  <a:srgbClr val="EAEAEA"/>
                </a:solidFill>
              </a:rPr>
              <a:t>Converting PDE to ODE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9D5D67-A660-E936-F25C-E1F450F74D20}"/>
              </a:ext>
            </a:extLst>
          </p:cNvPr>
          <p:cNvSpPr txBox="1"/>
          <p:nvPr/>
        </p:nvSpPr>
        <p:spPr>
          <a:xfrm>
            <a:off x="1378345" y="2896336"/>
            <a:ext cx="947375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3200" b="1" i="0" u="none" strike="noStrike" cap="none" spc="0" normalizeH="0" baseline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PDE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74F851-1C4E-8217-E132-454E8FBF3187}"/>
              </a:ext>
            </a:extLst>
          </p:cNvPr>
          <p:cNvSpPr/>
          <p:nvPr/>
        </p:nvSpPr>
        <p:spPr>
          <a:xfrm rot="-10800000" flipV="1">
            <a:off x="9853404" y="13283356"/>
            <a:ext cx="4628055" cy="379591"/>
          </a:xfrm>
          <a:prstGeom prst="rect">
            <a:avLst/>
          </a:prstGeom>
          <a:solidFill>
            <a:srgbClr val="8B79A6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n-US" sz="1800"/>
              <a:t>Workshop on Numerical Simulation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CEDB88A-E173-005F-9349-C2DADD210048}"/>
              </a:ext>
            </a:extLst>
          </p:cNvPr>
          <p:cNvSpPr/>
          <p:nvPr/>
        </p:nvSpPr>
        <p:spPr>
          <a:xfrm rot="-10800000" flipV="1">
            <a:off x="457612" y="13283975"/>
            <a:ext cx="4628055" cy="379591"/>
          </a:xfrm>
          <a:prstGeom prst="rect">
            <a:avLst/>
          </a:prstGeom>
          <a:solidFill>
            <a:srgbClr val="5C2A7A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/>
            <a:r>
              <a:rPr lang="en-GB" sz="1800">
                <a:solidFill>
                  <a:srgbClr val="9E79A6"/>
                </a:solidFill>
                <a:latin typeface="Helvetica Neue"/>
              </a:rPr>
              <a:t>KR and MA</a:t>
            </a:r>
            <a:endParaRPr lang="en-US" sz="18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2FE573-E6CA-8BA8-96B7-29757A1D8FBF}"/>
              </a:ext>
            </a:extLst>
          </p:cNvPr>
          <p:cNvSpPr txBox="1"/>
          <p:nvPr/>
        </p:nvSpPr>
        <p:spPr>
          <a:xfrm flipH="1">
            <a:off x="2446661" y="1752132"/>
            <a:ext cx="632311" cy="1194507"/>
          </a:xfrm>
          <a:prstGeom prst="rect">
            <a:avLst/>
          </a:prstGeom>
          <a:solidFill>
            <a:srgbClr val="CCECFF">
              <a:alpha val="50196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A0ABD32-E32F-C0E7-E7EB-C9EA4DCF529C}"/>
              </a:ext>
            </a:extLst>
          </p:cNvPr>
          <p:cNvSpPr/>
          <p:nvPr/>
        </p:nvSpPr>
        <p:spPr>
          <a:xfrm rot="-10800000" flipV="1">
            <a:off x="19138012" y="13283101"/>
            <a:ext cx="4628055" cy="379591"/>
          </a:xfrm>
          <a:prstGeom prst="rect">
            <a:avLst/>
          </a:prstGeom>
          <a:solidFill>
            <a:srgbClr val="5C2A7A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/>
            <a:r>
              <a:rPr lang="en-GB" sz="1800">
                <a:solidFill>
                  <a:srgbClr val="9E79A6"/>
                </a:solidFill>
                <a:latin typeface="Helvetica Neue"/>
              </a:rPr>
              <a:t>22/10/2025</a:t>
            </a:r>
            <a:endParaRPr lang="en-US" sz="1800"/>
          </a:p>
        </p:txBody>
      </p:sp>
      <p:sp>
        <p:nvSpPr>
          <p:cNvPr id="59" name="Slide Number">
            <a:extLst>
              <a:ext uri="{FF2B5EF4-FFF2-40B4-BE49-F238E27FC236}">
                <a16:creationId xmlns:a16="http://schemas.microsoft.com/office/drawing/2014/main" id="{C4E958BF-1716-D628-2AB4-14BE514A4821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23805849" y="13272486"/>
            <a:ext cx="230832" cy="379591"/>
          </a:xfrm>
          <a:prstGeom prst="rect">
            <a:avLst/>
          </a:prstGeom>
        </p:spPr>
        <p:txBody>
          <a:bodyPr/>
          <a:lstStyle/>
          <a:p>
            <a:r>
              <a:rPr lang="en-GB"/>
              <a:t>4</a:t>
            </a:r>
            <a:endParaRPr/>
          </a:p>
        </p:txBody>
      </p:sp>
      <p:pic>
        <p:nvPicPr>
          <p:cNvPr id="12" name="Picture 11" descr="\documentclass{article}&#10;\usepackage{amsmath}&#10;\pagestyle{empty}&#10;\begin{document}&#10;\begin{equation}&#10;\frac{\partial c}{\partial t}=-v\frac{\partial c}{\partial x}&#10;\nonumber&#10;\end{equation}&#10;&#10;\end{document}" title="IguanaTex Bitmap Display">
            <a:extLst>
              <a:ext uri="{FF2B5EF4-FFF2-40B4-BE49-F238E27FC236}">
                <a16:creationId xmlns:a16="http://schemas.microsoft.com/office/drawing/2014/main" id="{2DE1D888-5C7B-E016-2265-6341E146ADF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187" y="1819920"/>
            <a:ext cx="2419693" cy="100772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C526D7F-151E-A268-339B-59E286D71A4B}"/>
              </a:ext>
            </a:extLst>
          </p:cNvPr>
          <p:cNvSpPr txBox="1"/>
          <p:nvPr/>
        </p:nvSpPr>
        <p:spPr>
          <a:xfrm>
            <a:off x="12450197" y="1586096"/>
            <a:ext cx="3335849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3200">
                <a:solidFill>
                  <a:schemeClr val="accent6">
                    <a:lumMod val="75000"/>
                  </a:schemeClr>
                </a:solidFill>
              </a:rPr>
              <a:t>Central difference</a:t>
            </a:r>
            <a:endParaRPr kumimoji="0" lang="en-GB" sz="3200" b="0" i="0" u="none" strike="noStrike" cap="none" spc="0" normalizeH="0" baseline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7260928-8B2A-DF90-B3DB-C7558845133E}"/>
                  </a:ext>
                </a:extLst>
              </p:cNvPr>
              <p:cNvSpPr txBox="1"/>
              <p:nvPr/>
            </p:nvSpPr>
            <p:spPr>
              <a:xfrm>
                <a:off x="11773274" y="2471145"/>
                <a:ext cx="4487126" cy="141673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900" i="1" smtClean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GB" sz="3900" i="1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sz="3900" i="1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3900" b="0" i="1" smtClean="0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n-GB" sz="3900" i="1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num>
                                <m:den>
                                  <m:r>
                                    <a:rPr lang="en-GB" sz="3900" b="0" i="1" smtClean="0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𝑑𝑥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GB" sz="3900" i="1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3900" i="1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GB" sz="3900" b="0" i="1" smtClean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3900" i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kumimoji="0" lang="en-GB" sz="39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Neue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</m:ctrlPr>
                            </m:sSubPr>
                            <m:e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𝑐</m:t>
                              </m:r>
                            </m:e>
                            <m:sub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𝑖</m:t>
                              </m:r>
                              <m:r>
                                <a:rPr kumimoji="0" lang="en-US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+</m:t>
                              </m:r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1</m:t>
                              </m:r>
                            </m:sub>
                          </m:sSub>
                          <m:r>
                            <a:rPr kumimoji="0" lang="en-GB" sz="39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Neue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</m:ctrlPr>
                            </m:sSubPr>
                            <m:e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𝑐</m:t>
                              </m:r>
                            </m:e>
                            <m:sub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𝑖</m:t>
                              </m:r>
                              <m:r>
                                <a:rPr kumimoji="0" lang="en-US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−</m:t>
                              </m:r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kumimoji="0" lang="en-GB" sz="39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Neue"/>
                            </a:rPr>
                            <m:t>2</m:t>
                          </m:r>
                          <m:r>
                            <a:rPr kumimoji="0" lang="en-GB" sz="39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Helvetica Neue"/>
                            </a:rPr>
                            <m:t>∆</m:t>
                          </m:r>
                          <m:r>
                            <a:rPr kumimoji="0" lang="en-GB" sz="39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Helvetica Neue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kumimoji="0" lang="en-GB" sz="39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sym typeface="Helvetica Neue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7260928-8B2A-DF90-B3DB-C75588451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73274" y="2471145"/>
                <a:ext cx="4487126" cy="141673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F42BCDB5-0B14-B60F-4B1F-F1319551B067}"/>
              </a:ext>
            </a:extLst>
          </p:cNvPr>
          <p:cNvGrpSpPr/>
          <p:nvPr/>
        </p:nvGrpSpPr>
        <p:grpSpPr>
          <a:xfrm>
            <a:off x="160623" y="3820967"/>
            <a:ext cx="7125496" cy="6852921"/>
            <a:chOff x="160623" y="3820967"/>
            <a:chExt cx="7125496" cy="6852921"/>
          </a:xfrm>
        </p:grpSpPr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1D2DCFC3-8138-2D83-F8E1-B92CC8A4924E}"/>
                </a:ext>
              </a:extLst>
            </p:cNvPr>
            <p:cNvGrpSpPr/>
            <p:nvPr/>
          </p:nvGrpSpPr>
          <p:grpSpPr>
            <a:xfrm>
              <a:off x="160623" y="3820967"/>
              <a:ext cx="7125496" cy="6842119"/>
              <a:chOff x="169550" y="4788349"/>
              <a:chExt cx="7125496" cy="6842119"/>
            </a:xfrm>
          </p:grpSpPr>
          <p:pic>
            <p:nvPicPr>
              <p:cNvPr id="20" name="Picture 19" descr="A graph of a function&#10;&#10;AI-generated content may be incorrect.">
                <a:extLst>
                  <a:ext uri="{FF2B5EF4-FFF2-40B4-BE49-F238E27FC236}">
                    <a16:creationId xmlns:a16="http://schemas.microsoft.com/office/drawing/2014/main" id="{81C8B9A0-5394-07A5-0281-84B42F25B0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69550" y="4788349"/>
                <a:ext cx="6842119" cy="6842119"/>
              </a:xfrm>
              <a:prstGeom prst="rect">
                <a:avLst/>
              </a:prstGeom>
            </p:spPr>
          </p:pic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45C52AB0-F41A-9B4F-0727-BDF130191657}"/>
                  </a:ext>
                </a:extLst>
              </p:cNvPr>
              <p:cNvSpPr txBox="1"/>
              <p:nvPr/>
            </p:nvSpPr>
            <p:spPr>
              <a:xfrm>
                <a:off x="899983" y="5433188"/>
                <a:ext cx="1337891" cy="859327"/>
              </a:xfrm>
              <a:prstGeom prst="rect">
                <a:avLst/>
              </a:prstGeom>
              <a:solidFill>
                <a:schemeClr val="bg1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GB" sz="24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76866302-9D5C-3A68-FFFC-36E48EE03F4E}"/>
                  </a:ext>
                </a:extLst>
              </p:cNvPr>
              <p:cNvSpPr txBox="1"/>
              <p:nvPr/>
            </p:nvSpPr>
            <p:spPr>
              <a:xfrm>
                <a:off x="5673778" y="10492747"/>
                <a:ext cx="1337891" cy="859327"/>
              </a:xfrm>
              <a:prstGeom prst="rect">
                <a:avLst/>
              </a:prstGeom>
              <a:solidFill>
                <a:schemeClr val="bg1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GB" sz="24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9541CD16-D823-7793-A120-4CF06551CE3D}"/>
                  </a:ext>
                </a:extLst>
              </p:cNvPr>
              <p:cNvSpPr/>
              <p:nvPr/>
            </p:nvSpPr>
            <p:spPr>
              <a:xfrm>
                <a:off x="3830641" y="8588501"/>
                <a:ext cx="163244" cy="172045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GB" sz="3200" b="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84038B92-40FA-A7BD-40A7-020D50D89317}"/>
                  </a:ext>
                </a:extLst>
              </p:cNvPr>
              <p:cNvSpPr/>
              <p:nvPr/>
            </p:nvSpPr>
            <p:spPr>
              <a:xfrm>
                <a:off x="2614199" y="9114146"/>
                <a:ext cx="163244" cy="172045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 w="12700" cap="flat">
                <a:solidFill>
                  <a:schemeClr val="accent6">
                    <a:lumMod val="75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GB" sz="3200" b="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EC497D3D-FA2E-E678-6181-858F73BEBE85}"/>
                  </a:ext>
                </a:extLst>
              </p:cNvPr>
              <p:cNvSpPr/>
              <p:nvPr/>
            </p:nvSpPr>
            <p:spPr>
              <a:xfrm>
                <a:off x="5004045" y="7782815"/>
                <a:ext cx="163244" cy="172045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 w="12700" cap="flat">
                <a:solidFill>
                  <a:schemeClr val="accent6">
                    <a:lumMod val="75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GB" sz="3200" b="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7E562179-EFA4-0E44-24D9-9C972628972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96568" y="9274159"/>
                <a:ext cx="0" cy="940650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dash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B2A4E09A-5A8F-99D5-D080-A67E702DC50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888795" y="8760546"/>
                <a:ext cx="23468" cy="1454263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dash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C00B854A-6663-7E61-8F63-B416A3A4EF2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85667" y="7958547"/>
                <a:ext cx="0" cy="2256262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dash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6990B736-50CF-E620-9EB4-C6B84BDD254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813047" y="7517693"/>
                <a:ext cx="4361676" cy="2256669"/>
              </a:xfrm>
              <a:prstGeom prst="line">
                <a:avLst/>
              </a:prstGeom>
              <a:noFill/>
              <a:ln w="57150" cap="flat">
                <a:solidFill>
                  <a:schemeClr val="accent1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E859591B-5B9C-9841-9A10-4402AAC6738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602014" y="7460818"/>
                <a:ext cx="4155897" cy="2378452"/>
              </a:xfrm>
              <a:prstGeom prst="line">
                <a:avLst/>
              </a:prstGeom>
              <a:noFill/>
              <a:ln w="57150" cap="flat">
                <a:solidFill>
                  <a:schemeClr val="accent6">
                    <a:lumMod val="75000"/>
                  </a:schemeClr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9" name="TextBox 88">
                    <a:extLst>
                      <a:ext uri="{FF2B5EF4-FFF2-40B4-BE49-F238E27FC236}">
                        <a16:creationId xmlns:a16="http://schemas.microsoft.com/office/drawing/2014/main" id="{2CF97CD1-BC95-BBE8-22CF-1336EB4CC502}"/>
                      </a:ext>
                    </a:extLst>
                  </p:cNvPr>
                  <p:cNvSpPr txBox="1"/>
                  <p:nvPr/>
                </p:nvSpPr>
                <p:spPr>
                  <a:xfrm>
                    <a:off x="407453" y="6231323"/>
                    <a:ext cx="886268" cy="492443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none" lIns="0" tIns="0" rIns="0" bIns="0" numCol="1" spcCol="38100" rtlCol="0" anchor="ctr">
                    <a:spAutoFit/>
                  </a:bodyPr>
                  <a:lstStyle/>
                  <a:p>
                    <a:pPr marL="0" marR="0" indent="0" algn="ctr" defTabSz="2438338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GB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𝑐</m:t>
                          </m:r>
                          <m:r>
                            <a:rPr kumimoji="0" lang="en-GB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(</m:t>
                          </m:r>
                          <m:r>
                            <a:rPr kumimoji="0" lang="en-GB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𝑥</m:t>
                          </m:r>
                          <m:r>
                            <a:rPr kumimoji="0" lang="en-GB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)</m:t>
                          </m:r>
                        </m:oMath>
                      </m:oMathPara>
                    </a14:m>
                    <a:endParaRPr kumimoji="0" lang="en-GB" sz="3200" b="0" i="0" u="none" strike="noStrike" cap="none" spc="0" normalizeH="0" baseline="0">
                      <a:ln>
                        <a:noFill/>
                      </a:ln>
                      <a:solidFill>
                        <a:schemeClr val="bg2">
                          <a:lumMod val="10000"/>
                        </a:schemeClr>
                      </a:solidFill>
                      <a:effectLst/>
                      <a:uFillTx/>
                      <a:ea typeface="+mn-ea"/>
                      <a:cs typeface="+mn-cs"/>
                      <a:sym typeface="Helvetica Neue"/>
                    </a:endParaRPr>
                  </a:p>
                </p:txBody>
              </p:sp>
            </mc:Choice>
            <mc:Fallback xmlns="">
              <p:sp>
                <p:nvSpPr>
                  <p:cNvPr id="89" name="TextBox 88">
                    <a:extLst>
                      <a:ext uri="{FF2B5EF4-FFF2-40B4-BE49-F238E27FC236}">
                        <a16:creationId xmlns:a16="http://schemas.microsoft.com/office/drawing/2014/main" id="{2CF97CD1-BC95-BBE8-22CF-1336EB4CC50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7453" y="6231323"/>
                    <a:ext cx="886268" cy="492443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0" name="TextBox 89">
                    <a:extLst>
                      <a:ext uri="{FF2B5EF4-FFF2-40B4-BE49-F238E27FC236}">
                        <a16:creationId xmlns:a16="http://schemas.microsoft.com/office/drawing/2014/main" id="{E71B6699-C6F6-3544-7018-6C8895D74893}"/>
                      </a:ext>
                    </a:extLst>
                  </p:cNvPr>
                  <p:cNvSpPr txBox="1"/>
                  <p:nvPr/>
                </p:nvSpPr>
                <p:spPr>
                  <a:xfrm>
                    <a:off x="6005114" y="10292644"/>
                    <a:ext cx="344261" cy="492443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none" lIns="0" tIns="0" rIns="0" bIns="0" numCol="1" spcCol="38100" rtlCol="0" anchor="ctr">
                    <a:spAutoFit/>
                  </a:bodyPr>
                  <a:lstStyle/>
                  <a:p>
                    <a:pPr marL="0" marR="0" indent="0" algn="ctr" defTabSz="2438338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GB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𝑥</m:t>
                          </m:r>
                        </m:oMath>
                      </m:oMathPara>
                    </a14:m>
                    <a:endParaRPr kumimoji="0" lang="en-GB" sz="3200" b="0" i="0" u="none" strike="noStrike" cap="none" spc="0" normalizeH="0" baseline="0">
                      <a:ln>
                        <a:noFill/>
                      </a:ln>
                      <a:solidFill>
                        <a:schemeClr val="bg2">
                          <a:lumMod val="10000"/>
                        </a:schemeClr>
                      </a:solidFill>
                      <a:effectLst/>
                      <a:uFillTx/>
                      <a:ea typeface="+mn-ea"/>
                      <a:cs typeface="+mn-cs"/>
                      <a:sym typeface="Helvetica Neue"/>
                    </a:endParaRPr>
                  </a:p>
                </p:txBody>
              </p:sp>
            </mc:Choice>
            <mc:Fallback xmlns="">
              <p:sp>
                <p:nvSpPr>
                  <p:cNvPr id="90" name="TextBox 89">
                    <a:extLst>
                      <a:ext uri="{FF2B5EF4-FFF2-40B4-BE49-F238E27FC236}">
                        <a16:creationId xmlns:a16="http://schemas.microsoft.com/office/drawing/2014/main" id="{E71B6699-C6F6-3544-7018-6C8895D7489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05114" y="10292644"/>
                    <a:ext cx="344261" cy="492443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1" name="TextBox 90">
                    <a:extLst>
                      <a:ext uri="{FF2B5EF4-FFF2-40B4-BE49-F238E27FC236}">
                        <a16:creationId xmlns:a16="http://schemas.microsoft.com/office/drawing/2014/main" id="{C3AC9DDB-CB86-83DA-C4A6-67186A19A448}"/>
                      </a:ext>
                    </a:extLst>
                  </p:cNvPr>
                  <p:cNvSpPr txBox="1"/>
                  <p:nvPr/>
                </p:nvSpPr>
                <p:spPr>
                  <a:xfrm>
                    <a:off x="3712268" y="10292644"/>
                    <a:ext cx="460960" cy="492443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none" lIns="0" tIns="0" rIns="0" bIns="0" numCol="1" spcCol="38100" rtlCol="0" anchor="ctr">
                    <a:spAutoFit/>
                  </a:bodyPr>
                  <a:lstStyle/>
                  <a:p>
                    <a:pPr marL="0" marR="0" indent="0" algn="ctr" defTabSz="2438338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en-GB" sz="3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</m:ctrlPr>
                            </m:sSubPr>
                            <m:e>
                              <m:r>
                                <a:rPr kumimoji="0" lang="en-GB" sz="3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GB" sz="3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  <m:t>𝑖</m:t>
                              </m:r>
                            </m:sub>
                          </m:sSub>
                        </m:oMath>
                      </m:oMathPara>
                    </a14:m>
                    <a:endParaRPr kumimoji="0" lang="en-GB" sz="3200" b="0" i="0" u="none" strike="noStrike" cap="none" spc="0" normalizeH="0" baseline="0">
                      <a:ln>
                        <a:noFill/>
                      </a:ln>
                      <a:solidFill>
                        <a:schemeClr val="bg2">
                          <a:lumMod val="10000"/>
                        </a:schemeClr>
                      </a:solidFill>
                      <a:effectLst/>
                      <a:uFillTx/>
                      <a:ea typeface="+mn-ea"/>
                      <a:cs typeface="+mn-cs"/>
                      <a:sym typeface="Helvetica Neue"/>
                    </a:endParaRPr>
                  </a:p>
                </p:txBody>
              </p:sp>
            </mc:Choice>
            <mc:Fallback xmlns="">
              <p:sp>
                <p:nvSpPr>
                  <p:cNvPr id="91" name="TextBox 90">
                    <a:extLst>
                      <a:ext uri="{FF2B5EF4-FFF2-40B4-BE49-F238E27FC236}">
                        <a16:creationId xmlns:a16="http://schemas.microsoft.com/office/drawing/2014/main" id="{C3AC9DDB-CB86-83DA-C4A6-67186A19A44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12268" y="10292644"/>
                    <a:ext cx="460960" cy="492443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2" name="TextBox 91">
                    <a:extLst>
                      <a:ext uri="{FF2B5EF4-FFF2-40B4-BE49-F238E27FC236}">
                        <a16:creationId xmlns:a16="http://schemas.microsoft.com/office/drawing/2014/main" id="{34ED6728-F05D-E998-8F98-D103ECA5C34F}"/>
                      </a:ext>
                    </a:extLst>
                  </p:cNvPr>
                  <p:cNvSpPr txBox="1"/>
                  <p:nvPr/>
                </p:nvSpPr>
                <p:spPr>
                  <a:xfrm>
                    <a:off x="4661863" y="10292644"/>
                    <a:ext cx="852093" cy="492443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none" lIns="0" tIns="0" rIns="0" bIns="0" numCol="1" spcCol="38100" rtlCol="0" anchor="ctr">
                    <a:spAutoFit/>
                  </a:bodyPr>
                  <a:lstStyle/>
                  <a:p>
                    <a:pPr marL="0" marR="0" indent="0" algn="ctr" defTabSz="2438338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en-GB" sz="3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</m:ctrlPr>
                            </m:sSubPr>
                            <m:e>
                              <m:r>
                                <a:rPr kumimoji="0" lang="en-GB" sz="3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GB" sz="3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  <m:t>𝑖</m:t>
                              </m:r>
                              <m:r>
                                <a:rPr kumimoji="0" lang="en-GB" sz="3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  <m:t>+1</m:t>
                              </m:r>
                            </m:sub>
                          </m:sSub>
                        </m:oMath>
                      </m:oMathPara>
                    </a14:m>
                    <a:endParaRPr kumimoji="0" lang="en-GB" sz="3200" b="0" i="0" u="none" strike="noStrike" cap="none" spc="0" normalizeH="0" baseline="0">
                      <a:ln>
                        <a:noFill/>
                      </a:ln>
                      <a:solidFill>
                        <a:schemeClr val="accent6">
                          <a:lumMod val="75000"/>
                        </a:schemeClr>
                      </a:solidFill>
                      <a:effectLst/>
                      <a:uFillTx/>
                      <a:ea typeface="+mn-ea"/>
                      <a:cs typeface="+mn-cs"/>
                      <a:sym typeface="Helvetica Neue"/>
                    </a:endParaRPr>
                  </a:p>
                </p:txBody>
              </p:sp>
            </mc:Choice>
            <mc:Fallback xmlns="">
              <p:sp>
                <p:nvSpPr>
                  <p:cNvPr id="92" name="TextBox 91">
                    <a:extLst>
                      <a:ext uri="{FF2B5EF4-FFF2-40B4-BE49-F238E27FC236}">
                        <a16:creationId xmlns:a16="http://schemas.microsoft.com/office/drawing/2014/main" id="{34ED6728-F05D-E998-8F98-D103ECA5C34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61863" y="10292644"/>
                    <a:ext cx="852093" cy="492443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4" name="TextBox 93">
                    <a:extLst>
                      <a:ext uri="{FF2B5EF4-FFF2-40B4-BE49-F238E27FC236}">
                        <a16:creationId xmlns:a16="http://schemas.microsoft.com/office/drawing/2014/main" id="{80114E83-C200-8068-80C1-57E212021CE8}"/>
                      </a:ext>
                    </a:extLst>
                  </p:cNvPr>
                  <p:cNvSpPr txBox="1"/>
                  <p:nvPr/>
                </p:nvSpPr>
                <p:spPr>
                  <a:xfrm>
                    <a:off x="2274822" y="10292644"/>
                    <a:ext cx="852093" cy="492443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none" lIns="0" tIns="0" rIns="0" bIns="0" numCol="1" spcCol="38100" rtlCol="0" anchor="ctr">
                    <a:spAutoFit/>
                  </a:bodyPr>
                  <a:lstStyle/>
                  <a:p>
                    <a:pPr marL="0" marR="0" indent="0" algn="ctr" defTabSz="2438338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en-GB" sz="3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</m:ctrlPr>
                            </m:sSubPr>
                            <m:e>
                              <m:r>
                                <a:rPr kumimoji="0" lang="en-GB" sz="3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GB" sz="3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  <m:t>𝑖</m:t>
                              </m:r>
                              <m:r>
                                <a:rPr kumimoji="0" lang="en-GB" sz="3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kumimoji="0" lang="en-GB" sz="3200" b="0" i="0" u="none" strike="noStrike" cap="none" spc="0" normalizeH="0" baseline="0">
                      <a:ln>
                        <a:noFill/>
                      </a:ln>
                      <a:solidFill>
                        <a:schemeClr val="accent6">
                          <a:lumMod val="75000"/>
                        </a:schemeClr>
                      </a:solidFill>
                      <a:effectLst/>
                      <a:uFillTx/>
                      <a:ea typeface="+mn-ea"/>
                      <a:cs typeface="+mn-cs"/>
                      <a:sym typeface="Helvetica Neue"/>
                    </a:endParaRPr>
                  </a:p>
                </p:txBody>
              </p:sp>
            </mc:Choice>
            <mc:Fallback xmlns="">
              <p:sp>
                <p:nvSpPr>
                  <p:cNvPr id="94" name="TextBox 93">
                    <a:extLst>
                      <a:ext uri="{FF2B5EF4-FFF2-40B4-BE49-F238E27FC236}">
                        <a16:creationId xmlns:a16="http://schemas.microsoft.com/office/drawing/2014/main" id="{80114E83-C200-8068-80C1-57E212021CE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74822" y="10292644"/>
                    <a:ext cx="852093" cy="492443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98" name="Straight Arrow Connector 97">
                <a:extLst>
                  <a:ext uri="{FF2B5EF4-FFF2-40B4-BE49-F238E27FC236}">
                    <a16:creationId xmlns:a16="http://schemas.microsoft.com/office/drawing/2014/main" id="{41822BE0-BE6E-8CD3-C9E3-4BF70CFF342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109800" y="7590611"/>
                <a:ext cx="493566" cy="711178"/>
              </a:xfrm>
              <a:prstGeom prst="straightConnector1">
                <a:avLst/>
              </a:prstGeom>
              <a:noFill/>
              <a:ln w="57150" cap="flat">
                <a:solidFill>
                  <a:srgbClr val="00B0F0"/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BED4261F-E9CC-9F9B-97CA-BA593C761F9A}"/>
                  </a:ext>
                </a:extLst>
              </p:cNvPr>
              <p:cNvSpPr txBox="1"/>
              <p:nvPr/>
            </p:nvSpPr>
            <p:spPr>
              <a:xfrm>
                <a:off x="6153708" y="8277196"/>
                <a:ext cx="1141338" cy="96436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GB" sz="2800" b="1" i="0" u="none" strike="noStrike" cap="none" spc="0" normalizeH="0" baseline="0">
                    <a:ln>
                      <a:noFill/>
                    </a:ln>
                    <a:solidFill>
                      <a:srgbClr val="00B0F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rPr>
                  <a:t>True</a:t>
                </a:r>
              </a:p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GB" sz="2800" b="1" i="0" u="none" strike="noStrike" cap="none" spc="0" normalizeH="0" baseline="0">
                    <a:ln>
                      <a:noFill/>
                    </a:ln>
                    <a:solidFill>
                      <a:srgbClr val="00B0F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rPr>
                  <a:t> slope</a:t>
                </a:r>
              </a:p>
            </p:txBody>
          </p:sp>
          <p:cxnSp>
            <p:nvCxnSpPr>
              <p:cNvPr id="101" name="Straight Arrow Connector 100">
                <a:extLst>
                  <a:ext uri="{FF2B5EF4-FFF2-40B4-BE49-F238E27FC236}">
                    <a16:creationId xmlns:a16="http://schemas.microsoft.com/office/drawing/2014/main" id="{EF839F2F-620A-994B-6CA4-00B7FDF2A54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94385" y="7252041"/>
                <a:ext cx="467092" cy="875034"/>
              </a:xfrm>
              <a:prstGeom prst="straightConnector1">
                <a:avLst/>
              </a:prstGeom>
              <a:noFill/>
              <a:ln w="57150" cap="flat">
                <a:solidFill>
                  <a:schemeClr val="accent6">
                    <a:lumMod val="75000"/>
                  </a:schemeClr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0FC3ED08-CB3C-5D45-3AF4-BB785AC0FD4A}"/>
                  </a:ext>
                </a:extLst>
              </p:cNvPr>
              <p:cNvSpPr txBox="1"/>
              <p:nvPr/>
            </p:nvSpPr>
            <p:spPr>
              <a:xfrm>
                <a:off x="2466360" y="6300076"/>
                <a:ext cx="2619307" cy="96436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GB" sz="2800" b="1" i="0" u="none" strike="noStrike" cap="none" spc="0" normalizeH="0" baseline="0">
                    <a:ln>
                      <a:noFill/>
                    </a:ln>
                    <a:solidFill>
                      <a:schemeClr val="accent6">
                        <a:lumMod val="75000"/>
                      </a:schemeClr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rPr>
                  <a:t>Approximated </a:t>
                </a:r>
              </a:p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GB" sz="2800" b="1">
                    <a:solidFill>
                      <a:schemeClr val="accent6">
                        <a:lumMod val="75000"/>
                      </a:schemeClr>
                    </a:solidFill>
                  </a:rPr>
                  <a:t>slope</a:t>
                </a:r>
                <a:endParaRPr kumimoji="0" lang="en-GB" sz="2800" b="1" i="0" u="none" strike="noStrike" cap="none" spc="0" normalizeH="0" baseline="0">
                  <a:ln>
                    <a:noFill/>
                  </a:ln>
                  <a:solidFill>
                    <a:schemeClr val="accent6">
                      <a:lumMod val="75000"/>
                    </a:schemeClr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p:grp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94882693-A5AE-5E9B-DC81-88D140469983}"/>
                </a:ext>
              </a:extLst>
            </p:cNvPr>
            <p:cNvCxnSpPr>
              <a:cxnSpLocks/>
            </p:cNvCxnSpPr>
            <p:nvPr/>
          </p:nvCxnSpPr>
          <p:spPr>
            <a:xfrm>
              <a:off x="2686894" y="10178716"/>
              <a:ext cx="1192974" cy="0"/>
            </a:xfrm>
            <a:prstGeom prst="straightConnector1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headEnd type="triangle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F8CFB0C0-3B7C-15EE-9E09-B9791EC3EB12}"/>
                </a:ext>
              </a:extLst>
            </p:cNvPr>
            <p:cNvCxnSpPr>
              <a:cxnSpLocks/>
            </p:cNvCxnSpPr>
            <p:nvPr/>
          </p:nvCxnSpPr>
          <p:spPr>
            <a:xfrm>
              <a:off x="3903336" y="10178716"/>
              <a:ext cx="1192227" cy="0"/>
            </a:xfrm>
            <a:prstGeom prst="straightConnector1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headEnd type="triangle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853D5CE3-585A-D7A7-9FCB-54C8E3C6534B}"/>
                    </a:ext>
                  </a:extLst>
                </p:cNvPr>
                <p:cNvSpPr txBox="1"/>
                <p:nvPr/>
              </p:nvSpPr>
              <p:spPr>
                <a:xfrm>
                  <a:off x="3903336" y="10181445"/>
                  <a:ext cx="1173405" cy="49244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0" tIns="0" rIns="0" bIns="0" numCol="1" spcCol="3810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3200" i="1" smtClean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GB" sz="3200" b="0" i="1" smtClean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kumimoji="0" lang="en-GB" sz="3200" b="0" i="0" u="none" strike="noStrike" cap="none" spc="0" normalizeH="0" baseline="0">
                    <a:ln>
                      <a:noFill/>
                    </a:ln>
                    <a:solidFill>
                      <a:srgbClr val="5E5E5E"/>
                    </a:solidFill>
                    <a:effectLst/>
                    <a:uFillTx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853D5CE3-585A-D7A7-9FCB-54C8E3C653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03336" y="10181445"/>
                  <a:ext cx="1173405" cy="492443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E9F2E642-AE4A-6D55-395F-3B6F47558C8E}"/>
                    </a:ext>
                  </a:extLst>
                </p:cNvPr>
                <p:cNvSpPr txBox="1"/>
                <p:nvPr/>
              </p:nvSpPr>
              <p:spPr>
                <a:xfrm>
                  <a:off x="2715390" y="10181445"/>
                  <a:ext cx="1173405" cy="49244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0" tIns="0" rIns="0" bIns="0" numCol="1" spcCol="3810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3200" i="1" smtClean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GB" sz="3200" b="0" i="1" smtClean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kumimoji="0" lang="en-GB" sz="3200" b="0" i="0" u="none" strike="noStrike" cap="none" spc="0" normalizeH="0" baseline="0">
                    <a:ln>
                      <a:noFill/>
                    </a:ln>
                    <a:solidFill>
                      <a:srgbClr val="5E5E5E"/>
                    </a:solidFill>
                    <a:effectLst/>
                    <a:uFillTx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E9F2E642-AE4A-6D55-395F-3B6F47558C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15390" y="10181445"/>
                  <a:ext cx="1173405" cy="492443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754104433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85CC2-E1EF-F5C0-601D-13ADA1456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7EE837D8-4BA3-5C14-6769-A34AB4224A0E}"/>
              </a:ext>
            </a:extLst>
          </p:cNvPr>
          <p:cNvSpPr/>
          <p:nvPr/>
        </p:nvSpPr>
        <p:spPr>
          <a:xfrm>
            <a:off x="3888795" y="246197"/>
            <a:ext cx="7994496" cy="923330"/>
          </a:xfrm>
          <a:prstGeom prst="rect">
            <a:avLst/>
          </a:prstGeom>
        </p:spPr>
        <p:txBody>
          <a:bodyPr wrap="none">
            <a:spAutoFit/>
          </a:bodyPr>
          <a:lstStyle>
            <a:defPPr marL="0" marR="0" indent="0" algn="l" defTabSz="18288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1pPr>
            <a:lvl2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2pPr>
            <a:lvl3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3pPr>
            <a:lvl4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4pPr>
            <a:lvl5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5pPr>
            <a:lvl6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6pPr>
            <a:lvl7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7pPr>
            <a:lvl8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8pPr>
            <a:lvl9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9pPr>
          </a:lstStyle>
          <a:p>
            <a:r>
              <a:rPr lang="en-US" sz="5400" b="1">
                <a:solidFill>
                  <a:srgbClr val="EAEAEA"/>
                </a:solidFill>
              </a:rPr>
              <a:t>Converting PDE to ODE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D95C56E-1272-3C83-C56A-63A87AA068DF}"/>
              </a:ext>
            </a:extLst>
          </p:cNvPr>
          <p:cNvSpPr txBox="1"/>
          <p:nvPr/>
        </p:nvSpPr>
        <p:spPr>
          <a:xfrm>
            <a:off x="1378345" y="2896336"/>
            <a:ext cx="947375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3200" b="1" i="0" u="none" strike="noStrike" cap="none" spc="0" normalizeH="0" baseline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PDE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3FDEF60-DD09-DABD-078A-1994D5F0B975}"/>
              </a:ext>
            </a:extLst>
          </p:cNvPr>
          <p:cNvSpPr/>
          <p:nvPr/>
        </p:nvSpPr>
        <p:spPr>
          <a:xfrm rot="-10800000" flipV="1">
            <a:off x="9853404" y="13283356"/>
            <a:ext cx="4628055" cy="379591"/>
          </a:xfrm>
          <a:prstGeom prst="rect">
            <a:avLst/>
          </a:prstGeom>
          <a:solidFill>
            <a:srgbClr val="8B79A6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n-US" sz="1800"/>
              <a:t>Workshop on Numerical Simulation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8A46690-1F0A-AF2D-CD37-D5E491E6B0C9}"/>
              </a:ext>
            </a:extLst>
          </p:cNvPr>
          <p:cNvSpPr/>
          <p:nvPr/>
        </p:nvSpPr>
        <p:spPr>
          <a:xfrm rot="-10800000" flipV="1">
            <a:off x="457612" y="13283975"/>
            <a:ext cx="4628055" cy="379591"/>
          </a:xfrm>
          <a:prstGeom prst="rect">
            <a:avLst/>
          </a:prstGeom>
          <a:solidFill>
            <a:srgbClr val="5C2A7A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/>
            <a:r>
              <a:rPr lang="en-GB" sz="1800">
                <a:solidFill>
                  <a:srgbClr val="9E79A6"/>
                </a:solidFill>
                <a:latin typeface="Helvetica Neue"/>
              </a:rPr>
              <a:t>KR and MA</a:t>
            </a:r>
            <a:endParaRPr lang="en-US" sz="18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BEDE68-A628-F25B-AF31-20F03E466D09}"/>
              </a:ext>
            </a:extLst>
          </p:cNvPr>
          <p:cNvSpPr txBox="1"/>
          <p:nvPr/>
        </p:nvSpPr>
        <p:spPr>
          <a:xfrm flipH="1">
            <a:off x="2446661" y="1752132"/>
            <a:ext cx="632311" cy="1194507"/>
          </a:xfrm>
          <a:prstGeom prst="rect">
            <a:avLst/>
          </a:prstGeom>
          <a:solidFill>
            <a:srgbClr val="CCECFF">
              <a:alpha val="50196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7E7C0DA-A657-3F4C-5C55-40B7C5D64341}"/>
              </a:ext>
            </a:extLst>
          </p:cNvPr>
          <p:cNvSpPr/>
          <p:nvPr/>
        </p:nvSpPr>
        <p:spPr>
          <a:xfrm rot="-10800000" flipV="1">
            <a:off x="19138012" y="13283101"/>
            <a:ext cx="4628055" cy="379591"/>
          </a:xfrm>
          <a:prstGeom prst="rect">
            <a:avLst/>
          </a:prstGeom>
          <a:solidFill>
            <a:srgbClr val="5C2A7A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/>
            <a:r>
              <a:rPr lang="en-GB" sz="1800">
                <a:solidFill>
                  <a:srgbClr val="9E79A6"/>
                </a:solidFill>
                <a:latin typeface="Helvetica Neue"/>
              </a:rPr>
              <a:t>22/10/2025</a:t>
            </a:r>
            <a:endParaRPr lang="en-US" sz="1800"/>
          </a:p>
        </p:txBody>
      </p:sp>
      <p:sp>
        <p:nvSpPr>
          <p:cNvPr id="59" name="Slide Number">
            <a:extLst>
              <a:ext uri="{FF2B5EF4-FFF2-40B4-BE49-F238E27FC236}">
                <a16:creationId xmlns:a16="http://schemas.microsoft.com/office/drawing/2014/main" id="{72C41475-7674-B294-ED8B-591F76A5CB98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23805849" y="13272486"/>
            <a:ext cx="230832" cy="379591"/>
          </a:xfrm>
          <a:prstGeom prst="rect">
            <a:avLst/>
          </a:prstGeom>
        </p:spPr>
        <p:txBody>
          <a:bodyPr/>
          <a:lstStyle/>
          <a:p>
            <a:r>
              <a:rPr lang="en-GB"/>
              <a:t>4</a:t>
            </a:r>
            <a:endParaRPr/>
          </a:p>
        </p:txBody>
      </p:sp>
      <p:pic>
        <p:nvPicPr>
          <p:cNvPr id="12" name="Picture 11" descr="\documentclass{article}&#10;\usepackage{amsmath}&#10;\pagestyle{empty}&#10;\begin{document}&#10;\begin{equation}&#10;\frac{\partial c}{\partial t}=-v\frac{\partial c}{\partial x}&#10;\nonumber&#10;\end{equation}&#10;&#10;\end{document}" title="IguanaTex Bitmap Display">
            <a:extLst>
              <a:ext uri="{FF2B5EF4-FFF2-40B4-BE49-F238E27FC236}">
                <a16:creationId xmlns:a16="http://schemas.microsoft.com/office/drawing/2014/main" id="{1E528A95-0675-737D-95B6-4418A928190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187" y="1819920"/>
            <a:ext cx="2419693" cy="100772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63DB74B-CF56-FE9B-9BE8-6EF8DB9BEAC8}"/>
                  </a:ext>
                </a:extLst>
              </p:cNvPr>
              <p:cNvSpPr txBox="1"/>
              <p:nvPr/>
            </p:nvSpPr>
            <p:spPr>
              <a:xfrm>
                <a:off x="18367561" y="2471145"/>
                <a:ext cx="4009431" cy="141673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900" i="1" smtClean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GB" sz="3900" i="1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sz="3900" i="1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3900" b="0" i="1" smtClean="0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n-GB" sz="3900" i="1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num>
                                <m:den>
                                  <m:r>
                                    <a:rPr lang="en-GB" sz="3900" b="0" i="1" smtClean="0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𝑑𝑥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GB" sz="3900" i="1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3900" i="1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GB" sz="3900" b="0" i="1" smtClean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3900" i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kumimoji="0" lang="en-GB" sz="39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Neue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</m:ctrlPr>
                            </m:sSubPr>
                            <m:e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𝑐</m:t>
                              </m:r>
                            </m:e>
                            <m:sub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7030A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0" lang="en-GB" sz="39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Neue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</m:ctrlPr>
                            </m:sSubPr>
                            <m:e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𝑐</m:t>
                              </m:r>
                            </m:e>
                            <m:sub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7030A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𝑖</m:t>
                              </m:r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7030A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−1</m:t>
                              </m:r>
                            </m:sub>
                          </m:sSub>
                        </m:num>
                        <m:den>
                          <m:r>
                            <a:rPr kumimoji="0" lang="en-GB" sz="39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Helvetica Neue"/>
                            </a:rPr>
                            <m:t>∆</m:t>
                          </m:r>
                          <m:r>
                            <a:rPr kumimoji="0" lang="en-GB" sz="39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Helvetica Neue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kumimoji="0" lang="en-GB" sz="39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sym typeface="Helvetica Neue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63DB74B-CF56-FE9B-9BE8-6EF8DB9BEA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67561" y="2471145"/>
                <a:ext cx="4009431" cy="141673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B10B455F-295F-7A56-F9D8-4B7752DEFBC9}"/>
              </a:ext>
            </a:extLst>
          </p:cNvPr>
          <p:cNvSpPr txBox="1"/>
          <p:nvPr/>
        </p:nvSpPr>
        <p:spPr>
          <a:xfrm>
            <a:off x="18716818" y="1586097"/>
            <a:ext cx="3815148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3200">
                <a:solidFill>
                  <a:srgbClr val="7030A0"/>
                </a:solidFill>
              </a:rPr>
              <a:t>Backward difference</a:t>
            </a:r>
            <a:endParaRPr kumimoji="0" lang="en-GB" sz="3200" b="0" i="0" u="none" strike="noStrike" cap="none" spc="0" normalizeH="0" baseline="0">
              <a:ln>
                <a:noFill/>
              </a:ln>
              <a:solidFill>
                <a:srgbClr val="7030A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864D20-2AA4-926A-CD2D-2D9FBCEF663A}"/>
              </a:ext>
            </a:extLst>
          </p:cNvPr>
          <p:cNvSpPr txBox="1"/>
          <p:nvPr/>
        </p:nvSpPr>
        <p:spPr>
          <a:xfrm>
            <a:off x="12450197" y="1586096"/>
            <a:ext cx="3335849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3200">
                <a:solidFill>
                  <a:schemeClr val="accent6">
                    <a:lumMod val="75000"/>
                  </a:schemeClr>
                </a:solidFill>
              </a:rPr>
              <a:t>Central difference</a:t>
            </a:r>
            <a:endParaRPr kumimoji="0" lang="en-GB" sz="3200" b="0" i="0" u="none" strike="noStrike" cap="none" spc="0" normalizeH="0" baseline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23FAD34-05A6-3316-06C8-52673E56A5FD}"/>
                  </a:ext>
                </a:extLst>
              </p:cNvPr>
              <p:cNvSpPr txBox="1"/>
              <p:nvPr/>
            </p:nvSpPr>
            <p:spPr>
              <a:xfrm>
                <a:off x="11773274" y="2471145"/>
                <a:ext cx="4487126" cy="141673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900" i="1" smtClean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GB" sz="3900" i="1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sz="3900" i="1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3900" b="0" i="1" smtClean="0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n-GB" sz="3900" i="1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num>
                                <m:den>
                                  <m:r>
                                    <a:rPr lang="en-GB" sz="3900" b="0" i="1" smtClean="0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𝑑𝑥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GB" sz="3900" i="1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3900" i="1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GB" sz="3900" b="0" i="1" smtClean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3900" i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kumimoji="0" lang="en-GB" sz="39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Neue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</m:ctrlPr>
                            </m:sSubPr>
                            <m:e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𝑐</m:t>
                              </m:r>
                            </m:e>
                            <m:sub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𝑖</m:t>
                              </m:r>
                              <m:r>
                                <a:rPr kumimoji="0" lang="en-US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+</m:t>
                              </m:r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1</m:t>
                              </m:r>
                            </m:sub>
                          </m:sSub>
                          <m:r>
                            <a:rPr kumimoji="0" lang="en-GB" sz="39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Neue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</m:ctrlPr>
                            </m:sSubPr>
                            <m:e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𝑐</m:t>
                              </m:r>
                            </m:e>
                            <m:sub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𝑖</m:t>
                              </m:r>
                              <m:r>
                                <a:rPr kumimoji="0" lang="en-US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−</m:t>
                              </m:r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kumimoji="0" lang="en-GB" sz="39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Neue"/>
                            </a:rPr>
                            <m:t>2</m:t>
                          </m:r>
                          <m:r>
                            <a:rPr kumimoji="0" lang="en-GB" sz="39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Helvetica Neue"/>
                            </a:rPr>
                            <m:t>∆</m:t>
                          </m:r>
                          <m:r>
                            <a:rPr kumimoji="0" lang="en-GB" sz="39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Helvetica Neue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kumimoji="0" lang="en-GB" sz="39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sym typeface="Helvetica Neue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23FAD34-05A6-3316-06C8-52673E56A5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73274" y="2471145"/>
                <a:ext cx="4487126" cy="141673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FE437E4B-97B2-E142-305F-7CD3B7E9EE73}"/>
              </a:ext>
            </a:extLst>
          </p:cNvPr>
          <p:cNvGrpSpPr/>
          <p:nvPr/>
        </p:nvGrpSpPr>
        <p:grpSpPr>
          <a:xfrm>
            <a:off x="160623" y="3820967"/>
            <a:ext cx="7125496" cy="6852921"/>
            <a:chOff x="160623" y="3820967"/>
            <a:chExt cx="7125496" cy="6852921"/>
          </a:xfrm>
        </p:grpSpPr>
        <p:pic>
          <p:nvPicPr>
            <p:cNvPr id="3" name="Picture 2" descr="A graph of a function&#10;&#10;AI-generated content may be incorrect.">
              <a:extLst>
                <a:ext uri="{FF2B5EF4-FFF2-40B4-BE49-F238E27FC236}">
                  <a16:creationId xmlns:a16="http://schemas.microsoft.com/office/drawing/2014/main" id="{82EC751C-B4C9-202A-A951-F226E8A7479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60623" y="3820967"/>
              <a:ext cx="6842119" cy="6842119"/>
            </a:xfrm>
            <a:prstGeom prst="rect">
              <a:avLst/>
            </a:prstGeom>
          </p:spPr>
        </p:pic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B172CD65-5DAE-63B1-58F4-FC911ADEFC25}"/>
                </a:ext>
              </a:extLst>
            </p:cNvPr>
            <p:cNvGrpSpPr/>
            <p:nvPr/>
          </p:nvGrpSpPr>
          <p:grpSpPr>
            <a:xfrm>
              <a:off x="398526" y="4465806"/>
              <a:ext cx="6887593" cy="5918886"/>
              <a:chOff x="407453" y="5433188"/>
              <a:chExt cx="6887593" cy="5918886"/>
            </a:xfrm>
          </p:grpSpPr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36F5F8E4-36E1-DB75-6A26-F45B9E3818A7}"/>
                  </a:ext>
                </a:extLst>
              </p:cNvPr>
              <p:cNvSpPr txBox="1"/>
              <p:nvPr/>
            </p:nvSpPr>
            <p:spPr>
              <a:xfrm>
                <a:off x="899983" y="5433188"/>
                <a:ext cx="1337891" cy="859327"/>
              </a:xfrm>
              <a:prstGeom prst="rect">
                <a:avLst/>
              </a:prstGeom>
              <a:solidFill>
                <a:schemeClr val="bg1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GB" sz="24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E866FC49-5C5C-ECCA-F56A-19646E5DCEEE}"/>
                  </a:ext>
                </a:extLst>
              </p:cNvPr>
              <p:cNvSpPr txBox="1"/>
              <p:nvPr/>
            </p:nvSpPr>
            <p:spPr>
              <a:xfrm>
                <a:off x="5673778" y="10492747"/>
                <a:ext cx="1337891" cy="859327"/>
              </a:xfrm>
              <a:prstGeom prst="rect">
                <a:avLst/>
              </a:prstGeom>
              <a:solidFill>
                <a:schemeClr val="bg1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GB" sz="24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6428143D-335A-1FC1-2834-19C7EBE633CF}"/>
                  </a:ext>
                </a:extLst>
              </p:cNvPr>
              <p:cNvSpPr/>
              <p:nvPr/>
            </p:nvSpPr>
            <p:spPr>
              <a:xfrm>
                <a:off x="3830641" y="8588501"/>
                <a:ext cx="163244" cy="172045"/>
              </a:xfrm>
              <a:prstGeom prst="ellipse">
                <a:avLst/>
              </a:prstGeom>
              <a:solidFill>
                <a:srgbClr val="7030A0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GB" sz="3200" b="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7B364E06-B0C0-E63B-47EB-74609E2396B7}"/>
                  </a:ext>
                </a:extLst>
              </p:cNvPr>
              <p:cNvSpPr/>
              <p:nvPr/>
            </p:nvSpPr>
            <p:spPr>
              <a:xfrm>
                <a:off x="2614199" y="9114146"/>
                <a:ext cx="163244" cy="172045"/>
              </a:xfrm>
              <a:prstGeom prst="ellipse">
                <a:avLst/>
              </a:prstGeom>
              <a:solidFill>
                <a:srgbClr val="7030A0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GB" sz="3200" b="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5CB6A6F5-F774-4EE2-2E67-E3FF67E4246B}"/>
                  </a:ext>
                </a:extLst>
              </p:cNvPr>
              <p:cNvSpPr/>
              <p:nvPr/>
            </p:nvSpPr>
            <p:spPr>
              <a:xfrm>
                <a:off x="5004045" y="7782815"/>
                <a:ext cx="163244" cy="172045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GB" sz="3200" b="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822AD9AC-1901-F50C-7FF6-7E09965332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96568" y="9274159"/>
                <a:ext cx="0" cy="940650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dash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345D8321-6802-E533-00B3-1ED0F2BBD4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888795" y="8760546"/>
                <a:ext cx="23468" cy="1454263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dash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CB7D70B7-5A11-D524-CD20-3DD67D5371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85667" y="7958547"/>
                <a:ext cx="0" cy="2256262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dash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EF92872A-22C2-F30B-136D-E116E301DE6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813047" y="7517693"/>
                <a:ext cx="4361676" cy="2256669"/>
              </a:xfrm>
              <a:prstGeom prst="line">
                <a:avLst/>
              </a:prstGeom>
              <a:noFill/>
              <a:ln w="57150" cap="flat">
                <a:solidFill>
                  <a:schemeClr val="accent1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4A94F258-D5AC-9EAE-6295-AACB75AC937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552161" y="7830479"/>
                <a:ext cx="4410385" cy="1857803"/>
              </a:xfrm>
              <a:prstGeom prst="line">
                <a:avLst/>
              </a:prstGeom>
              <a:noFill/>
              <a:ln w="57150" cap="flat">
                <a:solidFill>
                  <a:srgbClr val="7030A0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9" name="TextBox 88">
                    <a:extLst>
                      <a:ext uri="{FF2B5EF4-FFF2-40B4-BE49-F238E27FC236}">
                        <a16:creationId xmlns:a16="http://schemas.microsoft.com/office/drawing/2014/main" id="{94123143-5D03-CF86-A957-B839B1BAA657}"/>
                      </a:ext>
                    </a:extLst>
                  </p:cNvPr>
                  <p:cNvSpPr txBox="1"/>
                  <p:nvPr/>
                </p:nvSpPr>
                <p:spPr>
                  <a:xfrm>
                    <a:off x="407453" y="6231323"/>
                    <a:ext cx="886268" cy="492443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none" lIns="0" tIns="0" rIns="0" bIns="0" numCol="1" spcCol="38100" rtlCol="0" anchor="ctr">
                    <a:spAutoFit/>
                  </a:bodyPr>
                  <a:lstStyle/>
                  <a:p>
                    <a:pPr marL="0" marR="0" indent="0" algn="ctr" defTabSz="2438338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GB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𝑐</m:t>
                          </m:r>
                          <m:r>
                            <a:rPr kumimoji="0" lang="en-GB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(</m:t>
                          </m:r>
                          <m:r>
                            <a:rPr kumimoji="0" lang="en-GB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𝑥</m:t>
                          </m:r>
                          <m:r>
                            <a:rPr kumimoji="0" lang="en-GB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)</m:t>
                          </m:r>
                        </m:oMath>
                      </m:oMathPara>
                    </a14:m>
                    <a:endParaRPr kumimoji="0" lang="en-GB" sz="3200" b="0" i="0" u="none" strike="noStrike" cap="none" spc="0" normalizeH="0" baseline="0">
                      <a:ln>
                        <a:noFill/>
                      </a:ln>
                      <a:solidFill>
                        <a:schemeClr val="bg2">
                          <a:lumMod val="10000"/>
                        </a:schemeClr>
                      </a:solidFill>
                      <a:effectLst/>
                      <a:uFillTx/>
                      <a:ea typeface="+mn-ea"/>
                      <a:cs typeface="+mn-cs"/>
                      <a:sym typeface="Helvetica Neue"/>
                    </a:endParaRPr>
                  </a:p>
                </p:txBody>
              </p:sp>
            </mc:Choice>
            <mc:Fallback xmlns="">
              <p:sp>
                <p:nvSpPr>
                  <p:cNvPr id="89" name="TextBox 88">
                    <a:extLst>
                      <a:ext uri="{FF2B5EF4-FFF2-40B4-BE49-F238E27FC236}">
                        <a16:creationId xmlns:a16="http://schemas.microsoft.com/office/drawing/2014/main" id="{94123143-5D03-CF86-A957-B839B1BAA65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7453" y="6231323"/>
                    <a:ext cx="886268" cy="492443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0" name="TextBox 89">
                    <a:extLst>
                      <a:ext uri="{FF2B5EF4-FFF2-40B4-BE49-F238E27FC236}">
                        <a16:creationId xmlns:a16="http://schemas.microsoft.com/office/drawing/2014/main" id="{5D904DD9-F93A-09F4-906A-B5F09F612D23}"/>
                      </a:ext>
                    </a:extLst>
                  </p:cNvPr>
                  <p:cNvSpPr txBox="1"/>
                  <p:nvPr/>
                </p:nvSpPr>
                <p:spPr>
                  <a:xfrm>
                    <a:off x="6005114" y="10292644"/>
                    <a:ext cx="344261" cy="492443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none" lIns="0" tIns="0" rIns="0" bIns="0" numCol="1" spcCol="38100" rtlCol="0" anchor="ctr">
                    <a:spAutoFit/>
                  </a:bodyPr>
                  <a:lstStyle/>
                  <a:p>
                    <a:pPr marL="0" marR="0" indent="0" algn="ctr" defTabSz="2438338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GB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𝑥</m:t>
                          </m:r>
                        </m:oMath>
                      </m:oMathPara>
                    </a14:m>
                    <a:endParaRPr kumimoji="0" lang="en-GB" sz="3200" b="0" i="0" u="none" strike="noStrike" cap="none" spc="0" normalizeH="0" baseline="0">
                      <a:ln>
                        <a:noFill/>
                      </a:ln>
                      <a:solidFill>
                        <a:schemeClr val="bg2">
                          <a:lumMod val="10000"/>
                        </a:schemeClr>
                      </a:solidFill>
                      <a:effectLst/>
                      <a:uFillTx/>
                      <a:ea typeface="+mn-ea"/>
                      <a:cs typeface="+mn-cs"/>
                      <a:sym typeface="Helvetica Neue"/>
                    </a:endParaRPr>
                  </a:p>
                </p:txBody>
              </p:sp>
            </mc:Choice>
            <mc:Fallback xmlns="">
              <p:sp>
                <p:nvSpPr>
                  <p:cNvPr id="90" name="TextBox 89">
                    <a:extLst>
                      <a:ext uri="{FF2B5EF4-FFF2-40B4-BE49-F238E27FC236}">
                        <a16:creationId xmlns:a16="http://schemas.microsoft.com/office/drawing/2014/main" id="{5D904DD9-F93A-09F4-906A-B5F09F612D2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05114" y="10292644"/>
                    <a:ext cx="344261" cy="492443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1" name="TextBox 90">
                    <a:extLst>
                      <a:ext uri="{FF2B5EF4-FFF2-40B4-BE49-F238E27FC236}">
                        <a16:creationId xmlns:a16="http://schemas.microsoft.com/office/drawing/2014/main" id="{54A6CBEB-2477-7FF3-7AF5-DC6634B3E594}"/>
                      </a:ext>
                    </a:extLst>
                  </p:cNvPr>
                  <p:cNvSpPr txBox="1"/>
                  <p:nvPr/>
                </p:nvSpPr>
                <p:spPr>
                  <a:xfrm>
                    <a:off x="3712268" y="10292644"/>
                    <a:ext cx="460960" cy="492443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none" lIns="0" tIns="0" rIns="0" bIns="0" numCol="1" spcCol="38100" rtlCol="0" anchor="ctr">
                    <a:spAutoFit/>
                  </a:bodyPr>
                  <a:lstStyle/>
                  <a:p>
                    <a:pPr marL="0" marR="0" indent="0" algn="ctr" defTabSz="2438338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en-GB" sz="3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7030A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</m:ctrlPr>
                            </m:sSubPr>
                            <m:e>
                              <m:r>
                                <a:rPr kumimoji="0" lang="en-GB" sz="3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7030A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GB" sz="3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7030A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  <m:t>𝑖</m:t>
                              </m:r>
                            </m:sub>
                          </m:sSub>
                        </m:oMath>
                      </m:oMathPara>
                    </a14:m>
                    <a:endParaRPr kumimoji="0" lang="en-GB" sz="3200" b="0" i="0" u="none" strike="noStrike" cap="none" spc="0" normalizeH="0" baseline="0">
                      <a:ln>
                        <a:noFill/>
                      </a:ln>
                      <a:solidFill>
                        <a:srgbClr val="7030A0"/>
                      </a:solidFill>
                      <a:effectLst/>
                      <a:uFillTx/>
                      <a:ea typeface="+mn-ea"/>
                      <a:cs typeface="+mn-cs"/>
                      <a:sym typeface="Helvetica Neue"/>
                    </a:endParaRPr>
                  </a:p>
                </p:txBody>
              </p:sp>
            </mc:Choice>
            <mc:Fallback xmlns="">
              <p:sp>
                <p:nvSpPr>
                  <p:cNvPr id="91" name="TextBox 90">
                    <a:extLst>
                      <a:ext uri="{FF2B5EF4-FFF2-40B4-BE49-F238E27FC236}">
                        <a16:creationId xmlns:a16="http://schemas.microsoft.com/office/drawing/2014/main" id="{54A6CBEB-2477-7FF3-7AF5-DC6634B3E59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12268" y="10292644"/>
                    <a:ext cx="460960" cy="492443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2" name="TextBox 91">
                    <a:extLst>
                      <a:ext uri="{FF2B5EF4-FFF2-40B4-BE49-F238E27FC236}">
                        <a16:creationId xmlns:a16="http://schemas.microsoft.com/office/drawing/2014/main" id="{FE6F0157-36BF-3CF2-1D78-3A2F9A8FCEF3}"/>
                      </a:ext>
                    </a:extLst>
                  </p:cNvPr>
                  <p:cNvSpPr txBox="1"/>
                  <p:nvPr/>
                </p:nvSpPr>
                <p:spPr>
                  <a:xfrm>
                    <a:off x="4661863" y="10292644"/>
                    <a:ext cx="852093" cy="492443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none" lIns="0" tIns="0" rIns="0" bIns="0" numCol="1" spcCol="38100" rtlCol="0" anchor="ctr">
                    <a:spAutoFit/>
                  </a:bodyPr>
                  <a:lstStyle/>
                  <a:p>
                    <a:pPr marL="0" marR="0" indent="0" algn="ctr" defTabSz="2438338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en-GB" sz="3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</m:ctrlPr>
                            </m:sSubPr>
                            <m:e>
                              <m:r>
                                <a:rPr kumimoji="0" lang="en-GB" sz="3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GB" sz="3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  <m:t>𝑖</m:t>
                              </m:r>
                              <m:r>
                                <a:rPr kumimoji="0" lang="en-GB" sz="3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  <m:t>+1</m:t>
                              </m:r>
                            </m:sub>
                          </m:sSub>
                        </m:oMath>
                      </m:oMathPara>
                    </a14:m>
                    <a:endParaRPr kumimoji="0" lang="en-GB" sz="3200" b="0" i="0" u="none" strike="noStrike" cap="none" spc="0" normalizeH="0" baseline="0">
                      <a:ln>
                        <a:noFill/>
                      </a:ln>
                      <a:solidFill>
                        <a:schemeClr val="bg2">
                          <a:lumMod val="10000"/>
                        </a:schemeClr>
                      </a:solidFill>
                      <a:effectLst/>
                      <a:uFillTx/>
                      <a:ea typeface="+mn-ea"/>
                      <a:cs typeface="+mn-cs"/>
                      <a:sym typeface="Helvetica Neue"/>
                    </a:endParaRPr>
                  </a:p>
                </p:txBody>
              </p:sp>
            </mc:Choice>
            <mc:Fallback xmlns="">
              <p:sp>
                <p:nvSpPr>
                  <p:cNvPr id="92" name="TextBox 91">
                    <a:extLst>
                      <a:ext uri="{FF2B5EF4-FFF2-40B4-BE49-F238E27FC236}">
                        <a16:creationId xmlns:a16="http://schemas.microsoft.com/office/drawing/2014/main" id="{FE6F0157-36BF-3CF2-1D78-3A2F9A8FCEF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61863" y="10292644"/>
                    <a:ext cx="852093" cy="492443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4" name="TextBox 93">
                    <a:extLst>
                      <a:ext uri="{FF2B5EF4-FFF2-40B4-BE49-F238E27FC236}">
                        <a16:creationId xmlns:a16="http://schemas.microsoft.com/office/drawing/2014/main" id="{599830FF-CED6-BFCE-AD3F-35420AAA0B2E}"/>
                      </a:ext>
                    </a:extLst>
                  </p:cNvPr>
                  <p:cNvSpPr txBox="1"/>
                  <p:nvPr/>
                </p:nvSpPr>
                <p:spPr>
                  <a:xfrm>
                    <a:off x="2274822" y="10292644"/>
                    <a:ext cx="852093" cy="492443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none" lIns="0" tIns="0" rIns="0" bIns="0" numCol="1" spcCol="38100" rtlCol="0" anchor="ctr">
                    <a:spAutoFit/>
                  </a:bodyPr>
                  <a:lstStyle/>
                  <a:p>
                    <a:pPr marL="0" marR="0" indent="0" algn="ctr" defTabSz="2438338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en-GB" sz="3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7030A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</m:ctrlPr>
                            </m:sSubPr>
                            <m:e>
                              <m:r>
                                <a:rPr kumimoji="0" lang="en-GB" sz="3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7030A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GB" sz="3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7030A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  <m:t>𝑖</m:t>
                              </m:r>
                              <m:r>
                                <a:rPr kumimoji="0" lang="en-GB" sz="3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7030A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kumimoji="0" lang="en-GB" sz="3200" b="0" i="0" u="none" strike="noStrike" cap="none" spc="0" normalizeH="0" baseline="0">
                      <a:ln>
                        <a:noFill/>
                      </a:ln>
                      <a:solidFill>
                        <a:srgbClr val="7030A0"/>
                      </a:solidFill>
                      <a:effectLst/>
                      <a:uFillTx/>
                      <a:ea typeface="+mn-ea"/>
                      <a:cs typeface="+mn-cs"/>
                      <a:sym typeface="Helvetica Neue"/>
                    </a:endParaRPr>
                  </a:p>
                </p:txBody>
              </p:sp>
            </mc:Choice>
            <mc:Fallback xmlns="">
              <p:sp>
                <p:nvSpPr>
                  <p:cNvPr id="94" name="TextBox 93">
                    <a:extLst>
                      <a:ext uri="{FF2B5EF4-FFF2-40B4-BE49-F238E27FC236}">
                        <a16:creationId xmlns:a16="http://schemas.microsoft.com/office/drawing/2014/main" id="{599830FF-CED6-BFCE-AD3F-35420AAA0B2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74822" y="10292644"/>
                    <a:ext cx="852093" cy="492443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98" name="Straight Arrow Connector 97">
                <a:extLst>
                  <a:ext uri="{FF2B5EF4-FFF2-40B4-BE49-F238E27FC236}">
                    <a16:creationId xmlns:a16="http://schemas.microsoft.com/office/drawing/2014/main" id="{4AB0EDB7-A0F7-69AE-8194-EDE9BEEF106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109800" y="7590611"/>
                <a:ext cx="493566" cy="711178"/>
              </a:xfrm>
              <a:prstGeom prst="straightConnector1">
                <a:avLst/>
              </a:prstGeom>
              <a:noFill/>
              <a:ln w="57150" cap="flat">
                <a:solidFill>
                  <a:srgbClr val="00B0F0"/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5F0A9B4C-F7C8-5278-9C8E-1BE6AB4BF3EF}"/>
                  </a:ext>
                </a:extLst>
              </p:cNvPr>
              <p:cNvSpPr txBox="1"/>
              <p:nvPr/>
            </p:nvSpPr>
            <p:spPr>
              <a:xfrm>
                <a:off x="6153708" y="8277196"/>
                <a:ext cx="1141338" cy="96436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GB" sz="2800" b="1" i="0" u="none" strike="noStrike" cap="none" spc="0" normalizeH="0" baseline="0">
                    <a:ln>
                      <a:noFill/>
                    </a:ln>
                    <a:solidFill>
                      <a:srgbClr val="00B0F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rPr>
                  <a:t>True</a:t>
                </a:r>
              </a:p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GB" sz="2800" b="1" i="0" u="none" strike="noStrike" cap="none" spc="0" normalizeH="0" baseline="0">
                    <a:ln>
                      <a:noFill/>
                    </a:ln>
                    <a:solidFill>
                      <a:srgbClr val="00B0F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rPr>
                  <a:t> slope</a:t>
                </a:r>
              </a:p>
            </p:txBody>
          </p:sp>
          <p:cxnSp>
            <p:nvCxnSpPr>
              <p:cNvPr id="104" name="Straight Arrow Connector 103">
                <a:extLst>
                  <a:ext uri="{FF2B5EF4-FFF2-40B4-BE49-F238E27FC236}">
                    <a16:creationId xmlns:a16="http://schemas.microsoft.com/office/drawing/2014/main" id="{14C58FAD-7E7B-B200-335E-79F1148BC7C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667196" y="8443180"/>
                <a:ext cx="518915" cy="756988"/>
              </a:xfrm>
              <a:prstGeom prst="straightConnector1">
                <a:avLst/>
              </a:prstGeom>
              <a:noFill/>
              <a:ln w="57150" cap="flat">
                <a:solidFill>
                  <a:srgbClr val="7030A0"/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40F4E5E9-FFCA-16F8-D0AF-90B23483583B}"/>
                  </a:ext>
                </a:extLst>
              </p:cNvPr>
              <p:cNvSpPr txBox="1"/>
              <p:nvPr/>
            </p:nvSpPr>
            <p:spPr>
              <a:xfrm>
                <a:off x="3991561" y="9232127"/>
                <a:ext cx="2619307" cy="96436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GB" sz="2800" b="1" i="0" u="none" strike="noStrike" cap="none" spc="0" normalizeH="0" baseline="0">
                    <a:ln>
                      <a:noFill/>
                    </a:ln>
                    <a:solidFill>
                      <a:srgbClr val="7030A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rPr>
                  <a:t>Approximated </a:t>
                </a:r>
              </a:p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GB" sz="2800" b="1">
                    <a:solidFill>
                      <a:srgbClr val="7030A0"/>
                    </a:solidFill>
                  </a:rPr>
                  <a:t>slope</a:t>
                </a:r>
                <a:endParaRPr kumimoji="0" lang="en-GB" sz="2800" b="1" i="0" u="none" strike="noStrike" cap="none" spc="0" normalizeH="0" baseline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83912C68-0E50-8644-386C-3F179F5D5362}"/>
                    </a:ext>
                  </a:extLst>
                </p:cNvPr>
                <p:cNvSpPr txBox="1"/>
                <p:nvPr/>
              </p:nvSpPr>
              <p:spPr>
                <a:xfrm>
                  <a:off x="2715390" y="10181445"/>
                  <a:ext cx="1173405" cy="49244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0" tIns="0" rIns="0" bIns="0" numCol="1" spcCol="3810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3200" i="1" smtClean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GB" sz="3200" b="0" i="1" smtClean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kumimoji="0" lang="en-GB" sz="3200" b="0" i="0" u="none" strike="noStrike" cap="none" spc="0" normalizeH="0" baseline="0">
                    <a:ln>
                      <a:noFill/>
                    </a:ln>
                    <a:solidFill>
                      <a:srgbClr val="5E5E5E"/>
                    </a:solidFill>
                    <a:effectLst/>
                    <a:uFillTx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83912C68-0E50-8644-386C-3F179F5D53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15390" y="10181445"/>
                  <a:ext cx="1173405" cy="492443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6B4BBB26-F4B7-7EF5-6679-BA9F42884517}"/>
                </a:ext>
              </a:extLst>
            </p:cNvPr>
            <p:cNvCxnSpPr>
              <a:cxnSpLocks/>
            </p:cNvCxnSpPr>
            <p:nvPr/>
          </p:nvCxnSpPr>
          <p:spPr>
            <a:xfrm>
              <a:off x="2686894" y="10178716"/>
              <a:ext cx="1192974" cy="0"/>
            </a:xfrm>
            <a:prstGeom prst="straightConnector1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headEnd type="triangle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</p:spTree>
    <p:extLst>
      <p:ext uri="{BB962C8B-B14F-4D97-AF65-F5344CB8AC3E}">
        <p14:creationId xmlns:p14="http://schemas.microsoft.com/office/powerpoint/2010/main" val="2877065288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5B326-F51E-BD4D-7323-648619E70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AB35C828-38EA-1D01-A7D9-7B38D67862DF}"/>
              </a:ext>
            </a:extLst>
          </p:cNvPr>
          <p:cNvSpPr/>
          <p:nvPr/>
        </p:nvSpPr>
        <p:spPr>
          <a:xfrm>
            <a:off x="3888795" y="246197"/>
            <a:ext cx="7994496" cy="923330"/>
          </a:xfrm>
          <a:prstGeom prst="rect">
            <a:avLst/>
          </a:prstGeom>
        </p:spPr>
        <p:txBody>
          <a:bodyPr wrap="none">
            <a:spAutoFit/>
          </a:bodyPr>
          <a:lstStyle>
            <a:defPPr marL="0" marR="0" indent="0" algn="l" defTabSz="18288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1pPr>
            <a:lvl2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2pPr>
            <a:lvl3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3pPr>
            <a:lvl4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4pPr>
            <a:lvl5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5pPr>
            <a:lvl6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6pPr>
            <a:lvl7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7pPr>
            <a:lvl8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8pPr>
            <a:lvl9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9pPr>
          </a:lstStyle>
          <a:p>
            <a:r>
              <a:rPr lang="en-US" sz="5400" b="1">
                <a:solidFill>
                  <a:srgbClr val="EAEAEA"/>
                </a:solidFill>
              </a:rPr>
              <a:t>Converting PDE to ODE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BD68227-BC0A-5D3A-C965-3CB5BC41046F}"/>
              </a:ext>
            </a:extLst>
          </p:cNvPr>
          <p:cNvSpPr txBox="1"/>
          <p:nvPr/>
        </p:nvSpPr>
        <p:spPr>
          <a:xfrm>
            <a:off x="1378345" y="2896336"/>
            <a:ext cx="947375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3200" b="1" i="0" u="none" strike="noStrike" cap="none" spc="0" normalizeH="0" baseline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PDE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1B0B3A-2292-15A3-211B-30DD4B84A7D9}"/>
              </a:ext>
            </a:extLst>
          </p:cNvPr>
          <p:cNvSpPr/>
          <p:nvPr/>
        </p:nvSpPr>
        <p:spPr>
          <a:xfrm rot="-10800000" flipV="1">
            <a:off x="9853404" y="13283356"/>
            <a:ext cx="4628055" cy="379591"/>
          </a:xfrm>
          <a:prstGeom prst="rect">
            <a:avLst/>
          </a:prstGeom>
          <a:solidFill>
            <a:srgbClr val="8B79A6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n-US" sz="1800"/>
              <a:t>Workshop on Numerical Simulation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E32EFBD-BC25-E4C5-B7F3-74B431597BE7}"/>
              </a:ext>
            </a:extLst>
          </p:cNvPr>
          <p:cNvSpPr/>
          <p:nvPr/>
        </p:nvSpPr>
        <p:spPr>
          <a:xfrm rot="-10800000" flipV="1">
            <a:off x="457612" y="13283975"/>
            <a:ext cx="4628055" cy="379591"/>
          </a:xfrm>
          <a:prstGeom prst="rect">
            <a:avLst/>
          </a:prstGeom>
          <a:solidFill>
            <a:srgbClr val="5C2A7A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/>
            <a:r>
              <a:rPr lang="en-GB" sz="1800">
                <a:solidFill>
                  <a:srgbClr val="9E79A6"/>
                </a:solidFill>
                <a:latin typeface="Helvetica Neue"/>
              </a:rPr>
              <a:t>KR and MA</a:t>
            </a:r>
            <a:endParaRPr lang="en-US" sz="18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ADA731-A22F-0CCF-8DA1-66C92E4D889B}"/>
              </a:ext>
            </a:extLst>
          </p:cNvPr>
          <p:cNvSpPr txBox="1"/>
          <p:nvPr/>
        </p:nvSpPr>
        <p:spPr>
          <a:xfrm flipH="1">
            <a:off x="2446661" y="1752132"/>
            <a:ext cx="632311" cy="1194507"/>
          </a:xfrm>
          <a:prstGeom prst="rect">
            <a:avLst/>
          </a:prstGeom>
          <a:solidFill>
            <a:srgbClr val="CCECFF">
              <a:alpha val="50196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AC8595B-1156-231D-67AF-D8F98184402F}"/>
              </a:ext>
            </a:extLst>
          </p:cNvPr>
          <p:cNvSpPr/>
          <p:nvPr/>
        </p:nvSpPr>
        <p:spPr>
          <a:xfrm rot="-10800000" flipV="1">
            <a:off x="19138012" y="13283101"/>
            <a:ext cx="4628055" cy="379591"/>
          </a:xfrm>
          <a:prstGeom prst="rect">
            <a:avLst/>
          </a:prstGeom>
          <a:solidFill>
            <a:srgbClr val="5C2A7A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/>
            <a:r>
              <a:rPr lang="en-GB" sz="1800">
                <a:solidFill>
                  <a:srgbClr val="9E79A6"/>
                </a:solidFill>
                <a:latin typeface="Helvetica Neue"/>
              </a:rPr>
              <a:t>22/10/2025</a:t>
            </a:r>
            <a:endParaRPr lang="en-US" sz="1800"/>
          </a:p>
        </p:txBody>
      </p:sp>
      <p:sp>
        <p:nvSpPr>
          <p:cNvPr id="59" name="Slide Number">
            <a:extLst>
              <a:ext uri="{FF2B5EF4-FFF2-40B4-BE49-F238E27FC236}">
                <a16:creationId xmlns:a16="http://schemas.microsoft.com/office/drawing/2014/main" id="{56C3774F-BF0D-DFF0-35E2-D1D9EBCFA1DF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23805849" y="13272486"/>
            <a:ext cx="230832" cy="379591"/>
          </a:xfrm>
          <a:prstGeom prst="rect">
            <a:avLst/>
          </a:prstGeom>
        </p:spPr>
        <p:txBody>
          <a:bodyPr/>
          <a:lstStyle/>
          <a:p>
            <a:r>
              <a:rPr lang="en-GB"/>
              <a:t>4</a:t>
            </a:r>
            <a:endParaRPr/>
          </a:p>
        </p:txBody>
      </p:sp>
      <p:pic>
        <p:nvPicPr>
          <p:cNvPr id="12" name="Picture 11" descr="\documentclass{article}&#10;\usepackage{amsmath}&#10;\pagestyle{empty}&#10;\begin{document}&#10;\begin{equation}&#10;\frac{\partial c}{\partial t}=-v\frac{\partial c}{\partial x}&#10;\nonumber&#10;\end{equation}&#10;&#10;\end{document}" title="IguanaTex Bitmap Display">
            <a:extLst>
              <a:ext uri="{FF2B5EF4-FFF2-40B4-BE49-F238E27FC236}">
                <a16:creationId xmlns:a16="http://schemas.microsoft.com/office/drawing/2014/main" id="{44160C01-1172-A7B4-0311-14BA0653521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187" y="1819920"/>
            <a:ext cx="2419693" cy="100772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B5B5430-A26F-E463-1E8F-CD9474BDA94D}"/>
                  </a:ext>
                </a:extLst>
              </p:cNvPr>
              <p:cNvSpPr txBox="1"/>
              <p:nvPr/>
            </p:nvSpPr>
            <p:spPr>
              <a:xfrm>
                <a:off x="18367561" y="2471145"/>
                <a:ext cx="4009431" cy="141673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900" i="1" smtClean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GB" sz="3900" i="1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sz="3900" i="1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3900" b="0" i="1" smtClean="0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n-GB" sz="3900" i="1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num>
                                <m:den>
                                  <m:r>
                                    <a:rPr lang="en-GB" sz="3900" b="0" i="1" smtClean="0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𝑑𝑥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GB" sz="3900" i="1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3900" i="1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GB" sz="3900" b="0" i="1" smtClean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3900" i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kumimoji="0" lang="en-GB" sz="39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Neue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</m:ctrlPr>
                            </m:sSubPr>
                            <m:e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𝑐</m:t>
                              </m:r>
                            </m:e>
                            <m:sub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7030A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0" lang="en-GB" sz="39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Neue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</m:ctrlPr>
                            </m:sSubPr>
                            <m:e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𝑐</m:t>
                              </m:r>
                            </m:e>
                            <m:sub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7030A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𝑖</m:t>
                              </m:r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7030A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−1</m:t>
                              </m:r>
                            </m:sub>
                          </m:sSub>
                        </m:num>
                        <m:den>
                          <m:r>
                            <a:rPr kumimoji="0" lang="en-GB" sz="39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Helvetica Neue"/>
                            </a:rPr>
                            <m:t>∆</m:t>
                          </m:r>
                          <m:r>
                            <a:rPr kumimoji="0" lang="en-GB" sz="39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Helvetica Neue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kumimoji="0" lang="en-GB" sz="39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sym typeface="Helvetica Neue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B5B5430-A26F-E463-1E8F-CD9474BDA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67561" y="2471145"/>
                <a:ext cx="4009431" cy="141673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960537E1-EB2D-8009-83F5-9AEF71A80186}"/>
              </a:ext>
            </a:extLst>
          </p:cNvPr>
          <p:cNvSpPr txBox="1"/>
          <p:nvPr/>
        </p:nvSpPr>
        <p:spPr>
          <a:xfrm>
            <a:off x="18716818" y="1586097"/>
            <a:ext cx="3815148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3200">
                <a:solidFill>
                  <a:srgbClr val="7030A0"/>
                </a:solidFill>
              </a:rPr>
              <a:t>Backward difference</a:t>
            </a:r>
            <a:endParaRPr kumimoji="0" lang="en-GB" sz="3200" b="0" i="0" u="none" strike="noStrike" cap="none" spc="0" normalizeH="0" baseline="0">
              <a:ln>
                <a:noFill/>
              </a:ln>
              <a:solidFill>
                <a:srgbClr val="7030A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366375-D068-2B8E-13BF-1DF2B35EE9C0}"/>
              </a:ext>
            </a:extLst>
          </p:cNvPr>
          <p:cNvSpPr txBox="1"/>
          <p:nvPr/>
        </p:nvSpPr>
        <p:spPr>
          <a:xfrm>
            <a:off x="12450197" y="1586096"/>
            <a:ext cx="3335849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3200">
                <a:solidFill>
                  <a:schemeClr val="accent6">
                    <a:lumMod val="75000"/>
                  </a:schemeClr>
                </a:solidFill>
              </a:rPr>
              <a:t>Central difference</a:t>
            </a:r>
            <a:endParaRPr kumimoji="0" lang="en-GB" sz="3200" b="0" i="0" u="none" strike="noStrike" cap="none" spc="0" normalizeH="0" baseline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975541C-4FE6-6128-9F17-A7E51A94B017}"/>
                  </a:ext>
                </a:extLst>
              </p:cNvPr>
              <p:cNvSpPr txBox="1"/>
              <p:nvPr/>
            </p:nvSpPr>
            <p:spPr>
              <a:xfrm>
                <a:off x="11773274" y="2471145"/>
                <a:ext cx="4487126" cy="141673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900" i="1" smtClean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GB" sz="3900" i="1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sz="3900" i="1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3900" b="0" i="1" smtClean="0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n-GB" sz="3900" i="1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num>
                                <m:den>
                                  <m:r>
                                    <a:rPr lang="en-GB" sz="3900" b="0" i="1" smtClean="0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𝑑𝑥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GB" sz="3900" i="1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3900" i="1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GB" sz="3900" b="0" i="1" smtClean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3900" i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kumimoji="0" lang="en-GB" sz="39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Neue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</m:ctrlPr>
                            </m:sSubPr>
                            <m:e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𝑐</m:t>
                              </m:r>
                            </m:e>
                            <m:sub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𝑖</m:t>
                              </m:r>
                              <m:r>
                                <a:rPr kumimoji="0" lang="en-US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+</m:t>
                              </m:r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1</m:t>
                              </m:r>
                            </m:sub>
                          </m:sSub>
                          <m:r>
                            <a:rPr kumimoji="0" lang="en-GB" sz="39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Neue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</m:ctrlPr>
                            </m:sSubPr>
                            <m:e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𝑐</m:t>
                              </m:r>
                            </m:e>
                            <m:sub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𝑖</m:t>
                              </m:r>
                              <m:r>
                                <a:rPr kumimoji="0" lang="en-US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−</m:t>
                              </m:r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kumimoji="0" lang="en-GB" sz="39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Neue"/>
                            </a:rPr>
                            <m:t>2</m:t>
                          </m:r>
                          <m:r>
                            <a:rPr kumimoji="0" lang="en-GB" sz="39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Helvetica Neue"/>
                            </a:rPr>
                            <m:t>∆</m:t>
                          </m:r>
                          <m:r>
                            <a:rPr kumimoji="0" lang="en-GB" sz="39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Helvetica Neue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kumimoji="0" lang="en-GB" sz="39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sym typeface="Helvetica Neue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975541C-4FE6-6128-9F17-A7E51A94B0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73274" y="2471145"/>
                <a:ext cx="4487126" cy="141673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83C97FAB-7DD3-214D-2AC7-F5144B2619B8}"/>
              </a:ext>
            </a:extLst>
          </p:cNvPr>
          <p:cNvGrpSpPr/>
          <p:nvPr/>
        </p:nvGrpSpPr>
        <p:grpSpPr>
          <a:xfrm>
            <a:off x="160623" y="3820967"/>
            <a:ext cx="7125496" cy="6852921"/>
            <a:chOff x="160623" y="3820967"/>
            <a:chExt cx="7125496" cy="6852921"/>
          </a:xfrm>
        </p:grpSpPr>
        <p:pic>
          <p:nvPicPr>
            <p:cNvPr id="3" name="Picture 2" descr="A graph of a function&#10;&#10;AI-generated content may be incorrect.">
              <a:extLst>
                <a:ext uri="{FF2B5EF4-FFF2-40B4-BE49-F238E27FC236}">
                  <a16:creationId xmlns:a16="http://schemas.microsoft.com/office/drawing/2014/main" id="{8D3ED6ED-E7E6-797B-5881-FC1F2534A49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60623" y="3820967"/>
              <a:ext cx="6842119" cy="6842119"/>
            </a:xfrm>
            <a:prstGeom prst="rect">
              <a:avLst/>
            </a:prstGeom>
          </p:spPr>
        </p:pic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0BA71391-ADD9-15CF-B0F3-2DA8CD6EEC5B}"/>
                </a:ext>
              </a:extLst>
            </p:cNvPr>
            <p:cNvGrpSpPr/>
            <p:nvPr/>
          </p:nvGrpSpPr>
          <p:grpSpPr>
            <a:xfrm>
              <a:off x="398526" y="4465806"/>
              <a:ext cx="6887593" cy="5918886"/>
              <a:chOff x="407453" y="5433188"/>
              <a:chExt cx="6887593" cy="5918886"/>
            </a:xfrm>
          </p:grpSpPr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A96094E7-7536-FC91-ABFE-F3C6EBEEA60E}"/>
                  </a:ext>
                </a:extLst>
              </p:cNvPr>
              <p:cNvSpPr txBox="1"/>
              <p:nvPr/>
            </p:nvSpPr>
            <p:spPr>
              <a:xfrm>
                <a:off x="899983" y="5433188"/>
                <a:ext cx="1337891" cy="859327"/>
              </a:xfrm>
              <a:prstGeom prst="rect">
                <a:avLst/>
              </a:prstGeom>
              <a:solidFill>
                <a:schemeClr val="bg1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GB" sz="24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CB274A1D-8CE6-18F9-9F54-D0A58BF31132}"/>
                  </a:ext>
                </a:extLst>
              </p:cNvPr>
              <p:cNvSpPr txBox="1"/>
              <p:nvPr/>
            </p:nvSpPr>
            <p:spPr>
              <a:xfrm>
                <a:off x="5673778" y="10492747"/>
                <a:ext cx="1337891" cy="859327"/>
              </a:xfrm>
              <a:prstGeom prst="rect">
                <a:avLst/>
              </a:prstGeom>
              <a:solidFill>
                <a:schemeClr val="bg1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GB" sz="24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3EE5BE96-7995-15BB-C2C3-A86E99AC3205}"/>
                  </a:ext>
                </a:extLst>
              </p:cNvPr>
              <p:cNvSpPr/>
              <p:nvPr/>
            </p:nvSpPr>
            <p:spPr>
              <a:xfrm>
                <a:off x="3830641" y="8588501"/>
                <a:ext cx="163244" cy="172045"/>
              </a:xfrm>
              <a:prstGeom prst="ellipse">
                <a:avLst/>
              </a:prstGeom>
              <a:solidFill>
                <a:srgbClr val="7030A0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GB" sz="3200" b="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3C0871C0-90C9-2D4D-C496-9C2CFDE0E210}"/>
                  </a:ext>
                </a:extLst>
              </p:cNvPr>
              <p:cNvSpPr/>
              <p:nvPr/>
            </p:nvSpPr>
            <p:spPr>
              <a:xfrm>
                <a:off x="2614199" y="9114146"/>
                <a:ext cx="163244" cy="172045"/>
              </a:xfrm>
              <a:prstGeom prst="ellipse">
                <a:avLst/>
              </a:prstGeom>
              <a:solidFill>
                <a:srgbClr val="7030A0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GB" sz="3200" b="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7DC59AA1-56B6-D52D-7DC9-41E72ED009D9}"/>
                  </a:ext>
                </a:extLst>
              </p:cNvPr>
              <p:cNvSpPr/>
              <p:nvPr/>
            </p:nvSpPr>
            <p:spPr>
              <a:xfrm>
                <a:off x="5004045" y="7782815"/>
                <a:ext cx="163244" cy="172045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GB" sz="3200" b="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14E09AAC-029C-4189-F41C-4EC42F063B7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96568" y="9274159"/>
                <a:ext cx="0" cy="940650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dash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43324351-8BF5-CEFF-08C4-AD65E51D064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888795" y="8760546"/>
                <a:ext cx="23468" cy="1454263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dash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4DB387FE-8C02-C1B0-7D49-E4711A44F1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85667" y="7958547"/>
                <a:ext cx="0" cy="2256262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dash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712FEEE7-3C09-A44D-BC6E-E31F56AB9DC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813047" y="7517693"/>
                <a:ext cx="4361676" cy="2256669"/>
              </a:xfrm>
              <a:prstGeom prst="line">
                <a:avLst/>
              </a:prstGeom>
              <a:noFill/>
              <a:ln w="57150" cap="flat">
                <a:solidFill>
                  <a:schemeClr val="accent1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17188571-88FE-3030-3279-C27619E6B57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552161" y="7830479"/>
                <a:ext cx="4410385" cy="1857803"/>
              </a:xfrm>
              <a:prstGeom prst="line">
                <a:avLst/>
              </a:prstGeom>
              <a:noFill/>
              <a:ln w="57150" cap="flat">
                <a:solidFill>
                  <a:srgbClr val="7030A0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9" name="TextBox 88">
                    <a:extLst>
                      <a:ext uri="{FF2B5EF4-FFF2-40B4-BE49-F238E27FC236}">
                        <a16:creationId xmlns:a16="http://schemas.microsoft.com/office/drawing/2014/main" id="{506D865F-A73C-C386-F3C3-9F7FDFFF9600}"/>
                      </a:ext>
                    </a:extLst>
                  </p:cNvPr>
                  <p:cNvSpPr txBox="1"/>
                  <p:nvPr/>
                </p:nvSpPr>
                <p:spPr>
                  <a:xfrm>
                    <a:off x="407453" y="6231323"/>
                    <a:ext cx="886268" cy="492443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none" lIns="0" tIns="0" rIns="0" bIns="0" numCol="1" spcCol="38100" rtlCol="0" anchor="ctr">
                    <a:spAutoFit/>
                  </a:bodyPr>
                  <a:lstStyle/>
                  <a:p>
                    <a:pPr marL="0" marR="0" indent="0" algn="ctr" defTabSz="2438338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GB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𝑐</m:t>
                          </m:r>
                          <m:r>
                            <a:rPr kumimoji="0" lang="en-GB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(</m:t>
                          </m:r>
                          <m:r>
                            <a:rPr kumimoji="0" lang="en-GB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𝑥</m:t>
                          </m:r>
                          <m:r>
                            <a:rPr kumimoji="0" lang="en-GB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)</m:t>
                          </m:r>
                        </m:oMath>
                      </m:oMathPara>
                    </a14:m>
                    <a:endParaRPr kumimoji="0" lang="en-GB" sz="3200" b="0" i="0" u="none" strike="noStrike" cap="none" spc="0" normalizeH="0" baseline="0">
                      <a:ln>
                        <a:noFill/>
                      </a:ln>
                      <a:solidFill>
                        <a:schemeClr val="bg2">
                          <a:lumMod val="10000"/>
                        </a:schemeClr>
                      </a:solidFill>
                      <a:effectLst/>
                      <a:uFillTx/>
                      <a:ea typeface="+mn-ea"/>
                      <a:cs typeface="+mn-cs"/>
                      <a:sym typeface="Helvetica Neue"/>
                    </a:endParaRPr>
                  </a:p>
                </p:txBody>
              </p:sp>
            </mc:Choice>
            <mc:Fallback xmlns="">
              <p:sp>
                <p:nvSpPr>
                  <p:cNvPr id="89" name="TextBox 88">
                    <a:extLst>
                      <a:ext uri="{FF2B5EF4-FFF2-40B4-BE49-F238E27FC236}">
                        <a16:creationId xmlns:a16="http://schemas.microsoft.com/office/drawing/2014/main" id="{506D865F-A73C-C386-F3C3-9F7FDFFF960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7453" y="6231323"/>
                    <a:ext cx="886268" cy="492443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0" name="TextBox 89">
                    <a:extLst>
                      <a:ext uri="{FF2B5EF4-FFF2-40B4-BE49-F238E27FC236}">
                        <a16:creationId xmlns:a16="http://schemas.microsoft.com/office/drawing/2014/main" id="{B293769C-43F5-B3E1-15B6-7A6D5B2D1260}"/>
                      </a:ext>
                    </a:extLst>
                  </p:cNvPr>
                  <p:cNvSpPr txBox="1"/>
                  <p:nvPr/>
                </p:nvSpPr>
                <p:spPr>
                  <a:xfrm>
                    <a:off x="6005114" y="10292644"/>
                    <a:ext cx="344261" cy="492443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none" lIns="0" tIns="0" rIns="0" bIns="0" numCol="1" spcCol="38100" rtlCol="0" anchor="ctr">
                    <a:spAutoFit/>
                  </a:bodyPr>
                  <a:lstStyle/>
                  <a:p>
                    <a:pPr marL="0" marR="0" indent="0" algn="ctr" defTabSz="2438338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GB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𝑥</m:t>
                          </m:r>
                        </m:oMath>
                      </m:oMathPara>
                    </a14:m>
                    <a:endParaRPr kumimoji="0" lang="en-GB" sz="3200" b="0" i="0" u="none" strike="noStrike" cap="none" spc="0" normalizeH="0" baseline="0">
                      <a:ln>
                        <a:noFill/>
                      </a:ln>
                      <a:solidFill>
                        <a:schemeClr val="bg2">
                          <a:lumMod val="10000"/>
                        </a:schemeClr>
                      </a:solidFill>
                      <a:effectLst/>
                      <a:uFillTx/>
                      <a:ea typeface="+mn-ea"/>
                      <a:cs typeface="+mn-cs"/>
                      <a:sym typeface="Helvetica Neue"/>
                    </a:endParaRPr>
                  </a:p>
                </p:txBody>
              </p:sp>
            </mc:Choice>
            <mc:Fallback xmlns="">
              <p:sp>
                <p:nvSpPr>
                  <p:cNvPr id="90" name="TextBox 89">
                    <a:extLst>
                      <a:ext uri="{FF2B5EF4-FFF2-40B4-BE49-F238E27FC236}">
                        <a16:creationId xmlns:a16="http://schemas.microsoft.com/office/drawing/2014/main" id="{B293769C-43F5-B3E1-15B6-7A6D5B2D126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05114" y="10292644"/>
                    <a:ext cx="344261" cy="492443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1" name="TextBox 90">
                    <a:extLst>
                      <a:ext uri="{FF2B5EF4-FFF2-40B4-BE49-F238E27FC236}">
                        <a16:creationId xmlns:a16="http://schemas.microsoft.com/office/drawing/2014/main" id="{7D565284-8CE2-2394-827C-B8769BCE8D8B}"/>
                      </a:ext>
                    </a:extLst>
                  </p:cNvPr>
                  <p:cNvSpPr txBox="1"/>
                  <p:nvPr/>
                </p:nvSpPr>
                <p:spPr>
                  <a:xfrm>
                    <a:off x="3712268" y="10292644"/>
                    <a:ext cx="460960" cy="492443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none" lIns="0" tIns="0" rIns="0" bIns="0" numCol="1" spcCol="38100" rtlCol="0" anchor="ctr">
                    <a:spAutoFit/>
                  </a:bodyPr>
                  <a:lstStyle/>
                  <a:p>
                    <a:pPr marL="0" marR="0" indent="0" algn="ctr" defTabSz="2438338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en-GB" sz="3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7030A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</m:ctrlPr>
                            </m:sSubPr>
                            <m:e>
                              <m:r>
                                <a:rPr kumimoji="0" lang="en-GB" sz="3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7030A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GB" sz="3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7030A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  <m:t>𝑖</m:t>
                              </m:r>
                            </m:sub>
                          </m:sSub>
                        </m:oMath>
                      </m:oMathPara>
                    </a14:m>
                    <a:endParaRPr kumimoji="0" lang="en-GB" sz="3200" b="0" i="0" u="none" strike="noStrike" cap="none" spc="0" normalizeH="0" baseline="0">
                      <a:ln>
                        <a:noFill/>
                      </a:ln>
                      <a:solidFill>
                        <a:srgbClr val="7030A0"/>
                      </a:solidFill>
                      <a:effectLst/>
                      <a:uFillTx/>
                      <a:ea typeface="+mn-ea"/>
                      <a:cs typeface="+mn-cs"/>
                      <a:sym typeface="Helvetica Neue"/>
                    </a:endParaRPr>
                  </a:p>
                </p:txBody>
              </p:sp>
            </mc:Choice>
            <mc:Fallback xmlns="">
              <p:sp>
                <p:nvSpPr>
                  <p:cNvPr id="91" name="TextBox 90">
                    <a:extLst>
                      <a:ext uri="{FF2B5EF4-FFF2-40B4-BE49-F238E27FC236}">
                        <a16:creationId xmlns:a16="http://schemas.microsoft.com/office/drawing/2014/main" id="{7D565284-8CE2-2394-827C-B8769BCE8D8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12268" y="10292644"/>
                    <a:ext cx="460960" cy="492443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2" name="TextBox 91">
                    <a:extLst>
                      <a:ext uri="{FF2B5EF4-FFF2-40B4-BE49-F238E27FC236}">
                        <a16:creationId xmlns:a16="http://schemas.microsoft.com/office/drawing/2014/main" id="{47EADE5C-D4CA-7568-D41A-2F32E4EDB3C7}"/>
                      </a:ext>
                    </a:extLst>
                  </p:cNvPr>
                  <p:cNvSpPr txBox="1"/>
                  <p:nvPr/>
                </p:nvSpPr>
                <p:spPr>
                  <a:xfrm>
                    <a:off x="4661863" y="10292644"/>
                    <a:ext cx="852093" cy="492443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none" lIns="0" tIns="0" rIns="0" bIns="0" numCol="1" spcCol="38100" rtlCol="0" anchor="ctr">
                    <a:spAutoFit/>
                  </a:bodyPr>
                  <a:lstStyle/>
                  <a:p>
                    <a:pPr marL="0" marR="0" indent="0" algn="ctr" defTabSz="2438338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en-GB" sz="3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</m:ctrlPr>
                            </m:sSubPr>
                            <m:e>
                              <m:r>
                                <a:rPr kumimoji="0" lang="en-GB" sz="3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GB" sz="3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  <m:t>𝑖</m:t>
                              </m:r>
                              <m:r>
                                <a:rPr kumimoji="0" lang="en-GB" sz="3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  <m:t>+1</m:t>
                              </m:r>
                            </m:sub>
                          </m:sSub>
                        </m:oMath>
                      </m:oMathPara>
                    </a14:m>
                    <a:endParaRPr kumimoji="0" lang="en-GB" sz="3200" b="0" i="0" u="none" strike="noStrike" cap="none" spc="0" normalizeH="0" baseline="0">
                      <a:ln>
                        <a:noFill/>
                      </a:ln>
                      <a:solidFill>
                        <a:schemeClr val="bg2">
                          <a:lumMod val="10000"/>
                        </a:schemeClr>
                      </a:solidFill>
                      <a:effectLst/>
                      <a:uFillTx/>
                      <a:ea typeface="+mn-ea"/>
                      <a:cs typeface="+mn-cs"/>
                      <a:sym typeface="Helvetica Neue"/>
                    </a:endParaRPr>
                  </a:p>
                </p:txBody>
              </p:sp>
            </mc:Choice>
            <mc:Fallback xmlns="">
              <p:sp>
                <p:nvSpPr>
                  <p:cNvPr id="92" name="TextBox 91">
                    <a:extLst>
                      <a:ext uri="{FF2B5EF4-FFF2-40B4-BE49-F238E27FC236}">
                        <a16:creationId xmlns:a16="http://schemas.microsoft.com/office/drawing/2014/main" id="{47EADE5C-D4CA-7568-D41A-2F32E4EDB3C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61863" y="10292644"/>
                    <a:ext cx="852093" cy="492443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4" name="TextBox 93">
                    <a:extLst>
                      <a:ext uri="{FF2B5EF4-FFF2-40B4-BE49-F238E27FC236}">
                        <a16:creationId xmlns:a16="http://schemas.microsoft.com/office/drawing/2014/main" id="{04604CCA-A58C-2B01-8812-40FD857D718A}"/>
                      </a:ext>
                    </a:extLst>
                  </p:cNvPr>
                  <p:cNvSpPr txBox="1"/>
                  <p:nvPr/>
                </p:nvSpPr>
                <p:spPr>
                  <a:xfrm>
                    <a:off x="2274822" y="10292644"/>
                    <a:ext cx="852093" cy="492443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none" lIns="0" tIns="0" rIns="0" bIns="0" numCol="1" spcCol="38100" rtlCol="0" anchor="ctr">
                    <a:spAutoFit/>
                  </a:bodyPr>
                  <a:lstStyle/>
                  <a:p>
                    <a:pPr marL="0" marR="0" indent="0" algn="ctr" defTabSz="2438338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en-GB" sz="3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7030A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</m:ctrlPr>
                            </m:sSubPr>
                            <m:e>
                              <m:r>
                                <a:rPr kumimoji="0" lang="en-GB" sz="3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7030A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GB" sz="3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7030A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  <m:t>𝑖</m:t>
                              </m:r>
                              <m:r>
                                <a:rPr kumimoji="0" lang="en-GB" sz="3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7030A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kumimoji="0" lang="en-GB" sz="3200" b="0" i="0" u="none" strike="noStrike" cap="none" spc="0" normalizeH="0" baseline="0">
                      <a:ln>
                        <a:noFill/>
                      </a:ln>
                      <a:solidFill>
                        <a:srgbClr val="7030A0"/>
                      </a:solidFill>
                      <a:effectLst/>
                      <a:uFillTx/>
                      <a:ea typeface="+mn-ea"/>
                      <a:cs typeface="+mn-cs"/>
                      <a:sym typeface="Helvetica Neue"/>
                    </a:endParaRPr>
                  </a:p>
                </p:txBody>
              </p:sp>
            </mc:Choice>
            <mc:Fallback xmlns="">
              <p:sp>
                <p:nvSpPr>
                  <p:cNvPr id="94" name="TextBox 93">
                    <a:extLst>
                      <a:ext uri="{FF2B5EF4-FFF2-40B4-BE49-F238E27FC236}">
                        <a16:creationId xmlns:a16="http://schemas.microsoft.com/office/drawing/2014/main" id="{04604CCA-A58C-2B01-8812-40FD857D718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74822" y="10292644"/>
                    <a:ext cx="852093" cy="492443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98" name="Straight Arrow Connector 97">
                <a:extLst>
                  <a:ext uri="{FF2B5EF4-FFF2-40B4-BE49-F238E27FC236}">
                    <a16:creationId xmlns:a16="http://schemas.microsoft.com/office/drawing/2014/main" id="{B62D3469-5DD1-2278-7FE6-60C13E67CF3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109800" y="7590611"/>
                <a:ext cx="493566" cy="711178"/>
              </a:xfrm>
              <a:prstGeom prst="straightConnector1">
                <a:avLst/>
              </a:prstGeom>
              <a:noFill/>
              <a:ln w="57150" cap="flat">
                <a:solidFill>
                  <a:srgbClr val="00B0F0"/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855B4D22-6291-CBD0-8E49-4EDE8B2EE8AE}"/>
                  </a:ext>
                </a:extLst>
              </p:cNvPr>
              <p:cNvSpPr txBox="1"/>
              <p:nvPr/>
            </p:nvSpPr>
            <p:spPr>
              <a:xfrm>
                <a:off x="6153708" y="8277196"/>
                <a:ext cx="1141338" cy="96436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GB" sz="2800" b="1" i="0" u="none" strike="noStrike" cap="none" spc="0" normalizeH="0" baseline="0">
                    <a:ln>
                      <a:noFill/>
                    </a:ln>
                    <a:solidFill>
                      <a:srgbClr val="00B0F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rPr>
                  <a:t>True</a:t>
                </a:r>
              </a:p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GB" sz="2800" b="1" i="0" u="none" strike="noStrike" cap="none" spc="0" normalizeH="0" baseline="0">
                    <a:ln>
                      <a:noFill/>
                    </a:ln>
                    <a:solidFill>
                      <a:srgbClr val="00B0F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rPr>
                  <a:t> slope</a:t>
                </a:r>
              </a:p>
            </p:txBody>
          </p:sp>
          <p:cxnSp>
            <p:nvCxnSpPr>
              <p:cNvPr id="104" name="Straight Arrow Connector 103">
                <a:extLst>
                  <a:ext uri="{FF2B5EF4-FFF2-40B4-BE49-F238E27FC236}">
                    <a16:creationId xmlns:a16="http://schemas.microsoft.com/office/drawing/2014/main" id="{C63CBE6B-CB44-FE65-3999-62A73E34400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667196" y="8443180"/>
                <a:ext cx="518915" cy="756988"/>
              </a:xfrm>
              <a:prstGeom prst="straightConnector1">
                <a:avLst/>
              </a:prstGeom>
              <a:noFill/>
              <a:ln w="57150" cap="flat">
                <a:solidFill>
                  <a:srgbClr val="7030A0"/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AB931492-9E51-D921-486A-95C6A14FCB65}"/>
                  </a:ext>
                </a:extLst>
              </p:cNvPr>
              <p:cNvSpPr txBox="1"/>
              <p:nvPr/>
            </p:nvSpPr>
            <p:spPr>
              <a:xfrm>
                <a:off x="3991561" y="9232127"/>
                <a:ext cx="2619307" cy="96436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GB" sz="2800" b="1" i="0" u="none" strike="noStrike" cap="none" spc="0" normalizeH="0" baseline="0">
                    <a:ln>
                      <a:noFill/>
                    </a:ln>
                    <a:solidFill>
                      <a:srgbClr val="7030A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rPr>
                  <a:t>Approximated </a:t>
                </a:r>
              </a:p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GB" sz="2800" b="1">
                    <a:solidFill>
                      <a:srgbClr val="7030A0"/>
                    </a:solidFill>
                  </a:rPr>
                  <a:t>slope</a:t>
                </a:r>
                <a:endParaRPr kumimoji="0" lang="en-GB" sz="2800" b="1" i="0" u="none" strike="noStrike" cap="none" spc="0" normalizeH="0" baseline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31F111BB-79D0-2F7F-8C20-79728F816728}"/>
                    </a:ext>
                  </a:extLst>
                </p:cNvPr>
                <p:cNvSpPr txBox="1"/>
                <p:nvPr/>
              </p:nvSpPr>
              <p:spPr>
                <a:xfrm>
                  <a:off x="2715390" y="10181445"/>
                  <a:ext cx="1173405" cy="49244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0" tIns="0" rIns="0" bIns="0" numCol="1" spcCol="3810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3200" i="1" smtClean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GB" sz="3200" b="0" i="1" smtClean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kumimoji="0" lang="en-GB" sz="3200" b="0" i="0" u="none" strike="noStrike" cap="none" spc="0" normalizeH="0" baseline="0">
                    <a:ln>
                      <a:noFill/>
                    </a:ln>
                    <a:solidFill>
                      <a:srgbClr val="5E5E5E"/>
                    </a:solidFill>
                    <a:effectLst/>
                    <a:uFillTx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31F111BB-79D0-2F7F-8C20-79728F8167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15390" y="10181445"/>
                  <a:ext cx="1173405" cy="492443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69038177-3792-5228-1763-ACFFD6B989D4}"/>
                </a:ext>
              </a:extLst>
            </p:cNvPr>
            <p:cNvCxnSpPr>
              <a:cxnSpLocks/>
            </p:cNvCxnSpPr>
            <p:nvPr/>
          </p:nvCxnSpPr>
          <p:spPr>
            <a:xfrm>
              <a:off x="2686894" y="10178716"/>
              <a:ext cx="1192974" cy="0"/>
            </a:xfrm>
            <a:prstGeom prst="straightConnector1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headEnd type="triangle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3A9D2DB1-48C2-44F9-89AE-FEFAE110C6BF}"/>
              </a:ext>
            </a:extLst>
          </p:cNvPr>
          <p:cNvSpPr txBox="1"/>
          <p:nvPr/>
        </p:nvSpPr>
        <p:spPr>
          <a:xfrm>
            <a:off x="160623" y="11091650"/>
            <a:ext cx="6842119" cy="1323439"/>
          </a:xfrm>
          <a:prstGeom prst="rect">
            <a:avLst/>
          </a:prstGeom>
          <a:noFill/>
          <a:ln w="38100" cap="flat">
            <a:solidFill>
              <a:srgbClr val="9E2D28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buNone/>
            </a:pPr>
            <a:r>
              <a:rPr lang="en-GB" sz="4000" b="1">
                <a:solidFill>
                  <a:schemeClr val="accent5">
                    <a:lumMod val="50000"/>
                  </a:schemeClr>
                </a:solidFill>
                <a:effectLst/>
              </a:rPr>
              <a:t>Would you prefer a smaller or larger </a:t>
            </a:r>
            <a:r>
              <a:rPr lang="en-GB" sz="4000" err="1">
                <a:solidFill>
                  <a:schemeClr val="accent5">
                    <a:lumMod val="50000"/>
                  </a:schemeClr>
                </a:solidFill>
              </a:rPr>
              <a:t>Δ</a:t>
            </a:r>
            <a:r>
              <a:rPr lang="en-GB" sz="4000" b="1" err="1">
                <a:solidFill>
                  <a:schemeClr val="accent5">
                    <a:lumMod val="50000"/>
                  </a:schemeClr>
                </a:solidFill>
                <a:effectLst/>
              </a:rPr>
              <a:t>x</a:t>
            </a:r>
            <a:r>
              <a:rPr lang="en-GB" sz="4000" b="1">
                <a:solidFill>
                  <a:schemeClr val="accent5">
                    <a:lumMod val="50000"/>
                  </a:schemeClr>
                </a:solidFill>
                <a:effectLst/>
              </a:rPr>
              <a:t>?</a:t>
            </a:r>
            <a:endParaRPr lang="en-GB" sz="400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2634884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72C6A-782C-EE75-29E3-922FA72E0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A74F522A-D9CC-E308-2409-3661207B04DF}"/>
              </a:ext>
            </a:extLst>
          </p:cNvPr>
          <p:cNvSpPr/>
          <p:nvPr/>
        </p:nvSpPr>
        <p:spPr>
          <a:xfrm>
            <a:off x="3888795" y="246197"/>
            <a:ext cx="7994496" cy="923330"/>
          </a:xfrm>
          <a:prstGeom prst="rect">
            <a:avLst/>
          </a:prstGeom>
        </p:spPr>
        <p:txBody>
          <a:bodyPr wrap="none">
            <a:spAutoFit/>
          </a:bodyPr>
          <a:lstStyle>
            <a:defPPr marL="0" marR="0" indent="0" algn="l" defTabSz="18288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1pPr>
            <a:lvl2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2pPr>
            <a:lvl3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3pPr>
            <a:lvl4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4pPr>
            <a:lvl5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5pPr>
            <a:lvl6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6pPr>
            <a:lvl7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7pPr>
            <a:lvl8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8pPr>
            <a:lvl9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9pPr>
          </a:lstStyle>
          <a:p>
            <a:r>
              <a:rPr lang="en-US" sz="5400" b="1">
                <a:solidFill>
                  <a:srgbClr val="EAEAEA"/>
                </a:solidFill>
              </a:rPr>
              <a:t>Converting PDE to ODE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4D03091-07DE-2443-6EBB-AA585DF5E896}"/>
              </a:ext>
            </a:extLst>
          </p:cNvPr>
          <p:cNvSpPr txBox="1"/>
          <p:nvPr/>
        </p:nvSpPr>
        <p:spPr>
          <a:xfrm>
            <a:off x="1378345" y="2896336"/>
            <a:ext cx="947375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3200" b="1" i="0" u="none" strike="noStrike" cap="none" spc="0" normalizeH="0" baseline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PDE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C93E4C1-369C-6D02-0830-5B134D4A5D9A}"/>
              </a:ext>
            </a:extLst>
          </p:cNvPr>
          <p:cNvSpPr/>
          <p:nvPr/>
        </p:nvSpPr>
        <p:spPr>
          <a:xfrm rot="-10800000" flipV="1">
            <a:off x="9853404" y="13283356"/>
            <a:ext cx="4628055" cy="379591"/>
          </a:xfrm>
          <a:prstGeom prst="rect">
            <a:avLst/>
          </a:prstGeom>
          <a:solidFill>
            <a:srgbClr val="8B79A6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n-US" sz="1800"/>
              <a:t>Workshop on Numerical Simulation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AF9E8CF-BD08-CB76-266C-8C8DE1A8595F}"/>
              </a:ext>
            </a:extLst>
          </p:cNvPr>
          <p:cNvSpPr/>
          <p:nvPr/>
        </p:nvSpPr>
        <p:spPr>
          <a:xfrm rot="-10800000" flipV="1">
            <a:off x="457612" y="13283975"/>
            <a:ext cx="4628055" cy="379591"/>
          </a:xfrm>
          <a:prstGeom prst="rect">
            <a:avLst/>
          </a:prstGeom>
          <a:solidFill>
            <a:srgbClr val="5C2A7A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/>
            <a:r>
              <a:rPr lang="en-GB" sz="1800">
                <a:solidFill>
                  <a:srgbClr val="9E79A6"/>
                </a:solidFill>
                <a:latin typeface="Helvetica Neue"/>
              </a:rPr>
              <a:t>KR and MA</a:t>
            </a:r>
            <a:endParaRPr lang="en-US" sz="18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767BBC-C82D-D432-A951-5B7CB0FDC605}"/>
              </a:ext>
            </a:extLst>
          </p:cNvPr>
          <p:cNvSpPr txBox="1"/>
          <p:nvPr/>
        </p:nvSpPr>
        <p:spPr>
          <a:xfrm flipH="1">
            <a:off x="2446661" y="1752132"/>
            <a:ext cx="632311" cy="1194507"/>
          </a:xfrm>
          <a:prstGeom prst="rect">
            <a:avLst/>
          </a:prstGeom>
          <a:solidFill>
            <a:srgbClr val="CCECFF">
              <a:alpha val="50196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C4529A5-A05F-F6F0-A387-3AC45C175F25}"/>
              </a:ext>
            </a:extLst>
          </p:cNvPr>
          <p:cNvSpPr/>
          <p:nvPr/>
        </p:nvSpPr>
        <p:spPr>
          <a:xfrm rot="-10800000" flipV="1">
            <a:off x="19138012" y="13283101"/>
            <a:ext cx="4628055" cy="379591"/>
          </a:xfrm>
          <a:prstGeom prst="rect">
            <a:avLst/>
          </a:prstGeom>
          <a:solidFill>
            <a:srgbClr val="5C2A7A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/>
            <a:r>
              <a:rPr lang="en-GB" sz="1800">
                <a:solidFill>
                  <a:srgbClr val="9E79A6"/>
                </a:solidFill>
                <a:latin typeface="Helvetica Neue"/>
              </a:rPr>
              <a:t>22/10/2025</a:t>
            </a:r>
            <a:endParaRPr lang="en-US" sz="1800"/>
          </a:p>
        </p:txBody>
      </p:sp>
      <p:sp>
        <p:nvSpPr>
          <p:cNvPr id="59" name="Slide Number">
            <a:extLst>
              <a:ext uri="{FF2B5EF4-FFF2-40B4-BE49-F238E27FC236}">
                <a16:creationId xmlns:a16="http://schemas.microsoft.com/office/drawing/2014/main" id="{08881699-E2A2-4A77-D8F1-45860113B5CD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23805849" y="13272486"/>
            <a:ext cx="230832" cy="379591"/>
          </a:xfrm>
          <a:prstGeom prst="rect">
            <a:avLst/>
          </a:prstGeom>
        </p:spPr>
        <p:txBody>
          <a:bodyPr/>
          <a:lstStyle/>
          <a:p>
            <a:r>
              <a:rPr lang="en-GB"/>
              <a:t>4</a:t>
            </a:r>
            <a:endParaRPr/>
          </a:p>
        </p:txBody>
      </p:sp>
      <p:pic>
        <p:nvPicPr>
          <p:cNvPr id="12" name="Picture 11" descr="\documentclass{article}&#10;\usepackage{amsmath}&#10;\pagestyle{empty}&#10;\begin{document}&#10;\begin{equation}&#10;\frac{\partial c}{\partial t}=-v\frac{\partial c}{\partial x}&#10;\nonumber&#10;\end{equation}&#10;&#10;\end{document}" title="IguanaTex Bitmap Display">
            <a:extLst>
              <a:ext uri="{FF2B5EF4-FFF2-40B4-BE49-F238E27FC236}">
                <a16:creationId xmlns:a16="http://schemas.microsoft.com/office/drawing/2014/main" id="{352154F4-5760-1655-F67E-29D5ECCE903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187" y="1819920"/>
            <a:ext cx="2419693" cy="100772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82F93CC-457D-2D2F-CCB0-CCE38C7C329E}"/>
                  </a:ext>
                </a:extLst>
              </p:cNvPr>
              <p:cNvSpPr txBox="1"/>
              <p:nvPr/>
            </p:nvSpPr>
            <p:spPr>
              <a:xfrm>
                <a:off x="18367561" y="2471145"/>
                <a:ext cx="4009431" cy="141673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900" i="1" smtClean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GB" sz="3900" i="1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sz="3900" i="1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3900" b="0" i="1" smtClean="0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n-GB" sz="3900" i="1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num>
                                <m:den>
                                  <m:r>
                                    <a:rPr lang="en-GB" sz="3900" b="0" i="1" smtClean="0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𝑑𝑥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GB" sz="3900" i="1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3900" i="1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GB" sz="3900" b="0" i="1" smtClean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3900" i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kumimoji="0" lang="en-GB" sz="39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Neue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</m:ctrlPr>
                            </m:sSubPr>
                            <m:e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𝑐</m:t>
                              </m:r>
                            </m:e>
                            <m:sub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0" lang="en-GB" sz="39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Neue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</m:ctrlPr>
                            </m:sSubPr>
                            <m:e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𝑐</m:t>
                              </m:r>
                            </m:e>
                            <m:sub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𝑖</m:t>
                              </m:r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−1</m:t>
                              </m:r>
                            </m:sub>
                          </m:sSub>
                        </m:num>
                        <m:den>
                          <m:r>
                            <a:rPr kumimoji="0" lang="en-GB" sz="39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Helvetica Neue"/>
                            </a:rPr>
                            <m:t>∆</m:t>
                          </m:r>
                          <m:r>
                            <a:rPr kumimoji="0" lang="en-GB" sz="39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Helvetica Neue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kumimoji="0" lang="en-GB" sz="39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sym typeface="Helvetica Neue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82F93CC-457D-2D2F-CCB0-CCE38C7C32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67561" y="2471145"/>
                <a:ext cx="4009431" cy="141673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5B8FAA14-CF74-D6B4-AA74-8F716E7C4BD3}"/>
              </a:ext>
            </a:extLst>
          </p:cNvPr>
          <p:cNvSpPr txBox="1"/>
          <p:nvPr/>
        </p:nvSpPr>
        <p:spPr>
          <a:xfrm>
            <a:off x="18716818" y="1586097"/>
            <a:ext cx="3815148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3200">
                <a:solidFill>
                  <a:srgbClr val="7030A0"/>
                </a:solidFill>
              </a:rPr>
              <a:t>Backward difference</a:t>
            </a:r>
            <a:endParaRPr kumimoji="0" lang="en-GB" sz="3200" b="0" i="0" u="none" strike="noStrike" cap="none" spc="0" normalizeH="0" baseline="0">
              <a:ln>
                <a:noFill/>
              </a:ln>
              <a:solidFill>
                <a:srgbClr val="7030A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0C7210-4F1F-2528-EF39-C52FAAA174DC}"/>
              </a:ext>
            </a:extLst>
          </p:cNvPr>
          <p:cNvSpPr txBox="1"/>
          <p:nvPr/>
        </p:nvSpPr>
        <p:spPr>
          <a:xfrm>
            <a:off x="12450197" y="1586096"/>
            <a:ext cx="3335849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3200">
                <a:solidFill>
                  <a:schemeClr val="accent6">
                    <a:lumMod val="75000"/>
                  </a:schemeClr>
                </a:solidFill>
              </a:rPr>
              <a:t>Central difference</a:t>
            </a:r>
            <a:endParaRPr kumimoji="0" lang="en-GB" sz="3200" b="0" i="0" u="none" strike="noStrike" cap="none" spc="0" normalizeH="0" baseline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5B677B1-B1E6-573D-7385-0937CC893508}"/>
                  </a:ext>
                </a:extLst>
              </p:cNvPr>
              <p:cNvSpPr txBox="1"/>
              <p:nvPr/>
            </p:nvSpPr>
            <p:spPr>
              <a:xfrm>
                <a:off x="11773274" y="2471145"/>
                <a:ext cx="4487126" cy="141673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900" i="1" smtClean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GB" sz="3900" i="1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sz="3900" i="1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3900" b="0" i="1" smtClean="0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n-GB" sz="3900" i="1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num>
                                <m:den>
                                  <m:r>
                                    <a:rPr lang="en-GB" sz="3900" b="0" i="1" smtClean="0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𝑑𝑥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GB" sz="3900" i="1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3900" i="1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GB" sz="3900" b="0" i="1" smtClean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3900" i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kumimoji="0" lang="en-GB" sz="39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Neue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</m:ctrlPr>
                            </m:sSubPr>
                            <m:e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𝑐</m:t>
                              </m:r>
                            </m:e>
                            <m:sub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𝑖</m:t>
                              </m:r>
                              <m:r>
                                <a:rPr kumimoji="0" lang="en-US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+</m:t>
                              </m:r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1</m:t>
                              </m:r>
                            </m:sub>
                          </m:sSub>
                          <m:r>
                            <a:rPr kumimoji="0" lang="en-GB" sz="39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Neue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</m:ctrlPr>
                            </m:sSubPr>
                            <m:e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𝑐</m:t>
                              </m:r>
                            </m:e>
                            <m:sub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𝑖</m:t>
                              </m:r>
                              <m:r>
                                <a:rPr kumimoji="0" lang="en-US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−</m:t>
                              </m:r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kumimoji="0" lang="en-GB" sz="39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Neue"/>
                            </a:rPr>
                            <m:t>2</m:t>
                          </m:r>
                          <m:r>
                            <a:rPr kumimoji="0" lang="en-GB" sz="39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Helvetica Neue"/>
                            </a:rPr>
                            <m:t>∆</m:t>
                          </m:r>
                          <m:r>
                            <a:rPr kumimoji="0" lang="en-GB" sz="39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Helvetica Neue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kumimoji="0" lang="en-GB" sz="39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sym typeface="Helvetica Neue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5B677B1-B1E6-573D-7385-0937CC8935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73274" y="2471145"/>
                <a:ext cx="4487126" cy="141673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B5631219-5482-7F27-F6E8-833243C5389C}"/>
              </a:ext>
            </a:extLst>
          </p:cNvPr>
          <p:cNvSpPr txBox="1"/>
          <p:nvPr/>
        </p:nvSpPr>
        <p:spPr>
          <a:xfrm>
            <a:off x="11336890" y="4788349"/>
            <a:ext cx="12739467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GB" sz="3200" b="1">
                <a:solidFill>
                  <a:schemeClr val="tx1"/>
                </a:solidFill>
              </a:rPr>
              <a:t>Discretize</a:t>
            </a:r>
            <a:r>
              <a:rPr lang="en-GB" sz="3200">
                <a:solidFill>
                  <a:schemeClr val="tx1">
                    <a:lumMod val="50000"/>
                  </a:schemeClr>
                </a:solidFill>
              </a:rPr>
              <a:t> the </a:t>
            </a:r>
            <a:r>
              <a:rPr lang="en-GB" sz="3200" b="1">
                <a:solidFill>
                  <a:schemeClr val="tx1"/>
                </a:solidFill>
              </a:rPr>
              <a:t>spatial domain</a:t>
            </a:r>
            <a:r>
              <a:rPr lang="en-GB" sz="3200" b="1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GB" sz="3200">
                <a:solidFill>
                  <a:schemeClr val="tx1">
                    <a:lumMod val="50000"/>
                  </a:schemeClr>
                </a:solidFill>
              </a:rPr>
              <a:t>but keep the </a:t>
            </a:r>
            <a:r>
              <a:rPr lang="en-GB" sz="3200" b="1">
                <a:solidFill>
                  <a:schemeClr val="tx1">
                    <a:lumMod val="50000"/>
                  </a:schemeClr>
                </a:solidFill>
              </a:rPr>
              <a:t>time domain </a:t>
            </a:r>
            <a:r>
              <a:rPr lang="en-GB" sz="3200">
                <a:solidFill>
                  <a:schemeClr val="tx1">
                    <a:lumMod val="50000"/>
                  </a:schemeClr>
                </a:solidFill>
              </a:rPr>
              <a:t>continuous</a:t>
            </a:r>
            <a:endParaRPr lang="en-GB" sz="3200" b="1">
              <a:solidFill>
                <a:schemeClr val="tx1">
                  <a:lumMod val="50000"/>
                </a:schemeClr>
              </a:solidFill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68AAE675-99FF-530B-8D4E-D29CF05266BC}"/>
              </a:ext>
            </a:extLst>
          </p:cNvPr>
          <p:cNvGrpSpPr/>
          <p:nvPr/>
        </p:nvGrpSpPr>
        <p:grpSpPr>
          <a:xfrm>
            <a:off x="11552722" y="5413262"/>
            <a:ext cx="11931295" cy="5177658"/>
            <a:chOff x="6494858" y="3875429"/>
            <a:chExt cx="11931295" cy="5177658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F562F37-8F54-D823-70DA-8090EC7A86AF}"/>
                </a:ext>
              </a:extLst>
            </p:cNvPr>
            <p:cNvSpPr/>
            <p:nvPr/>
          </p:nvSpPr>
          <p:spPr>
            <a:xfrm>
              <a:off x="6494858" y="4584298"/>
              <a:ext cx="11931295" cy="2737681"/>
            </a:xfrm>
            <a:prstGeom prst="rect">
              <a:avLst/>
            </a:prstGeom>
            <a:noFill/>
            <a:ln w="57150" cap="flat">
              <a:solidFill>
                <a:schemeClr val="bg2">
                  <a:lumMod val="1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90B10B87-CD98-0FE8-75A6-A0C7765A5D9B}"/>
                </a:ext>
              </a:extLst>
            </p:cNvPr>
            <p:cNvCxnSpPr>
              <a:cxnSpLocks/>
            </p:cNvCxnSpPr>
            <p:nvPr/>
          </p:nvCxnSpPr>
          <p:spPr>
            <a:xfrm>
              <a:off x="6510850" y="4334406"/>
              <a:ext cx="11915303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859C55E0-CC09-6CE0-061C-2614C6BC6A28}"/>
                    </a:ext>
                  </a:extLst>
                </p:cNvPr>
                <p:cNvSpPr txBox="1"/>
                <p:nvPr/>
              </p:nvSpPr>
              <p:spPr>
                <a:xfrm>
                  <a:off x="12329544" y="3875429"/>
                  <a:ext cx="297517" cy="43088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ctr">
                  <a:spAutoFit/>
                </a:bodyPr>
                <a:lstStyle/>
                <a:p>
                  <a:pPr marL="0" marR="0" indent="0" algn="ctr" defTabSz="2438338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GB" sz="2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5E5E5E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𝐿</m:t>
                        </m:r>
                      </m:oMath>
                    </m:oMathPara>
                  </a14:m>
                  <a:endParaRPr kumimoji="0" lang="en-GB" sz="2800" b="0" i="0" u="none" strike="noStrike" cap="none" spc="0" normalizeH="0" baseline="0">
                    <a:ln>
                      <a:noFill/>
                    </a:ln>
                    <a:solidFill>
                      <a:srgbClr val="5E5E5E"/>
                    </a:solidFill>
                    <a:effectLst/>
                    <a:uFillTx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859C55E0-CC09-6CE0-061C-2614C6BC6A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329544" y="3875429"/>
                  <a:ext cx="297517" cy="43088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FF64893-3336-134B-5685-E6EF5726BD10}"/>
                </a:ext>
              </a:extLst>
            </p:cNvPr>
            <p:cNvSpPr/>
            <p:nvPr/>
          </p:nvSpPr>
          <p:spPr>
            <a:xfrm>
              <a:off x="8515903" y="4584298"/>
              <a:ext cx="1985450" cy="2737681"/>
            </a:xfrm>
            <a:prstGeom prst="rect">
              <a:avLst/>
            </a:prstGeom>
            <a:noFill/>
            <a:ln w="12700" cap="flat">
              <a:solidFill>
                <a:schemeClr val="tx2">
                  <a:lumMod val="75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974C367A-F995-5630-6035-4303FF61C245}"/>
                </a:ext>
              </a:extLst>
            </p:cNvPr>
            <p:cNvSpPr/>
            <p:nvPr/>
          </p:nvSpPr>
          <p:spPr>
            <a:xfrm>
              <a:off x="6500476" y="4590270"/>
              <a:ext cx="2012186" cy="2737681"/>
            </a:xfrm>
            <a:prstGeom prst="rect">
              <a:avLst/>
            </a:prstGeom>
            <a:noFill/>
            <a:ln w="12700" cap="flat">
              <a:solidFill>
                <a:schemeClr val="tx2">
                  <a:lumMod val="75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BADC2B3-A11A-21C2-E311-8396DC01196C}"/>
                </a:ext>
              </a:extLst>
            </p:cNvPr>
            <p:cNvSpPr/>
            <p:nvPr/>
          </p:nvSpPr>
          <p:spPr>
            <a:xfrm>
              <a:off x="10497103" y="4603348"/>
              <a:ext cx="1985450" cy="2737681"/>
            </a:xfrm>
            <a:prstGeom prst="rect">
              <a:avLst/>
            </a:prstGeom>
            <a:noFill/>
            <a:ln w="12700" cap="flat">
              <a:solidFill>
                <a:schemeClr val="tx2">
                  <a:lumMod val="75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852C726-DD60-0CAE-FA19-DA40C5732553}"/>
                </a:ext>
              </a:extLst>
            </p:cNvPr>
            <p:cNvSpPr/>
            <p:nvPr/>
          </p:nvSpPr>
          <p:spPr>
            <a:xfrm>
              <a:off x="12478303" y="4584298"/>
              <a:ext cx="1985450" cy="2737681"/>
            </a:xfrm>
            <a:prstGeom prst="rect">
              <a:avLst/>
            </a:prstGeom>
            <a:noFill/>
            <a:ln w="12700" cap="flat">
              <a:solidFill>
                <a:schemeClr val="tx2">
                  <a:lumMod val="75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93CDB96-07A5-1F39-9DBB-7E5D1AB47F78}"/>
                </a:ext>
              </a:extLst>
            </p:cNvPr>
            <p:cNvSpPr/>
            <p:nvPr/>
          </p:nvSpPr>
          <p:spPr>
            <a:xfrm>
              <a:off x="14459503" y="4601364"/>
              <a:ext cx="1985450" cy="2737681"/>
            </a:xfrm>
            <a:prstGeom prst="rect">
              <a:avLst/>
            </a:prstGeom>
            <a:noFill/>
            <a:ln w="12700" cap="flat">
              <a:solidFill>
                <a:schemeClr val="tx2">
                  <a:lumMod val="75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01DDE9DC-13B0-90F1-8141-18C215300322}"/>
                </a:ext>
              </a:extLst>
            </p:cNvPr>
            <p:cNvSpPr/>
            <p:nvPr/>
          </p:nvSpPr>
          <p:spPr>
            <a:xfrm>
              <a:off x="16440703" y="4565248"/>
              <a:ext cx="1985450" cy="2737681"/>
            </a:xfrm>
            <a:prstGeom prst="rect">
              <a:avLst/>
            </a:prstGeom>
            <a:noFill/>
            <a:ln w="12700" cap="flat">
              <a:solidFill>
                <a:schemeClr val="tx2">
                  <a:lumMod val="75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32" name="Flowchart: Connector 31">
              <a:extLst>
                <a:ext uri="{FF2B5EF4-FFF2-40B4-BE49-F238E27FC236}">
                  <a16:creationId xmlns:a16="http://schemas.microsoft.com/office/drawing/2014/main" id="{5EC12D4F-FC13-8C8F-EEC7-659D3EFE2A73}"/>
                </a:ext>
              </a:extLst>
            </p:cNvPr>
            <p:cNvSpPr/>
            <p:nvPr/>
          </p:nvSpPr>
          <p:spPr>
            <a:xfrm>
              <a:off x="7392333" y="5842429"/>
              <a:ext cx="228600" cy="233363"/>
            </a:xfrm>
            <a:prstGeom prst="flowChartConnector">
              <a:avLst/>
            </a:prstGeom>
            <a:solidFill>
              <a:schemeClr val="tx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33" name="Flowchart: Connector 32">
              <a:extLst>
                <a:ext uri="{FF2B5EF4-FFF2-40B4-BE49-F238E27FC236}">
                  <a16:creationId xmlns:a16="http://schemas.microsoft.com/office/drawing/2014/main" id="{0F5B12D8-94D5-53BC-7F0B-DA3B628E3122}"/>
                </a:ext>
              </a:extLst>
            </p:cNvPr>
            <p:cNvSpPr/>
            <p:nvPr/>
          </p:nvSpPr>
          <p:spPr>
            <a:xfrm>
              <a:off x="9394328" y="5836457"/>
              <a:ext cx="228600" cy="233363"/>
            </a:xfrm>
            <a:prstGeom prst="flowChartConnector">
              <a:avLst/>
            </a:prstGeom>
            <a:solidFill>
              <a:schemeClr val="tx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34" name="Flowchart: Connector 33">
              <a:extLst>
                <a:ext uri="{FF2B5EF4-FFF2-40B4-BE49-F238E27FC236}">
                  <a16:creationId xmlns:a16="http://schemas.microsoft.com/office/drawing/2014/main" id="{BC89F872-3725-C58E-0F86-E4C4D6898EC7}"/>
                </a:ext>
              </a:extLst>
            </p:cNvPr>
            <p:cNvSpPr/>
            <p:nvPr/>
          </p:nvSpPr>
          <p:spPr>
            <a:xfrm>
              <a:off x="11375528" y="5836457"/>
              <a:ext cx="228600" cy="233363"/>
            </a:xfrm>
            <a:prstGeom prst="flowChartConnector">
              <a:avLst/>
            </a:prstGeom>
            <a:solidFill>
              <a:schemeClr val="tx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35" name="Flowchart: Connector 34">
              <a:extLst>
                <a:ext uri="{FF2B5EF4-FFF2-40B4-BE49-F238E27FC236}">
                  <a16:creationId xmlns:a16="http://schemas.microsoft.com/office/drawing/2014/main" id="{279798F5-0E55-A876-8E26-D70CD996CDDD}"/>
                </a:ext>
              </a:extLst>
            </p:cNvPr>
            <p:cNvSpPr/>
            <p:nvPr/>
          </p:nvSpPr>
          <p:spPr>
            <a:xfrm>
              <a:off x="13356728" y="5836457"/>
              <a:ext cx="228600" cy="233363"/>
            </a:xfrm>
            <a:prstGeom prst="flowChartConnector">
              <a:avLst/>
            </a:prstGeom>
            <a:solidFill>
              <a:schemeClr val="tx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36" name="Flowchart: Connector 35">
              <a:extLst>
                <a:ext uri="{FF2B5EF4-FFF2-40B4-BE49-F238E27FC236}">
                  <a16:creationId xmlns:a16="http://schemas.microsoft.com/office/drawing/2014/main" id="{FEA23F45-6864-AC10-6461-BB59C26D37C2}"/>
                </a:ext>
              </a:extLst>
            </p:cNvPr>
            <p:cNvSpPr/>
            <p:nvPr/>
          </p:nvSpPr>
          <p:spPr>
            <a:xfrm>
              <a:off x="15337928" y="5853523"/>
              <a:ext cx="228600" cy="233363"/>
            </a:xfrm>
            <a:prstGeom prst="flowChartConnector">
              <a:avLst/>
            </a:prstGeom>
            <a:solidFill>
              <a:schemeClr val="tx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37" name="Flowchart: Connector 36">
              <a:extLst>
                <a:ext uri="{FF2B5EF4-FFF2-40B4-BE49-F238E27FC236}">
                  <a16:creationId xmlns:a16="http://schemas.microsoft.com/office/drawing/2014/main" id="{F8571419-E376-E553-7C29-FF7EFBC124AE}"/>
                </a:ext>
              </a:extLst>
            </p:cNvPr>
            <p:cNvSpPr/>
            <p:nvPr/>
          </p:nvSpPr>
          <p:spPr>
            <a:xfrm>
              <a:off x="17319128" y="5853523"/>
              <a:ext cx="228600" cy="233363"/>
            </a:xfrm>
            <a:prstGeom prst="flowChartConnector">
              <a:avLst/>
            </a:prstGeom>
            <a:solidFill>
              <a:schemeClr val="tx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D3CC2E94-C40C-A37C-4921-DCEE4CD5AA0C}"/>
                </a:ext>
              </a:extLst>
            </p:cNvPr>
            <p:cNvCxnSpPr>
              <a:cxnSpLocks/>
            </p:cNvCxnSpPr>
            <p:nvPr/>
          </p:nvCxnSpPr>
          <p:spPr>
            <a:xfrm>
              <a:off x="7506633" y="8610600"/>
              <a:ext cx="2001995" cy="0"/>
            </a:xfrm>
            <a:prstGeom prst="straightConnector1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headEnd type="triangle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12FA2AB-7E97-A273-6E84-2D5D5177469B}"/>
                </a:ext>
              </a:extLst>
            </p:cNvPr>
            <p:cNvCxnSpPr>
              <a:cxnSpLocks/>
              <a:stCxn id="27" idx="4"/>
            </p:cNvCxnSpPr>
            <p:nvPr/>
          </p:nvCxnSpPr>
          <p:spPr>
            <a:xfrm>
              <a:off x="7519937" y="6075792"/>
              <a:ext cx="0" cy="2534808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ysDot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3A342AD5-278E-1822-C56C-D313E736297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508627" y="6069820"/>
              <a:ext cx="1" cy="254078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ysDot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B1975863-CEEC-D6E9-2A70-F0DB7704F77B}"/>
                    </a:ext>
                  </a:extLst>
                </p:cNvPr>
                <p:cNvSpPr txBox="1"/>
                <p:nvPr/>
              </p:nvSpPr>
              <p:spPr>
                <a:xfrm>
                  <a:off x="8204598" y="8560644"/>
                  <a:ext cx="589520" cy="49244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ctr">
                  <a:spAutoFit/>
                </a:bodyPr>
                <a:lstStyle/>
                <a:p>
                  <a:pPr marL="0" marR="0" indent="0" algn="ctr" defTabSz="2438338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GB" sz="32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5E5E5E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Helvetica Neue"/>
                          </a:rPr>
                          <m:t>∆</m:t>
                        </m:r>
                        <m:r>
                          <a:rPr kumimoji="0" lang="en-GB" sz="32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5E5E5E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Helvetica Neue"/>
                          </a:rPr>
                          <m:t>𝑥</m:t>
                        </m:r>
                      </m:oMath>
                    </m:oMathPara>
                  </a14:m>
                  <a:endParaRPr kumimoji="0" lang="en-GB" sz="3200" b="0" i="0" u="none" strike="noStrike" cap="none" spc="0" normalizeH="0" baseline="0">
                    <a:ln>
                      <a:noFill/>
                    </a:ln>
                    <a:solidFill>
                      <a:srgbClr val="5E5E5E"/>
                    </a:solidFill>
                    <a:effectLst/>
                    <a:uFillTx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B1975863-CEEC-D6E9-2A70-F0DB7704F7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04598" y="8560644"/>
                  <a:ext cx="589520" cy="492443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E24FBBF8-6EA3-9736-9923-AEEC1E56FEEB}"/>
                </a:ext>
              </a:extLst>
            </p:cNvPr>
            <p:cNvSpPr txBox="1"/>
            <p:nvPr/>
          </p:nvSpPr>
          <p:spPr>
            <a:xfrm>
              <a:off x="7294947" y="5232270"/>
              <a:ext cx="522579" cy="4719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GB" sz="2400" b="0" i="0" u="none" strike="noStrike" cap="none" spc="0" normalizeH="0" baseline="0" err="1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i</a:t>
              </a:r>
              <a:r>
                <a:rPr kumimoji="0" lang="en-GB" sz="24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=0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61ABCB54-44AE-3802-9B4F-23FA7CF0270D}"/>
                </a:ext>
              </a:extLst>
            </p:cNvPr>
            <p:cNvSpPr txBox="1"/>
            <p:nvPr/>
          </p:nvSpPr>
          <p:spPr>
            <a:xfrm>
              <a:off x="9247338" y="5232270"/>
              <a:ext cx="522579" cy="4719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GB" sz="2400" b="0" i="0" u="none" strike="noStrike" cap="none" spc="0" normalizeH="0" baseline="0" err="1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i</a:t>
              </a:r>
              <a:r>
                <a:rPr kumimoji="0" lang="en-GB" sz="24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=1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71A7E34C-CBE8-2363-EF67-B57154D1A556}"/>
                </a:ext>
              </a:extLst>
            </p:cNvPr>
            <p:cNvSpPr txBox="1"/>
            <p:nvPr/>
          </p:nvSpPr>
          <p:spPr>
            <a:xfrm>
              <a:off x="11277810" y="5232270"/>
              <a:ext cx="522579" cy="4719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GB" sz="2400" b="0" i="0" u="none" strike="noStrike" cap="none" spc="0" normalizeH="0" baseline="0" err="1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i</a:t>
              </a:r>
              <a:r>
                <a:rPr kumimoji="0" lang="en-GB" sz="24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=2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DF3C5F0B-6E33-DB68-0C38-8A8948A50C66}"/>
                </a:ext>
              </a:extLst>
            </p:cNvPr>
            <p:cNvSpPr txBox="1"/>
            <p:nvPr/>
          </p:nvSpPr>
          <p:spPr>
            <a:xfrm>
              <a:off x="13070557" y="5232270"/>
              <a:ext cx="796693" cy="4719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GB" sz="2400" b="0" i="0" u="none" strike="noStrike" cap="none" spc="0" normalizeH="0" baseline="0" err="1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i</a:t>
              </a:r>
              <a:r>
                <a:rPr kumimoji="0" lang="en-GB" sz="24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=n-2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121E1264-C282-0703-9A3C-63203F747756}"/>
                </a:ext>
              </a:extLst>
            </p:cNvPr>
            <p:cNvSpPr txBox="1"/>
            <p:nvPr/>
          </p:nvSpPr>
          <p:spPr>
            <a:xfrm>
              <a:off x="15051757" y="5223951"/>
              <a:ext cx="796693" cy="4719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GB" sz="2400" b="0" i="0" u="none" strike="noStrike" cap="none" spc="0" normalizeH="0" baseline="0" err="1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i</a:t>
              </a:r>
              <a:r>
                <a:rPr kumimoji="0" lang="en-GB" sz="24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=n-1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8093F1F4-3C23-EF84-5B83-F5EBACC6919A}"/>
                    </a:ext>
                  </a:extLst>
                </p:cNvPr>
                <p:cNvSpPr txBox="1"/>
                <p:nvPr/>
              </p:nvSpPr>
              <p:spPr>
                <a:xfrm rot="5400000">
                  <a:off x="12243661" y="4354104"/>
                  <a:ext cx="519373" cy="61555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ctr">
                  <a:spAutoFit/>
                </a:bodyPr>
                <a:lstStyle/>
                <a:p>
                  <a:pPr marL="0" marR="0" indent="0" algn="ctr" defTabSz="2438338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GB" sz="4000" b="1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tx1">
                                <a:lumMod val="75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Helvetica Neue"/>
                          </a:rPr>
                          <m:t>≈</m:t>
                        </m:r>
                      </m:oMath>
                    </m:oMathPara>
                  </a14:m>
                  <a:endParaRPr kumimoji="0" lang="en-GB" sz="3200" b="1" i="0" u="none" strike="noStrike" cap="none" spc="0" normalizeH="0" baseline="0">
                    <a:ln>
                      <a:noFill/>
                    </a:ln>
                    <a:solidFill>
                      <a:schemeClr val="tx1">
                        <a:lumMod val="75000"/>
                      </a:schemeClr>
                    </a:solidFill>
                    <a:effectLst/>
                    <a:uFillTx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8093F1F4-3C23-EF84-5B83-F5EBACC691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12243661" y="4354104"/>
                  <a:ext cx="519373" cy="615553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3740A8C3-CE39-1350-5AB0-E333DBA7F310}"/>
                    </a:ext>
                  </a:extLst>
                </p:cNvPr>
                <p:cNvSpPr txBox="1"/>
                <p:nvPr/>
              </p:nvSpPr>
              <p:spPr>
                <a:xfrm rot="5400000">
                  <a:off x="12243659" y="7118910"/>
                  <a:ext cx="519373" cy="61555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ctr">
                  <a:spAutoFit/>
                </a:bodyPr>
                <a:lstStyle/>
                <a:p>
                  <a:pPr marL="0" marR="0" indent="0" algn="ctr" defTabSz="2438338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GB" sz="4000" b="1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tx1">
                                <a:lumMod val="75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Helvetica Neue"/>
                          </a:rPr>
                          <m:t>≈</m:t>
                        </m:r>
                      </m:oMath>
                    </m:oMathPara>
                  </a14:m>
                  <a:endParaRPr kumimoji="0" lang="en-GB" sz="3200" b="1" i="0" u="none" strike="noStrike" cap="none" spc="0" normalizeH="0" baseline="0">
                    <a:ln>
                      <a:noFill/>
                    </a:ln>
                    <a:solidFill>
                      <a:schemeClr val="tx1">
                        <a:lumMod val="75000"/>
                      </a:schemeClr>
                    </a:solidFill>
                    <a:effectLst/>
                    <a:uFillTx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3740A8C3-CE39-1350-5AB0-E333DBA7F3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12243659" y="7118910"/>
                  <a:ext cx="519373" cy="615553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3A9B579E-6763-D823-6CB5-BFCDCDF77526}"/>
                </a:ext>
              </a:extLst>
            </p:cNvPr>
            <p:cNvSpPr txBox="1"/>
            <p:nvPr/>
          </p:nvSpPr>
          <p:spPr>
            <a:xfrm>
              <a:off x="17170014" y="5185933"/>
              <a:ext cx="522579" cy="4719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GB" sz="2400" b="0" i="0" u="none" strike="noStrike" cap="none" spc="0" normalizeH="0" baseline="0" err="1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i</a:t>
              </a:r>
              <a:r>
                <a:rPr kumimoji="0" lang="en-GB" sz="24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=n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F0D652D1-FADF-FB15-1F23-D668D0E10F1E}"/>
                    </a:ext>
                  </a:extLst>
                </p:cNvPr>
                <p:cNvSpPr txBox="1"/>
                <p:nvPr/>
              </p:nvSpPr>
              <p:spPr>
                <a:xfrm>
                  <a:off x="8230504" y="7426687"/>
                  <a:ext cx="728469" cy="69147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ctr">
                  <a:spAutoFit/>
                </a:bodyPr>
                <a:lstStyle/>
                <a:p>
                  <a:pPr marL="0" marR="0" indent="0" algn="ctr" defTabSz="2438338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GB" sz="24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5E5E5E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  <m:r>
                          <a:rPr kumimoji="0" lang="en-GB" sz="24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5E5E5E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+</m:t>
                        </m:r>
                        <m:f>
                          <m:fPr>
                            <m:ctrlPr>
                              <a:rPr kumimoji="0" lang="en-GB" sz="24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5E5E5E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Helvetica Neue"/>
                              </a:rPr>
                            </m:ctrlPr>
                          </m:fPr>
                          <m:num>
                            <m:r>
                              <a:rPr kumimoji="0" lang="en-GB" sz="24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5E5E5E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Helvetica Neue"/>
                              </a:rPr>
                              <m:t>1</m:t>
                            </m:r>
                          </m:num>
                          <m:den>
                            <m:r>
                              <a:rPr kumimoji="0" lang="en-GB" sz="24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5E5E5E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Helvetica Neue"/>
                              </a:rPr>
                              <m:t>2</m:t>
                            </m:r>
                          </m:den>
                        </m:f>
                      </m:oMath>
                    </m:oMathPara>
                  </a14:m>
                  <a:endParaRPr kumimoji="0" lang="en-GB" sz="2400" b="0" i="0" u="none" strike="noStrike" cap="none" spc="0" normalizeH="0" baseline="0">
                    <a:ln>
                      <a:noFill/>
                    </a:ln>
                    <a:solidFill>
                      <a:srgbClr val="5E5E5E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F0D652D1-FADF-FB15-1F23-D668D0E10F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0504" y="7426687"/>
                  <a:ext cx="728469" cy="691471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52775496-29BA-189A-E87A-444B9142F2D5}"/>
              </a:ext>
            </a:extLst>
          </p:cNvPr>
          <p:cNvGrpSpPr/>
          <p:nvPr/>
        </p:nvGrpSpPr>
        <p:grpSpPr>
          <a:xfrm>
            <a:off x="160623" y="3820967"/>
            <a:ext cx="7125496" cy="6852921"/>
            <a:chOff x="160623" y="3820967"/>
            <a:chExt cx="7125496" cy="6852921"/>
          </a:xfrm>
        </p:grpSpPr>
        <p:pic>
          <p:nvPicPr>
            <p:cNvPr id="8" name="Picture 7" descr="A graph of a function&#10;&#10;AI-generated content may be incorrect.">
              <a:extLst>
                <a:ext uri="{FF2B5EF4-FFF2-40B4-BE49-F238E27FC236}">
                  <a16:creationId xmlns:a16="http://schemas.microsoft.com/office/drawing/2014/main" id="{03BDF7DF-4D13-6C5E-EDE9-4FF117DC1A4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60623" y="3820967"/>
              <a:ext cx="6842119" cy="6842119"/>
            </a:xfrm>
            <a:prstGeom prst="rect">
              <a:avLst/>
            </a:prstGeom>
          </p:spPr>
        </p:pic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0D99A05C-DF61-46E2-C2F8-F346DAB4D216}"/>
                </a:ext>
              </a:extLst>
            </p:cNvPr>
            <p:cNvGrpSpPr/>
            <p:nvPr/>
          </p:nvGrpSpPr>
          <p:grpSpPr>
            <a:xfrm>
              <a:off x="398526" y="4465806"/>
              <a:ext cx="6887593" cy="5918886"/>
              <a:chOff x="407453" y="5433188"/>
              <a:chExt cx="6887593" cy="5918886"/>
            </a:xfrm>
          </p:grpSpPr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B4DB8F0B-3B57-EE57-8BB4-401ED64367D8}"/>
                  </a:ext>
                </a:extLst>
              </p:cNvPr>
              <p:cNvSpPr txBox="1"/>
              <p:nvPr/>
            </p:nvSpPr>
            <p:spPr>
              <a:xfrm>
                <a:off x="899983" y="5433188"/>
                <a:ext cx="1337891" cy="859327"/>
              </a:xfrm>
              <a:prstGeom prst="rect">
                <a:avLst/>
              </a:prstGeom>
              <a:solidFill>
                <a:schemeClr val="bg1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GB" sz="24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0E76D1AB-6812-76AB-564B-33FAA896DF9F}"/>
                  </a:ext>
                </a:extLst>
              </p:cNvPr>
              <p:cNvSpPr txBox="1"/>
              <p:nvPr/>
            </p:nvSpPr>
            <p:spPr>
              <a:xfrm>
                <a:off x="5673778" y="10492747"/>
                <a:ext cx="1337891" cy="859327"/>
              </a:xfrm>
              <a:prstGeom prst="rect">
                <a:avLst/>
              </a:prstGeom>
              <a:solidFill>
                <a:schemeClr val="bg1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GB" sz="24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11152AE6-73DB-44E6-9468-367E11881A8D}"/>
                  </a:ext>
                </a:extLst>
              </p:cNvPr>
              <p:cNvSpPr/>
              <p:nvPr/>
            </p:nvSpPr>
            <p:spPr>
              <a:xfrm>
                <a:off x="3830641" y="8588501"/>
                <a:ext cx="163244" cy="172045"/>
              </a:xfrm>
              <a:prstGeom prst="ellipse">
                <a:avLst/>
              </a:prstGeom>
              <a:solidFill>
                <a:srgbClr val="7030A0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GB" sz="3200" b="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1D83809A-F706-7563-5834-C765CC60D1AA}"/>
                  </a:ext>
                </a:extLst>
              </p:cNvPr>
              <p:cNvSpPr/>
              <p:nvPr/>
            </p:nvSpPr>
            <p:spPr>
              <a:xfrm>
                <a:off x="2614199" y="9114146"/>
                <a:ext cx="163244" cy="172045"/>
              </a:xfrm>
              <a:prstGeom prst="ellipse">
                <a:avLst/>
              </a:prstGeom>
              <a:solidFill>
                <a:srgbClr val="7030A0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GB" sz="3200" b="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7E954D19-9A7B-6B57-1AE9-8479356103A7}"/>
                  </a:ext>
                </a:extLst>
              </p:cNvPr>
              <p:cNvSpPr/>
              <p:nvPr/>
            </p:nvSpPr>
            <p:spPr>
              <a:xfrm>
                <a:off x="5004045" y="7782815"/>
                <a:ext cx="163244" cy="172045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GB" sz="3200" b="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DBC61502-CE02-D687-73CF-74ABAA0ACF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96568" y="9274159"/>
                <a:ext cx="0" cy="940650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dash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F2757840-E3EF-CBCA-A408-6D4FF43F4EC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888795" y="8760546"/>
                <a:ext cx="23468" cy="1454263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dash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4847AD3C-9B3D-0FBF-7B3B-4769DEFFF8C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85667" y="7958547"/>
                <a:ext cx="0" cy="2256262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dash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70E5C250-1E31-BED5-42E1-BB23EF2FE99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813047" y="7517693"/>
                <a:ext cx="4361676" cy="2256669"/>
              </a:xfrm>
              <a:prstGeom prst="line">
                <a:avLst/>
              </a:prstGeom>
              <a:noFill/>
              <a:ln w="57150" cap="flat">
                <a:solidFill>
                  <a:schemeClr val="accent1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75EA2DC0-5C6F-9EDF-F509-0503792108A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552161" y="7830479"/>
                <a:ext cx="4410385" cy="1857803"/>
              </a:xfrm>
              <a:prstGeom prst="line">
                <a:avLst/>
              </a:prstGeom>
              <a:noFill/>
              <a:ln w="57150" cap="flat">
                <a:solidFill>
                  <a:srgbClr val="7030A0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4" name="TextBox 83">
                    <a:extLst>
                      <a:ext uri="{FF2B5EF4-FFF2-40B4-BE49-F238E27FC236}">
                        <a16:creationId xmlns:a16="http://schemas.microsoft.com/office/drawing/2014/main" id="{F28C6E66-BB9C-42BA-DCDA-C646B5D63461}"/>
                      </a:ext>
                    </a:extLst>
                  </p:cNvPr>
                  <p:cNvSpPr txBox="1"/>
                  <p:nvPr/>
                </p:nvSpPr>
                <p:spPr>
                  <a:xfrm>
                    <a:off x="407453" y="6231323"/>
                    <a:ext cx="886268" cy="492443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none" lIns="0" tIns="0" rIns="0" bIns="0" numCol="1" spcCol="38100" rtlCol="0" anchor="ctr">
                    <a:spAutoFit/>
                  </a:bodyPr>
                  <a:lstStyle/>
                  <a:p>
                    <a:pPr marL="0" marR="0" indent="0" algn="ctr" defTabSz="2438338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GB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𝑐</m:t>
                          </m:r>
                          <m:r>
                            <a:rPr kumimoji="0" lang="en-GB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(</m:t>
                          </m:r>
                          <m:r>
                            <a:rPr kumimoji="0" lang="en-GB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𝑥</m:t>
                          </m:r>
                          <m:r>
                            <a:rPr kumimoji="0" lang="en-GB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)</m:t>
                          </m:r>
                        </m:oMath>
                      </m:oMathPara>
                    </a14:m>
                    <a:endParaRPr kumimoji="0" lang="en-GB" sz="3200" b="0" i="0" u="none" strike="noStrike" cap="none" spc="0" normalizeH="0" baseline="0">
                      <a:ln>
                        <a:noFill/>
                      </a:ln>
                      <a:solidFill>
                        <a:schemeClr val="bg2">
                          <a:lumMod val="10000"/>
                        </a:schemeClr>
                      </a:solidFill>
                      <a:effectLst/>
                      <a:uFillTx/>
                      <a:ea typeface="+mn-ea"/>
                      <a:cs typeface="+mn-cs"/>
                      <a:sym typeface="Helvetica Neue"/>
                    </a:endParaRPr>
                  </a:p>
                </p:txBody>
              </p:sp>
            </mc:Choice>
            <mc:Fallback xmlns="">
              <p:sp>
                <p:nvSpPr>
                  <p:cNvPr id="84" name="TextBox 83">
                    <a:extLst>
                      <a:ext uri="{FF2B5EF4-FFF2-40B4-BE49-F238E27FC236}">
                        <a16:creationId xmlns:a16="http://schemas.microsoft.com/office/drawing/2014/main" id="{F28C6E66-BB9C-42BA-DCDA-C646B5D6346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7453" y="6231323"/>
                    <a:ext cx="886268" cy="492443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5" name="TextBox 84">
                    <a:extLst>
                      <a:ext uri="{FF2B5EF4-FFF2-40B4-BE49-F238E27FC236}">
                        <a16:creationId xmlns:a16="http://schemas.microsoft.com/office/drawing/2014/main" id="{8A2C5A3C-D2CA-19F9-6FA2-731384137981}"/>
                      </a:ext>
                    </a:extLst>
                  </p:cNvPr>
                  <p:cNvSpPr txBox="1"/>
                  <p:nvPr/>
                </p:nvSpPr>
                <p:spPr>
                  <a:xfrm>
                    <a:off x="6005114" y="10292644"/>
                    <a:ext cx="344261" cy="492443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none" lIns="0" tIns="0" rIns="0" bIns="0" numCol="1" spcCol="38100" rtlCol="0" anchor="ctr">
                    <a:spAutoFit/>
                  </a:bodyPr>
                  <a:lstStyle/>
                  <a:p>
                    <a:pPr marL="0" marR="0" indent="0" algn="ctr" defTabSz="2438338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GB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𝑥</m:t>
                          </m:r>
                        </m:oMath>
                      </m:oMathPara>
                    </a14:m>
                    <a:endParaRPr kumimoji="0" lang="en-GB" sz="3200" b="0" i="0" u="none" strike="noStrike" cap="none" spc="0" normalizeH="0" baseline="0">
                      <a:ln>
                        <a:noFill/>
                      </a:ln>
                      <a:solidFill>
                        <a:schemeClr val="bg2">
                          <a:lumMod val="10000"/>
                        </a:schemeClr>
                      </a:solidFill>
                      <a:effectLst/>
                      <a:uFillTx/>
                      <a:ea typeface="+mn-ea"/>
                      <a:cs typeface="+mn-cs"/>
                      <a:sym typeface="Helvetica Neue"/>
                    </a:endParaRPr>
                  </a:p>
                </p:txBody>
              </p:sp>
            </mc:Choice>
            <mc:Fallback xmlns="">
              <p:sp>
                <p:nvSpPr>
                  <p:cNvPr id="85" name="TextBox 84">
                    <a:extLst>
                      <a:ext uri="{FF2B5EF4-FFF2-40B4-BE49-F238E27FC236}">
                        <a16:creationId xmlns:a16="http://schemas.microsoft.com/office/drawing/2014/main" id="{8A2C5A3C-D2CA-19F9-6FA2-73138413798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05114" y="10292644"/>
                    <a:ext cx="344261" cy="492443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6" name="TextBox 85">
                    <a:extLst>
                      <a:ext uri="{FF2B5EF4-FFF2-40B4-BE49-F238E27FC236}">
                        <a16:creationId xmlns:a16="http://schemas.microsoft.com/office/drawing/2014/main" id="{E9DB6897-B7F1-281C-0629-5E579C7B8DD0}"/>
                      </a:ext>
                    </a:extLst>
                  </p:cNvPr>
                  <p:cNvSpPr txBox="1"/>
                  <p:nvPr/>
                </p:nvSpPr>
                <p:spPr>
                  <a:xfrm>
                    <a:off x="3712268" y="10292644"/>
                    <a:ext cx="460960" cy="492443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none" lIns="0" tIns="0" rIns="0" bIns="0" numCol="1" spcCol="38100" rtlCol="0" anchor="ctr">
                    <a:spAutoFit/>
                  </a:bodyPr>
                  <a:lstStyle/>
                  <a:p>
                    <a:pPr marL="0" marR="0" indent="0" algn="ctr" defTabSz="2438338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en-GB" sz="3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7030A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</m:ctrlPr>
                            </m:sSubPr>
                            <m:e>
                              <m:r>
                                <a:rPr kumimoji="0" lang="en-GB" sz="3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7030A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GB" sz="3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7030A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  <m:t>𝑖</m:t>
                              </m:r>
                            </m:sub>
                          </m:sSub>
                        </m:oMath>
                      </m:oMathPara>
                    </a14:m>
                    <a:endParaRPr kumimoji="0" lang="en-GB" sz="3200" b="0" i="0" u="none" strike="noStrike" cap="none" spc="0" normalizeH="0" baseline="0">
                      <a:ln>
                        <a:noFill/>
                      </a:ln>
                      <a:solidFill>
                        <a:srgbClr val="7030A0"/>
                      </a:solidFill>
                      <a:effectLst/>
                      <a:uFillTx/>
                      <a:ea typeface="+mn-ea"/>
                      <a:cs typeface="+mn-cs"/>
                      <a:sym typeface="Helvetica Neue"/>
                    </a:endParaRPr>
                  </a:p>
                </p:txBody>
              </p:sp>
            </mc:Choice>
            <mc:Fallback xmlns="">
              <p:sp>
                <p:nvSpPr>
                  <p:cNvPr id="86" name="TextBox 85">
                    <a:extLst>
                      <a:ext uri="{FF2B5EF4-FFF2-40B4-BE49-F238E27FC236}">
                        <a16:creationId xmlns:a16="http://schemas.microsoft.com/office/drawing/2014/main" id="{E9DB6897-B7F1-281C-0629-5E579C7B8DD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12268" y="10292644"/>
                    <a:ext cx="460960" cy="492443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7" name="TextBox 86">
                    <a:extLst>
                      <a:ext uri="{FF2B5EF4-FFF2-40B4-BE49-F238E27FC236}">
                        <a16:creationId xmlns:a16="http://schemas.microsoft.com/office/drawing/2014/main" id="{0B9992C9-C59F-8661-DF1F-9572D05DA7C8}"/>
                      </a:ext>
                    </a:extLst>
                  </p:cNvPr>
                  <p:cNvSpPr txBox="1"/>
                  <p:nvPr/>
                </p:nvSpPr>
                <p:spPr>
                  <a:xfrm>
                    <a:off x="4661863" y="10292644"/>
                    <a:ext cx="852093" cy="492443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none" lIns="0" tIns="0" rIns="0" bIns="0" numCol="1" spcCol="38100" rtlCol="0" anchor="ctr">
                    <a:spAutoFit/>
                  </a:bodyPr>
                  <a:lstStyle/>
                  <a:p>
                    <a:pPr marL="0" marR="0" indent="0" algn="ctr" defTabSz="2438338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en-GB" sz="3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</m:ctrlPr>
                            </m:sSubPr>
                            <m:e>
                              <m:r>
                                <a:rPr kumimoji="0" lang="en-GB" sz="3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GB" sz="3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  <m:t>𝑖</m:t>
                              </m:r>
                              <m:r>
                                <a:rPr kumimoji="0" lang="en-GB" sz="3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  <m:t>+1</m:t>
                              </m:r>
                            </m:sub>
                          </m:sSub>
                        </m:oMath>
                      </m:oMathPara>
                    </a14:m>
                    <a:endParaRPr kumimoji="0" lang="en-GB" sz="3200" b="0" i="0" u="none" strike="noStrike" cap="none" spc="0" normalizeH="0" baseline="0">
                      <a:ln>
                        <a:noFill/>
                      </a:ln>
                      <a:solidFill>
                        <a:schemeClr val="bg2">
                          <a:lumMod val="10000"/>
                        </a:schemeClr>
                      </a:solidFill>
                      <a:effectLst/>
                      <a:uFillTx/>
                      <a:ea typeface="+mn-ea"/>
                      <a:cs typeface="+mn-cs"/>
                      <a:sym typeface="Helvetica Neue"/>
                    </a:endParaRPr>
                  </a:p>
                </p:txBody>
              </p:sp>
            </mc:Choice>
            <mc:Fallback xmlns="">
              <p:sp>
                <p:nvSpPr>
                  <p:cNvPr id="87" name="TextBox 86">
                    <a:extLst>
                      <a:ext uri="{FF2B5EF4-FFF2-40B4-BE49-F238E27FC236}">
                        <a16:creationId xmlns:a16="http://schemas.microsoft.com/office/drawing/2014/main" id="{0B9992C9-C59F-8661-DF1F-9572D05DA7C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61863" y="10292644"/>
                    <a:ext cx="852093" cy="492443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8" name="TextBox 87">
                    <a:extLst>
                      <a:ext uri="{FF2B5EF4-FFF2-40B4-BE49-F238E27FC236}">
                        <a16:creationId xmlns:a16="http://schemas.microsoft.com/office/drawing/2014/main" id="{26E65C45-0818-3483-18BD-10D41D54C8CC}"/>
                      </a:ext>
                    </a:extLst>
                  </p:cNvPr>
                  <p:cNvSpPr txBox="1"/>
                  <p:nvPr/>
                </p:nvSpPr>
                <p:spPr>
                  <a:xfrm>
                    <a:off x="2274822" y="10292644"/>
                    <a:ext cx="852093" cy="492443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none" lIns="0" tIns="0" rIns="0" bIns="0" numCol="1" spcCol="38100" rtlCol="0" anchor="ctr">
                    <a:spAutoFit/>
                  </a:bodyPr>
                  <a:lstStyle/>
                  <a:p>
                    <a:pPr marL="0" marR="0" indent="0" algn="ctr" defTabSz="2438338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en-GB" sz="3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7030A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</m:ctrlPr>
                            </m:sSubPr>
                            <m:e>
                              <m:r>
                                <a:rPr kumimoji="0" lang="en-GB" sz="3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7030A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GB" sz="3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7030A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  <m:t>𝑖</m:t>
                              </m:r>
                              <m:r>
                                <a:rPr kumimoji="0" lang="en-GB" sz="3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7030A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kumimoji="0" lang="en-GB" sz="3200" b="0" i="0" u="none" strike="noStrike" cap="none" spc="0" normalizeH="0" baseline="0">
                      <a:ln>
                        <a:noFill/>
                      </a:ln>
                      <a:solidFill>
                        <a:srgbClr val="7030A0"/>
                      </a:solidFill>
                      <a:effectLst/>
                      <a:uFillTx/>
                      <a:ea typeface="+mn-ea"/>
                      <a:cs typeface="+mn-cs"/>
                      <a:sym typeface="Helvetica Neue"/>
                    </a:endParaRPr>
                  </a:p>
                </p:txBody>
              </p:sp>
            </mc:Choice>
            <mc:Fallback xmlns="">
              <p:sp>
                <p:nvSpPr>
                  <p:cNvPr id="88" name="TextBox 87">
                    <a:extLst>
                      <a:ext uri="{FF2B5EF4-FFF2-40B4-BE49-F238E27FC236}">
                        <a16:creationId xmlns:a16="http://schemas.microsoft.com/office/drawing/2014/main" id="{26E65C45-0818-3483-18BD-10D41D54C8C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74822" y="10292644"/>
                    <a:ext cx="852093" cy="492443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89" name="Straight Arrow Connector 88">
                <a:extLst>
                  <a:ext uri="{FF2B5EF4-FFF2-40B4-BE49-F238E27FC236}">
                    <a16:creationId xmlns:a16="http://schemas.microsoft.com/office/drawing/2014/main" id="{AAC3BCBE-C63D-05A7-EDB2-01C408AF193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109800" y="7590611"/>
                <a:ext cx="493566" cy="711178"/>
              </a:xfrm>
              <a:prstGeom prst="straightConnector1">
                <a:avLst/>
              </a:prstGeom>
              <a:noFill/>
              <a:ln w="57150" cap="flat">
                <a:solidFill>
                  <a:srgbClr val="00B0F0"/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CC24A9AE-8343-C8EF-8BE3-62C821F5F92A}"/>
                  </a:ext>
                </a:extLst>
              </p:cNvPr>
              <p:cNvSpPr txBox="1"/>
              <p:nvPr/>
            </p:nvSpPr>
            <p:spPr>
              <a:xfrm>
                <a:off x="6153708" y="8277196"/>
                <a:ext cx="1141338" cy="96436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GB" sz="2800" b="1" i="0" u="none" strike="noStrike" cap="none" spc="0" normalizeH="0" baseline="0">
                    <a:ln>
                      <a:noFill/>
                    </a:ln>
                    <a:solidFill>
                      <a:srgbClr val="00B0F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rPr>
                  <a:t>True</a:t>
                </a:r>
              </a:p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GB" sz="2800" b="1" i="0" u="none" strike="noStrike" cap="none" spc="0" normalizeH="0" baseline="0">
                    <a:ln>
                      <a:noFill/>
                    </a:ln>
                    <a:solidFill>
                      <a:srgbClr val="00B0F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rPr>
                  <a:t> slope</a:t>
                </a:r>
              </a:p>
            </p:txBody>
          </p: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5A2BBFC4-D311-7780-0ABA-68779E060A1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667196" y="8443180"/>
                <a:ext cx="518915" cy="756988"/>
              </a:xfrm>
              <a:prstGeom prst="straightConnector1">
                <a:avLst/>
              </a:prstGeom>
              <a:noFill/>
              <a:ln w="57150" cap="flat">
                <a:solidFill>
                  <a:srgbClr val="7030A0"/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1F5C01C2-099E-791D-5CC3-915D48B92754}"/>
                  </a:ext>
                </a:extLst>
              </p:cNvPr>
              <p:cNvSpPr txBox="1"/>
              <p:nvPr/>
            </p:nvSpPr>
            <p:spPr>
              <a:xfrm>
                <a:off x="3991561" y="9232127"/>
                <a:ext cx="2619307" cy="96436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GB" sz="2800" b="1" i="0" u="none" strike="noStrike" cap="none" spc="0" normalizeH="0" baseline="0">
                    <a:ln>
                      <a:noFill/>
                    </a:ln>
                    <a:solidFill>
                      <a:srgbClr val="7030A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rPr>
                  <a:t>Approximated </a:t>
                </a:r>
              </a:p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GB" sz="2800" b="1">
                    <a:solidFill>
                      <a:srgbClr val="7030A0"/>
                    </a:solidFill>
                  </a:rPr>
                  <a:t>slope</a:t>
                </a:r>
                <a:endParaRPr kumimoji="0" lang="en-GB" sz="2800" b="1" i="0" u="none" strike="noStrike" cap="none" spc="0" normalizeH="0" baseline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CC03FFCE-9A3E-26F5-FCD8-DFDD76427E6A}"/>
                    </a:ext>
                  </a:extLst>
                </p:cNvPr>
                <p:cNvSpPr txBox="1"/>
                <p:nvPr/>
              </p:nvSpPr>
              <p:spPr>
                <a:xfrm>
                  <a:off x="2715390" y="10181445"/>
                  <a:ext cx="1173405" cy="49244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0" tIns="0" rIns="0" bIns="0" numCol="1" spcCol="3810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3200" i="1" smtClean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GB" sz="3200" b="0" i="1" smtClean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kumimoji="0" lang="en-GB" sz="3200" b="0" i="0" u="none" strike="noStrike" cap="none" spc="0" normalizeH="0" baseline="0">
                    <a:ln>
                      <a:noFill/>
                    </a:ln>
                    <a:solidFill>
                      <a:srgbClr val="5E5E5E"/>
                    </a:solidFill>
                    <a:effectLst/>
                    <a:uFillTx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CC03FFCE-9A3E-26F5-FCD8-DFDD76427E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15390" y="10181445"/>
                  <a:ext cx="1173405" cy="492443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66EB48C7-B3F3-6507-D2E0-3096D5AB36C6}"/>
                </a:ext>
              </a:extLst>
            </p:cNvPr>
            <p:cNvCxnSpPr>
              <a:cxnSpLocks/>
            </p:cNvCxnSpPr>
            <p:nvPr/>
          </p:nvCxnSpPr>
          <p:spPr>
            <a:xfrm>
              <a:off x="2686894" y="10178716"/>
              <a:ext cx="1192974" cy="0"/>
            </a:xfrm>
            <a:prstGeom prst="straightConnector1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headEnd type="triangle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</p:spTree>
    <p:extLst>
      <p:ext uri="{BB962C8B-B14F-4D97-AF65-F5344CB8AC3E}">
        <p14:creationId xmlns:p14="http://schemas.microsoft.com/office/powerpoint/2010/main" val="3014612422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914F2-3C68-8BF5-1282-D9A3F677F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D1C6E142-2557-8DA9-D190-4DDE14FE43E7}"/>
              </a:ext>
            </a:extLst>
          </p:cNvPr>
          <p:cNvSpPr/>
          <p:nvPr/>
        </p:nvSpPr>
        <p:spPr>
          <a:xfrm>
            <a:off x="3888795" y="246197"/>
            <a:ext cx="7994496" cy="923330"/>
          </a:xfrm>
          <a:prstGeom prst="rect">
            <a:avLst/>
          </a:prstGeom>
        </p:spPr>
        <p:txBody>
          <a:bodyPr wrap="none">
            <a:spAutoFit/>
          </a:bodyPr>
          <a:lstStyle>
            <a:defPPr marL="0" marR="0" indent="0" algn="l" defTabSz="18288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1pPr>
            <a:lvl2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2pPr>
            <a:lvl3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3pPr>
            <a:lvl4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4pPr>
            <a:lvl5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5pPr>
            <a:lvl6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6pPr>
            <a:lvl7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7pPr>
            <a:lvl8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8pPr>
            <a:lvl9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9pPr>
          </a:lstStyle>
          <a:p>
            <a:r>
              <a:rPr lang="en-US" sz="5400" b="1">
                <a:solidFill>
                  <a:srgbClr val="EAEAEA"/>
                </a:solidFill>
              </a:rPr>
              <a:t>Converting PDE to ODE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F31BE64-DCF2-5FAF-16F7-E5FE617CC050}"/>
              </a:ext>
            </a:extLst>
          </p:cNvPr>
          <p:cNvSpPr txBox="1"/>
          <p:nvPr/>
        </p:nvSpPr>
        <p:spPr>
          <a:xfrm>
            <a:off x="1378345" y="2896336"/>
            <a:ext cx="947375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3200" b="1" i="0" u="none" strike="noStrike" cap="none" spc="0" normalizeH="0" baseline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PDE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A064A6D-5FB5-EAB5-79DE-465C14625737}"/>
              </a:ext>
            </a:extLst>
          </p:cNvPr>
          <p:cNvSpPr/>
          <p:nvPr/>
        </p:nvSpPr>
        <p:spPr>
          <a:xfrm rot="-10800000" flipV="1">
            <a:off x="9853404" y="13283356"/>
            <a:ext cx="4628055" cy="379591"/>
          </a:xfrm>
          <a:prstGeom prst="rect">
            <a:avLst/>
          </a:prstGeom>
          <a:solidFill>
            <a:srgbClr val="8B79A6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n-US" sz="1800"/>
              <a:t>Workshop on Numerical Simulation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AC6DEFD-4F4C-CA26-EF1C-AE822B337B0B}"/>
              </a:ext>
            </a:extLst>
          </p:cNvPr>
          <p:cNvSpPr/>
          <p:nvPr/>
        </p:nvSpPr>
        <p:spPr>
          <a:xfrm rot="-10800000" flipV="1">
            <a:off x="457612" y="13283975"/>
            <a:ext cx="4628055" cy="379591"/>
          </a:xfrm>
          <a:prstGeom prst="rect">
            <a:avLst/>
          </a:prstGeom>
          <a:solidFill>
            <a:srgbClr val="5C2A7A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/>
            <a:r>
              <a:rPr lang="en-GB" sz="1800">
                <a:solidFill>
                  <a:srgbClr val="9E79A6"/>
                </a:solidFill>
                <a:latin typeface="Helvetica Neue"/>
              </a:rPr>
              <a:t>KR and MA</a:t>
            </a:r>
            <a:endParaRPr lang="en-US" sz="18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5FB503-C7C9-4A69-525D-403F9A392760}"/>
              </a:ext>
            </a:extLst>
          </p:cNvPr>
          <p:cNvSpPr txBox="1"/>
          <p:nvPr/>
        </p:nvSpPr>
        <p:spPr>
          <a:xfrm flipH="1">
            <a:off x="2446661" y="1752132"/>
            <a:ext cx="632311" cy="1194507"/>
          </a:xfrm>
          <a:prstGeom prst="rect">
            <a:avLst/>
          </a:prstGeom>
          <a:solidFill>
            <a:srgbClr val="CCECFF">
              <a:alpha val="50196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101BAFD-93F0-D5B3-750F-9AFF8E3F0DB4}"/>
              </a:ext>
            </a:extLst>
          </p:cNvPr>
          <p:cNvSpPr/>
          <p:nvPr/>
        </p:nvSpPr>
        <p:spPr>
          <a:xfrm rot="-10800000" flipV="1">
            <a:off x="19138012" y="13283101"/>
            <a:ext cx="4628055" cy="379591"/>
          </a:xfrm>
          <a:prstGeom prst="rect">
            <a:avLst/>
          </a:prstGeom>
          <a:solidFill>
            <a:srgbClr val="5C2A7A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/>
            <a:r>
              <a:rPr lang="en-GB" sz="1800">
                <a:solidFill>
                  <a:srgbClr val="9E79A6"/>
                </a:solidFill>
                <a:latin typeface="Helvetica Neue"/>
              </a:rPr>
              <a:t>22/10/2025</a:t>
            </a:r>
            <a:endParaRPr lang="en-US" sz="1800"/>
          </a:p>
        </p:txBody>
      </p:sp>
      <p:sp>
        <p:nvSpPr>
          <p:cNvPr id="59" name="Slide Number">
            <a:extLst>
              <a:ext uri="{FF2B5EF4-FFF2-40B4-BE49-F238E27FC236}">
                <a16:creationId xmlns:a16="http://schemas.microsoft.com/office/drawing/2014/main" id="{31CC613E-7183-2702-6830-CBE24B6A0034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23805849" y="13272486"/>
            <a:ext cx="230832" cy="379591"/>
          </a:xfrm>
          <a:prstGeom prst="rect">
            <a:avLst/>
          </a:prstGeom>
        </p:spPr>
        <p:txBody>
          <a:bodyPr/>
          <a:lstStyle/>
          <a:p>
            <a:r>
              <a:rPr lang="en-GB"/>
              <a:t>4</a:t>
            </a:r>
            <a:endParaRPr/>
          </a:p>
        </p:txBody>
      </p:sp>
      <p:pic>
        <p:nvPicPr>
          <p:cNvPr id="12" name="Picture 11" descr="\documentclass{article}&#10;\usepackage{amsmath}&#10;\pagestyle{empty}&#10;\begin{document}&#10;\begin{equation}&#10;\frac{\partial c}{\partial t}=-v\frac{\partial c}{\partial x}&#10;\nonumber&#10;\end{equation}&#10;&#10;\end{document}" title="IguanaTex Bitmap Display">
            <a:extLst>
              <a:ext uri="{FF2B5EF4-FFF2-40B4-BE49-F238E27FC236}">
                <a16:creationId xmlns:a16="http://schemas.microsoft.com/office/drawing/2014/main" id="{C6D95AC0-4EBE-60E7-F883-E8E5A668054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187" y="1819920"/>
            <a:ext cx="2419693" cy="100772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A79EF13-1392-6A60-175B-E66D7703F767}"/>
                  </a:ext>
                </a:extLst>
              </p:cNvPr>
              <p:cNvSpPr txBox="1"/>
              <p:nvPr/>
            </p:nvSpPr>
            <p:spPr>
              <a:xfrm>
                <a:off x="18367561" y="2471145"/>
                <a:ext cx="4009431" cy="141673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900" i="1" smtClean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GB" sz="3900" i="1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sz="3900" i="1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3900" b="0" i="1" smtClean="0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n-GB" sz="3900" i="1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num>
                                <m:den>
                                  <m:r>
                                    <a:rPr lang="en-GB" sz="3900" b="0" i="1" smtClean="0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𝑑𝑥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GB" sz="3900" i="1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3900" i="1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GB" sz="3900" b="0" i="1" smtClean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3900" i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kumimoji="0" lang="en-GB" sz="39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Neue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</m:ctrlPr>
                            </m:sSubPr>
                            <m:e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𝑐</m:t>
                              </m:r>
                            </m:e>
                            <m:sub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0" lang="en-GB" sz="39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Neue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</m:ctrlPr>
                            </m:sSubPr>
                            <m:e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𝑐</m:t>
                              </m:r>
                            </m:e>
                            <m:sub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𝑖</m:t>
                              </m:r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−1</m:t>
                              </m:r>
                            </m:sub>
                          </m:sSub>
                        </m:num>
                        <m:den>
                          <m:r>
                            <a:rPr kumimoji="0" lang="en-GB" sz="39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Helvetica Neue"/>
                            </a:rPr>
                            <m:t>∆</m:t>
                          </m:r>
                          <m:r>
                            <a:rPr kumimoji="0" lang="en-GB" sz="39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Helvetica Neue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kumimoji="0" lang="en-GB" sz="39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sym typeface="Helvetica Neue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A79EF13-1392-6A60-175B-E66D7703F7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67561" y="2471145"/>
                <a:ext cx="4009431" cy="141673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2E28C94B-75C1-1BE7-60D0-4E37508AE542}"/>
              </a:ext>
            </a:extLst>
          </p:cNvPr>
          <p:cNvSpPr txBox="1"/>
          <p:nvPr/>
        </p:nvSpPr>
        <p:spPr>
          <a:xfrm>
            <a:off x="18716818" y="1586097"/>
            <a:ext cx="3815148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3200">
                <a:solidFill>
                  <a:srgbClr val="7030A0"/>
                </a:solidFill>
              </a:rPr>
              <a:t>Backward difference</a:t>
            </a:r>
            <a:endParaRPr kumimoji="0" lang="en-GB" sz="3200" b="0" i="0" u="none" strike="noStrike" cap="none" spc="0" normalizeH="0" baseline="0">
              <a:ln>
                <a:noFill/>
              </a:ln>
              <a:solidFill>
                <a:srgbClr val="7030A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477FB3-A743-C00A-0AAE-890B2D7571A8}"/>
              </a:ext>
            </a:extLst>
          </p:cNvPr>
          <p:cNvSpPr txBox="1"/>
          <p:nvPr/>
        </p:nvSpPr>
        <p:spPr>
          <a:xfrm>
            <a:off x="12450197" y="1586096"/>
            <a:ext cx="3335849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3200">
                <a:solidFill>
                  <a:schemeClr val="accent6">
                    <a:lumMod val="75000"/>
                  </a:schemeClr>
                </a:solidFill>
              </a:rPr>
              <a:t>Central difference</a:t>
            </a:r>
            <a:endParaRPr kumimoji="0" lang="en-GB" sz="3200" b="0" i="0" u="none" strike="noStrike" cap="none" spc="0" normalizeH="0" baseline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7DA3D08-CCF1-E021-586E-027BE5DFA890}"/>
                  </a:ext>
                </a:extLst>
              </p:cNvPr>
              <p:cNvSpPr txBox="1"/>
              <p:nvPr/>
            </p:nvSpPr>
            <p:spPr>
              <a:xfrm>
                <a:off x="11773274" y="2471145"/>
                <a:ext cx="4487126" cy="141673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900" i="1" smtClean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GB" sz="3900" i="1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sz="3900" i="1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3900" b="0" i="1" smtClean="0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n-GB" sz="3900" i="1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num>
                                <m:den>
                                  <m:r>
                                    <a:rPr lang="en-GB" sz="3900" b="0" i="1" smtClean="0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𝑑𝑥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GB" sz="3900" i="1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3900" i="1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GB" sz="3900" b="0" i="1" smtClean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3900" i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kumimoji="0" lang="en-GB" sz="39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Neue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</m:ctrlPr>
                            </m:sSubPr>
                            <m:e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𝑐</m:t>
                              </m:r>
                            </m:e>
                            <m:sub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𝑖</m:t>
                              </m:r>
                              <m:r>
                                <a:rPr kumimoji="0" lang="en-US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+</m:t>
                              </m:r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1</m:t>
                              </m:r>
                            </m:sub>
                          </m:sSub>
                          <m:r>
                            <a:rPr kumimoji="0" lang="en-GB" sz="39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Neue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</m:ctrlPr>
                            </m:sSubPr>
                            <m:e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𝑐</m:t>
                              </m:r>
                            </m:e>
                            <m:sub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𝑖</m:t>
                              </m:r>
                              <m:r>
                                <a:rPr kumimoji="0" lang="en-US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−</m:t>
                              </m:r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kumimoji="0" lang="en-GB" sz="39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Neue"/>
                            </a:rPr>
                            <m:t>2</m:t>
                          </m:r>
                          <m:r>
                            <a:rPr kumimoji="0" lang="en-GB" sz="39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Helvetica Neue"/>
                            </a:rPr>
                            <m:t>∆</m:t>
                          </m:r>
                          <m:r>
                            <a:rPr kumimoji="0" lang="en-GB" sz="39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Helvetica Neue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kumimoji="0" lang="en-GB" sz="39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sym typeface="Helvetica Neue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7DA3D08-CCF1-E021-586E-027BE5DFA8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73274" y="2471145"/>
                <a:ext cx="4487126" cy="141673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1E0CFB33-D9BD-190F-3917-5B911B80B083}"/>
              </a:ext>
            </a:extLst>
          </p:cNvPr>
          <p:cNvSpPr txBox="1"/>
          <p:nvPr/>
        </p:nvSpPr>
        <p:spPr>
          <a:xfrm>
            <a:off x="-939616" y="14691370"/>
            <a:ext cx="787075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Back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B8BE18E-035E-6B9F-7B2C-A5AC63AC913F}"/>
              </a:ext>
            </a:extLst>
          </p:cNvPr>
          <p:cNvSpPr txBox="1"/>
          <p:nvPr/>
        </p:nvSpPr>
        <p:spPr>
          <a:xfrm>
            <a:off x="11336890" y="4788349"/>
            <a:ext cx="12739467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GB" sz="3200" b="1">
                <a:solidFill>
                  <a:schemeClr val="tx1"/>
                </a:solidFill>
              </a:rPr>
              <a:t>Discretize</a:t>
            </a:r>
            <a:r>
              <a:rPr lang="en-GB" sz="3200">
                <a:solidFill>
                  <a:schemeClr val="tx1">
                    <a:lumMod val="50000"/>
                  </a:schemeClr>
                </a:solidFill>
              </a:rPr>
              <a:t> the </a:t>
            </a:r>
            <a:r>
              <a:rPr lang="en-GB" sz="3200" b="1">
                <a:solidFill>
                  <a:schemeClr val="tx1"/>
                </a:solidFill>
              </a:rPr>
              <a:t>spatial domain</a:t>
            </a:r>
            <a:r>
              <a:rPr lang="en-GB" sz="3200" b="1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GB" sz="3200">
                <a:solidFill>
                  <a:schemeClr val="tx1">
                    <a:lumMod val="50000"/>
                  </a:schemeClr>
                </a:solidFill>
              </a:rPr>
              <a:t>but keep the </a:t>
            </a:r>
            <a:r>
              <a:rPr lang="en-GB" sz="3200" b="1">
                <a:solidFill>
                  <a:schemeClr val="tx1">
                    <a:lumMod val="50000"/>
                  </a:schemeClr>
                </a:solidFill>
              </a:rPr>
              <a:t>time domain </a:t>
            </a:r>
            <a:r>
              <a:rPr lang="en-GB" sz="3200">
                <a:solidFill>
                  <a:schemeClr val="tx1">
                    <a:lumMod val="50000"/>
                  </a:schemeClr>
                </a:solidFill>
              </a:rPr>
              <a:t>continuous</a:t>
            </a:r>
            <a:endParaRPr lang="en-GB" sz="3200" b="1">
              <a:solidFill>
                <a:schemeClr val="tx1">
                  <a:lumMod val="50000"/>
                </a:schemeClr>
              </a:solidFill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7FDC7790-8612-FC31-39A8-DA448E63DF5D}"/>
              </a:ext>
            </a:extLst>
          </p:cNvPr>
          <p:cNvGrpSpPr/>
          <p:nvPr/>
        </p:nvGrpSpPr>
        <p:grpSpPr>
          <a:xfrm>
            <a:off x="11552722" y="5413262"/>
            <a:ext cx="11931295" cy="5177658"/>
            <a:chOff x="6494858" y="3875429"/>
            <a:chExt cx="11931295" cy="5177658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DD3664A1-81A0-7701-9345-011DEB241CE7}"/>
                </a:ext>
              </a:extLst>
            </p:cNvPr>
            <p:cNvSpPr/>
            <p:nvPr/>
          </p:nvSpPr>
          <p:spPr>
            <a:xfrm>
              <a:off x="6494858" y="4584298"/>
              <a:ext cx="11931295" cy="2737681"/>
            </a:xfrm>
            <a:prstGeom prst="rect">
              <a:avLst/>
            </a:prstGeom>
            <a:noFill/>
            <a:ln w="57150" cap="flat">
              <a:solidFill>
                <a:schemeClr val="bg2">
                  <a:lumMod val="1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43A49EF9-420A-B83A-5281-3216C3E3B479}"/>
                </a:ext>
              </a:extLst>
            </p:cNvPr>
            <p:cNvCxnSpPr>
              <a:cxnSpLocks/>
            </p:cNvCxnSpPr>
            <p:nvPr/>
          </p:nvCxnSpPr>
          <p:spPr>
            <a:xfrm>
              <a:off x="6510850" y="4334406"/>
              <a:ext cx="11915303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8D402F59-1756-2C80-C2F1-7E69420089BA}"/>
                    </a:ext>
                  </a:extLst>
                </p:cNvPr>
                <p:cNvSpPr txBox="1"/>
                <p:nvPr/>
              </p:nvSpPr>
              <p:spPr>
                <a:xfrm>
                  <a:off x="12329544" y="3875429"/>
                  <a:ext cx="297517" cy="43088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ctr">
                  <a:spAutoFit/>
                </a:bodyPr>
                <a:lstStyle/>
                <a:p>
                  <a:pPr marL="0" marR="0" indent="0" algn="ctr" defTabSz="2438338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GB" sz="2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5E5E5E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𝐿</m:t>
                        </m:r>
                      </m:oMath>
                    </m:oMathPara>
                  </a14:m>
                  <a:endParaRPr kumimoji="0" lang="en-GB" sz="2800" b="0" i="0" u="none" strike="noStrike" cap="none" spc="0" normalizeH="0" baseline="0">
                    <a:ln>
                      <a:noFill/>
                    </a:ln>
                    <a:solidFill>
                      <a:srgbClr val="5E5E5E"/>
                    </a:solidFill>
                    <a:effectLst/>
                    <a:uFillTx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8D402F59-1756-2C80-C2F1-7E69420089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329544" y="3875429"/>
                  <a:ext cx="297517" cy="43088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330F7A2F-3CF5-FB0B-29B6-10D17C96B6E2}"/>
                </a:ext>
              </a:extLst>
            </p:cNvPr>
            <p:cNvSpPr/>
            <p:nvPr/>
          </p:nvSpPr>
          <p:spPr>
            <a:xfrm>
              <a:off x="8515903" y="4584298"/>
              <a:ext cx="1985450" cy="2737681"/>
            </a:xfrm>
            <a:prstGeom prst="rect">
              <a:avLst/>
            </a:prstGeom>
            <a:noFill/>
            <a:ln w="12700" cap="flat">
              <a:solidFill>
                <a:schemeClr val="tx2">
                  <a:lumMod val="75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4DB7578-0634-65E9-D652-E849E3EA1EC0}"/>
                </a:ext>
              </a:extLst>
            </p:cNvPr>
            <p:cNvSpPr/>
            <p:nvPr/>
          </p:nvSpPr>
          <p:spPr>
            <a:xfrm>
              <a:off x="6500476" y="4590270"/>
              <a:ext cx="2012186" cy="2737681"/>
            </a:xfrm>
            <a:prstGeom prst="rect">
              <a:avLst/>
            </a:prstGeom>
            <a:noFill/>
            <a:ln w="12700" cap="flat">
              <a:solidFill>
                <a:schemeClr val="tx2">
                  <a:lumMod val="75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74A93F7A-FFFC-D649-76DF-D00B658CD7F8}"/>
                </a:ext>
              </a:extLst>
            </p:cNvPr>
            <p:cNvSpPr/>
            <p:nvPr/>
          </p:nvSpPr>
          <p:spPr>
            <a:xfrm>
              <a:off x="10497103" y="4603348"/>
              <a:ext cx="1985450" cy="2737681"/>
            </a:xfrm>
            <a:prstGeom prst="rect">
              <a:avLst/>
            </a:prstGeom>
            <a:noFill/>
            <a:ln w="12700" cap="flat">
              <a:solidFill>
                <a:schemeClr val="tx2">
                  <a:lumMod val="75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8597D22-FBA4-10A7-7055-75131F0B652E}"/>
                </a:ext>
              </a:extLst>
            </p:cNvPr>
            <p:cNvSpPr/>
            <p:nvPr/>
          </p:nvSpPr>
          <p:spPr>
            <a:xfrm>
              <a:off x="12478303" y="4584298"/>
              <a:ext cx="1985450" cy="2737681"/>
            </a:xfrm>
            <a:prstGeom prst="rect">
              <a:avLst/>
            </a:prstGeom>
            <a:noFill/>
            <a:ln w="12700" cap="flat">
              <a:solidFill>
                <a:schemeClr val="tx2">
                  <a:lumMod val="75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312A0D4-CFCA-E7BA-69C3-253C27250D6C}"/>
                </a:ext>
              </a:extLst>
            </p:cNvPr>
            <p:cNvSpPr/>
            <p:nvPr/>
          </p:nvSpPr>
          <p:spPr>
            <a:xfrm>
              <a:off x="14459503" y="4601364"/>
              <a:ext cx="1985450" cy="2737681"/>
            </a:xfrm>
            <a:prstGeom prst="rect">
              <a:avLst/>
            </a:prstGeom>
            <a:noFill/>
            <a:ln w="12700" cap="flat">
              <a:solidFill>
                <a:schemeClr val="tx2">
                  <a:lumMod val="75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F8A6BE1C-31E0-71A5-6920-847C14722604}"/>
                </a:ext>
              </a:extLst>
            </p:cNvPr>
            <p:cNvSpPr/>
            <p:nvPr/>
          </p:nvSpPr>
          <p:spPr>
            <a:xfrm>
              <a:off x="16440703" y="4565248"/>
              <a:ext cx="1985450" cy="2737681"/>
            </a:xfrm>
            <a:prstGeom prst="rect">
              <a:avLst/>
            </a:prstGeom>
            <a:noFill/>
            <a:ln w="12700" cap="flat">
              <a:solidFill>
                <a:schemeClr val="tx2">
                  <a:lumMod val="75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32" name="Flowchart: Connector 31">
              <a:extLst>
                <a:ext uri="{FF2B5EF4-FFF2-40B4-BE49-F238E27FC236}">
                  <a16:creationId xmlns:a16="http://schemas.microsoft.com/office/drawing/2014/main" id="{84EC34EB-906F-39FF-9FA4-E96AD3F3DB84}"/>
                </a:ext>
              </a:extLst>
            </p:cNvPr>
            <p:cNvSpPr/>
            <p:nvPr/>
          </p:nvSpPr>
          <p:spPr>
            <a:xfrm>
              <a:off x="7392333" y="5842429"/>
              <a:ext cx="228600" cy="233363"/>
            </a:xfrm>
            <a:prstGeom prst="flowChartConnector">
              <a:avLst/>
            </a:prstGeom>
            <a:solidFill>
              <a:srgbClr val="FF0000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33" name="Flowchart: Connector 32">
              <a:extLst>
                <a:ext uri="{FF2B5EF4-FFF2-40B4-BE49-F238E27FC236}">
                  <a16:creationId xmlns:a16="http://schemas.microsoft.com/office/drawing/2014/main" id="{6A4E9171-34F7-1C41-E85A-7707B25C9B96}"/>
                </a:ext>
              </a:extLst>
            </p:cNvPr>
            <p:cNvSpPr/>
            <p:nvPr/>
          </p:nvSpPr>
          <p:spPr>
            <a:xfrm>
              <a:off x="9394328" y="5836457"/>
              <a:ext cx="228600" cy="233363"/>
            </a:xfrm>
            <a:prstGeom prst="flowChartConnector">
              <a:avLst/>
            </a:prstGeom>
            <a:solidFill>
              <a:srgbClr val="FF0000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34" name="Flowchart: Connector 33">
              <a:extLst>
                <a:ext uri="{FF2B5EF4-FFF2-40B4-BE49-F238E27FC236}">
                  <a16:creationId xmlns:a16="http://schemas.microsoft.com/office/drawing/2014/main" id="{266524D9-3F33-A7B6-4B5B-5DEAAF6B02FB}"/>
                </a:ext>
              </a:extLst>
            </p:cNvPr>
            <p:cNvSpPr/>
            <p:nvPr/>
          </p:nvSpPr>
          <p:spPr>
            <a:xfrm>
              <a:off x="11375528" y="5836457"/>
              <a:ext cx="228600" cy="233363"/>
            </a:xfrm>
            <a:prstGeom prst="flowChartConnector">
              <a:avLst/>
            </a:prstGeom>
            <a:solidFill>
              <a:srgbClr val="FF0000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35" name="Flowchart: Connector 34">
              <a:extLst>
                <a:ext uri="{FF2B5EF4-FFF2-40B4-BE49-F238E27FC236}">
                  <a16:creationId xmlns:a16="http://schemas.microsoft.com/office/drawing/2014/main" id="{75C60FF9-9103-9D23-EBE2-7CEED5FDC969}"/>
                </a:ext>
              </a:extLst>
            </p:cNvPr>
            <p:cNvSpPr/>
            <p:nvPr/>
          </p:nvSpPr>
          <p:spPr>
            <a:xfrm>
              <a:off x="13356728" y="5836457"/>
              <a:ext cx="228600" cy="233363"/>
            </a:xfrm>
            <a:prstGeom prst="flowChartConnector">
              <a:avLst/>
            </a:prstGeom>
            <a:solidFill>
              <a:srgbClr val="FF0000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36" name="Flowchart: Connector 35">
              <a:extLst>
                <a:ext uri="{FF2B5EF4-FFF2-40B4-BE49-F238E27FC236}">
                  <a16:creationId xmlns:a16="http://schemas.microsoft.com/office/drawing/2014/main" id="{CB5AF7FB-DFEE-8D94-2DB1-B135F87A49F9}"/>
                </a:ext>
              </a:extLst>
            </p:cNvPr>
            <p:cNvSpPr/>
            <p:nvPr/>
          </p:nvSpPr>
          <p:spPr>
            <a:xfrm>
              <a:off x="15337928" y="5853523"/>
              <a:ext cx="228600" cy="233363"/>
            </a:xfrm>
            <a:prstGeom prst="flowChartConnector">
              <a:avLst/>
            </a:prstGeom>
            <a:solidFill>
              <a:srgbClr val="FF0000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37" name="Flowchart: Connector 36">
              <a:extLst>
                <a:ext uri="{FF2B5EF4-FFF2-40B4-BE49-F238E27FC236}">
                  <a16:creationId xmlns:a16="http://schemas.microsoft.com/office/drawing/2014/main" id="{78591EB4-CCE9-EC63-9DCE-5757F3C7E7C8}"/>
                </a:ext>
              </a:extLst>
            </p:cNvPr>
            <p:cNvSpPr/>
            <p:nvPr/>
          </p:nvSpPr>
          <p:spPr>
            <a:xfrm>
              <a:off x="17319128" y="5853523"/>
              <a:ext cx="228600" cy="233363"/>
            </a:xfrm>
            <a:prstGeom prst="flowChartConnector">
              <a:avLst/>
            </a:prstGeom>
            <a:solidFill>
              <a:srgbClr val="FF0000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EAF7AC04-210C-9BD2-C949-78D4D384EEC3}"/>
                </a:ext>
              </a:extLst>
            </p:cNvPr>
            <p:cNvCxnSpPr>
              <a:cxnSpLocks/>
            </p:cNvCxnSpPr>
            <p:nvPr/>
          </p:nvCxnSpPr>
          <p:spPr>
            <a:xfrm>
              <a:off x="7506633" y="8610600"/>
              <a:ext cx="2001995" cy="0"/>
            </a:xfrm>
            <a:prstGeom prst="straightConnector1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headEnd type="triangle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0C4502F3-9657-790B-94AC-FE50937755CA}"/>
                </a:ext>
              </a:extLst>
            </p:cNvPr>
            <p:cNvCxnSpPr>
              <a:cxnSpLocks/>
              <a:stCxn id="27" idx="4"/>
            </p:cNvCxnSpPr>
            <p:nvPr/>
          </p:nvCxnSpPr>
          <p:spPr>
            <a:xfrm>
              <a:off x="7519937" y="6075792"/>
              <a:ext cx="0" cy="2534808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ysDot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1092112B-D8DE-EF45-238E-E31E743294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508627" y="6069820"/>
              <a:ext cx="1" cy="254078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ysDot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433B0B55-3FF4-6A15-935C-89C2478571EE}"/>
                    </a:ext>
                  </a:extLst>
                </p:cNvPr>
                <p:cNvSpPr txBox="1"/>
                <p:nvPr/>
              </p:nvSpPr>
              <p:spPr>
                <a:xfrm>
                  <a:off x="8204598" y="8560644"/>
                  <a:ext cx="589520" cy="49244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ctr">
                  <a:spAutoFit/>
                </a:bodyPr>
                <a:lstStyle/>
                <a:p>
                  <a:pPr marL="0" marR="0" indent="0" algn="ctr" defTabSz="2438338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GB" sz="32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5E5E5E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Helvetica Neue"/>
                          </a:rPr>
                          <m:t>∆</m:t>
                        </m:r>
                        <m:r>
                          <a:rPr kumimoji="0" lang="en-GB" sz="32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5E5E5E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Helvetica Neue"/>
                          </a:rPr>
                          <m:t>𝑥</m:t>
                        </m:r>
                      </m:oMath>
                    </m:oMathPara>
                  </a14:m>
                  <a:endParaRPr kumimoji="0" lang="en-GB" sz="3200" b="0" i="0" u="none" strike="noStrike" cap="none" spc="0" normalizeH="0" baseline="0">
                    <a:ln>
                      <a:noFill/>
                    </a:ln>
                    <a:solidFill>
                      <a:srgbClr val="5E5E5E"/>
                    </a:solidFill>
                    <a:effectLst/>
                    <a:uFillTx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433B0B55-3FF4-6A15-935C-89C2478571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04598" y="8560644"/>
                  <a:ext cx="589520" cy="492443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CBB6C83B-EFAF-617D-96FA-F21A75BBC279}"/>
                </a:ext>
              </a:extLst>
            </p:cNvPr>
            <p:cNvSpPr txBox="1"/>
            <p:nvPr/>
          </p:nvSpPr>
          <p:spPr>
            <a:xfrm>
              <a:off x="7294947" y="5232270"/>
              <a:ext cx="522579" cy="4719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GB" sz="2400" b="0" i="0" u="none" strike="noStrike" cap="none" spc="0" normalizeH="0" baseline="0" err="1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i</a:t>
              </a:r>
              <a:r>
                <a:rPr kumimoji="0" lang="en-GB" sz="24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=0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D13F94F8-3DDD-019E-066F-F61FD76068B4}"/>
                </a:ext>
              </a:extLst>
            </p:cNvPr>
            <p:cNvSpPr txBox="1"/>
            <p:nvPr/>
          </p:nvSpPr>
          <p:spPr>
            <a:xfrm>
              <a:off x="9247338" y="5232270"/>
              <a:ext cx="522579" cy="4719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GB" sz="2400" b="0" i="0" u="none" strike="noStrike" cap="none" spc="0" normalizeH="0" baseline="0" err="1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i</a:t>
              </a:r>
              <a:r>
                <a:rPr kumimoji="0" lang="en-GB" sz="24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=1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57E51BAC-8B47-3FE1-D336-BC3242673F3F}"/>
                </a:ext>
              </a:extLst>
            </p:cNvPr>
            <p:cNvSpPr txBox="1"/>
            <p:nvPr/>
          </p:nvSpPr>
          <p:spPr>
            <a:xfrm>
              <a:off x="11277810" y="5232270"/>
              <a:ext cx="522579" cy="4719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GB" sz="2400" b="0" i="0" u="none" strike="noStrike" cap="none" spc="0" normalizeH="0" baseline="0" err="1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i</a:t>
              </a:r>
              <a:r>
                <a:rPr kumimoji="0" lang="en-GB" sz="24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=2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4FCEE5FA-05AA-CD61-F442-0634C3BE2547}"/>
                </a:ext>
              </a:extLst>
            </p:cNvPr>
            <p:cNvSpPr txBox="1"/>
            <p:nvPr/>
          </p:nvSpPr>
          <p:spPr>
            <a:xfrm>
              <a:off x="13070557" y="5232270"/>
              <a:ext cx="796693" cy="4719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GB" sz="2400" b="0" i="0" u="none" strike="noStrike" cap="none" spc="0" normalizeH="0" baseline="0" err="1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i</a:t>
              </a:r>
              <a:r>
                <a:rPr kumimoji="0" lang="en-GB" sz="24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=n-2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BBD4A12C-5F43-37A4-7C40-97F584AFC7A7}"/>
                </a:ext>
              </a:extLst>
            </p:cNvPr>
            <p:cNvSpPr txBox="1"/>
            <p:nvPr/>
          </p:nvSpPr>
          <p:spPr>
            <a:xfrm>
              <a:off x="15051757" y="5223951"/>
              <a:ext cx="796693" cy="4719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GB" sz="2400" b="0" i="0" u="none" strike="noStrike" cap="none" spc="0" normalizeH="0" baseline="0" err="1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i</a:t>
              </a:r>
              <a:r>
                <a:rPr kumimoji="0" lang="en-GB" sz="24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=n-1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227C725B-0941-057D-7273-40BE5B442659}"/>
                    </a:ext>
                  </a:extLst>
                </p:cNvPr>
                <p:cNvSpPr txBox="1"/>
                <p:nvPr/>
              </p:nvSpPr>
              <p:spPr>
                <a:xfrm rot="5400000">
                  <a:off x="12243661" y="4354104"/>
                  <a:ext cx="519373" cy="61555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ctr">
                  <a:spAutoFit/>
                </a:bodyPr>
                <a:lstStyle/>
                <a:p>
                  <a:pPr marL="0" marR="0" indent="0" algn="ctr" defTabSz="2438338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GB" sz="4000" b="1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tx1">
                                <a:lumMod val="75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Helvetica Neue"/>
                          </a:rPr>
                          <m:t>≈</m:t>
                        </m:r>
                      </m:oMath>
                    </m:oMathPara>
                  </a14:m>
                  <a:endParaRPr kumimoji="0" lang="en-GB" sz="3200" b="1" i="0" u="none" strike="noStrike" cap="none" spc="0" normalizeH="0" baseline="0">
                    <a:ln>
                      <a:noFill/>
                    </a:ln>
                    <a:solidFill>
                      <a:schemeClr val="tx1">
                        <a:lumMod val="75000"/>
                      </a:schemeClr>
                    </a:solidFill>
                    <a:effectLst/>
                    <a:uFillTx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227C725B-0941-057D-7273-40BE5B4426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12243661" y="4354104"/>
                  <a:ext cx="519373" cy="615553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38A9D864-54BB-C6AB-3BE2-3B84E59492A7}"/>
                    </a:ext>
                  </a:extLst>
                </p:cNvPr>
                <p:cNvSpPr txBox="1"/>
                <p:nvPr/>
              </p:nvSpPr>
              <p:spPr>
                <a:xfrm rot="5400000">
                  <a:off x="12243659" y="7118910"/>
                  <a:ext cx="519373" cy="61555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ctr">
                  <a:spAutoFit/>
                </a:bodyPr>
                <a:lstStyle/>
                <a:p>
                  <a:pPr marL="0" marR="0" indent="0" algn="ctr" defTabSz="2438338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GB" sz="4000" b="1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tx1">
                                <a:lumMod val="75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Helvetica Neue"/>
                          </a:rPr>
                          <m:t>≈</m:t>
                        </m:r>
                      </m:oMath>
                    </m:oMathPara>
                  </a14:m>
                  <a:endParaRPr kumimoji="0" lang="en-GB" sz="3200" b="1" i="0" u="none" strike="noStrike" cap="none" spc="0" normalizeH="0" baseline="0">
                    <a:ln>
                      <a:noFill/>
                    </a:ln>
                    <a:solidFill>
                      <a:schemeClr val="tx1">
                        <a:lumMod val="75000"/>
                      </a:schemeClr>
                    </a:solidFill>
                    <a:effectLst/>
                    <a:uFillTx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38A9D864-54BB-C6AB-3BE2-3B84E59492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12243659" y="7118910"/>
                  <a:ext cx="519373" cy="615553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788D6E2F-AD55-153E-D552-33AB8992A7A6}"/>
                </a:ext>
              </a:extLst>
            </p:cNvPr>
            <p:cNvSpPr txBox="1"/>
            <p:nvPr/>
          </p:nvSpPr>
          <p:spPr>
            <a:xfrm>
              <a:off x="17170014" y="5185933"/>
              <a:ext cx="522579" cy="4719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GB" sz="2400" b="0" i="0" u="none" strike="noStrike" cap="none" spc="0" normalizeH="0" baseline="0" err="1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i</a:t>
              </a:r>
              <a:r>
                <a:rPr kumimoji="0" lang="en-GB" sz="24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=n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68722603-0042-4EC5-8D01-ED5617CBA807}"/>
                    </a:ext>
                  </a:extLst>
                </p:cNvPr>
                <p:cNvSpPr txBox="1"/>
                <p:nvPr/>
              </p:nvSpPr>
              <p:spPr>
                <a:xfrm>
                  <a:off x="8230504" y="7426687"/>
                  <a:ext cx="728469" cy="69147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ctr">
                  <a:spAutoFit/>
                </a:bodyPr>
                <a:lstStyle/>
                <a:p>
                  <a:pPr marL="0" marR="0" indent="0" algn="ctr" defTabSz="2438338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GB" sz="24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5E5E5E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  <m:r>
                          <a:rPr kumimoji="0" lang="en-GB" sz="24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5E5E5E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+</m:t>
                        </m:r>
                        <m:f>
                          <m:fPr>
                            <m:ctrlPr>
                              <a:rPr kumimoji="0" lang="en-GB" sz="24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5E5E5E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Helvetica Neue"/>
                              </a:rPr>
                            </m:ctrlPr>
                          </m:fPr>
                          <m:num>
                            <m:r>
                              <a:rPr kumimoji="0" lang="en-GB" sz="24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5E5E5E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Helvetica Neue"/>
                              </a:rPr>
                              <m:t>1</m:t>
                            </m:r>
                          </m:num>
                          <m:den>
                            <m:r>
                              <a:rPr kumimoji="0" lang="en-GB" sz="24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5E5E5E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Helvetica Neue"/>
                              </a:rPr>
                              <m:t>2</m:t>
                            </m:r>
                          </m:den>
                        </m:f>
                      </m:oMath>
                    </m:oMathPara>
                  </a14:m>
                  <a:endParaRPr kumimoji="0" lang="en-GB" sz="2400" b="0" i="0" u="none" strike="noStrike" cap="none" spc="0" normalizeH="0" baseline="0">
                    <a:ln>
                      <a:noFill/>
                    </a:ln>
                    <a:solidFill>
                      <a:srgbClr val="5E5E5E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68722603-0042-4EC5-8D01-ED5617CBA8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0504" y="7426687"/>
                  <a:ext cx="728469" cy="691471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2A524F8C-9820-FB8D-B4A9-018DE01D3739}"/>
              </a:ext>
            </a:extLst>
          </p:cNvPr>
          <p:cNvGrpSpPr/>
          <p:nvPr/>
        </p:nvGrpSpPr>
        <p:grpSpPr>
          <a:xfrm>
            <a:off x="7800688" y="10005147"/>
            <a:ext cx="9947879" cy="1232427"/>
            <a:chOff x="3455435" y="9311003"/>
            <a:chExt cx="9947879" cy="123242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E274DA9-CFD7-4059-D706-720323FA8FDB}"/>
                </a:ext>
              </a:extLst>
            </p:cNvPr>
            <p:cNvSpPr txBox="1"/>
            <p:nvPr/>
          </p:nvSpPr>
          <p:spPr>
            <a:xfrm>
              <a:off x="3455435" y="9868553"/>
              <a:ext cx="3571743" cy="674877"/>
            </a:xfrm>
            <a:prstGeom prst="rect">
              <a:avLst/>
            </a:prstGeom>
            <a:solidFill>
              <a:schemeClr val="accent5">
                <a:lumMod val="75000"/>
                <a:alpha val="32157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34DE79A-6D5C-425B-34C1-CB3F4D76999E}"/>
                </a:ext>
              </a:extLst>
            </p:cNvPr>
            <p:cNvSpPr txBox="1"/>
            <p:nvPr/>
          </p:nvSpPr>
          <p:spPr>
            <a:xfrm>
              <a:off x="3480621" y="9892806"/>
              <a:ext cx="3546558" cy="59503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GB" sz="3200" b="0" i="0" u="none" strike="noStrike" cap="none" spc="0" normalizeH="0" baseline="0">
                  <a:ln>
                    <a:noFill/>
                  </a:ln>
                  <a:solidFill>
                    <a:schemeClr val="tx1">
                      <a:lumMod val="50000"/>
                    </a:schemeClr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Initial condition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BDA0966-5A8C-B79D-63AE-EC0EBD5EB8A5}"/>
                </a:ext>
              </a:extLst>
            </p:cNvPr>
            <p:cNvSpPr txBox="1"/>
            <p:nvPr/>
          </p:nvSpPr>
          <p:spPr>
            <a:xfrm>
              <a:off x="4539565" y="9311003"/>
              <a:ext cx="102656" cy="8412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4CFEA005-80FE-F51B-2E06-C2E97BD17673}"/>
                </a:ext>
              </a:extLst>
            </p:cNvPr>
            <p:cNvCxnSpPr>
              <a:cxnSpLocks/>
            </p:cNvCxnSpPr>
            <p:nvPr/>
          </p:nvCxnSpPr>
          <p:spPr>
            <a:xfrm>
              <a:off x="7341243" y="10210471"/>
              <a:ext cx="1085850" cy="0"/>
            </a:xfrm>
            <a:prstGeom prst="straightConnector1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1B50BFD2-EDFC-7C4B-4950-5DE47598B258}"/>
                    </a:ext>
                  </a:extLst>
                </p:cNvPr>
                <p:cNvSpPr txBox="1"/>
                <p:nvPr/>
              </p:nvSpPr>
              <p:spPr>
                <a:xfrm>
                  <a:off x="8774546" y="9964250"/>
                  <a:ext cx="4628768" cy="49244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GB" sz="32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Helvetica Neue"/>
                              </a:rPr>
                            </m:ctrlPr>
                          </m:sSubPr>
                          <m:e>
                            <m:r>
                              <a:rPr kumimoji="0" lang="en-GB" sz="32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Helvetica Neue"/>
                              </a:rPr>
                              <m:t>𝑐</m:t>
                            </m:r>
                            <m:r>
                              <a:rPr kumimoji="0" lang="en-GB" sz="32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Helvetica Neue"/>
                              </a:rPr>
                              <m:t>(</m:t>
                            </m:r>
                            <m:r>
                              <a:rPr kumimoji="0" lang="en-GB" sz="32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Helvetica Neue"/>
                              </a:rPr>
                              <m:t>𝑡</m:t>
                            </m:r>
                            <m:r>
                              <a:rPr kumimoji="0" lang="en-GB" sz="32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Helvetica Neue"/>
                              </a:rPr>
                              <m:t>=0,</m:t>
                            </m:r>
                            <m:r>
                              <a:rPr kumimoji="0" lang="en-GB" sz="32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Helvetica Neue"/>
                              </a:rPr>
                              <m:t>𝑥</m:t>
                            </m:r>
                            <m:r>
                              <a:rPr kumimoji="0" lang="en-GB" sz="32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Helvetica Neue"/>
                              </a:rPr>
                              <m:t>)</m:t>
                            </m:r>
                          </m:e>
                          <m:sub/>
                        </m:sSub>
                        <m:r>
                          <a:rPr kumimoji="0" lang="en-GB" sz="32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tx1">
                                <a:lumMod val="5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=0</m:t>
                        </m:r>
                        <m:r>
                          <a:rPr kumimoji="0" lang="en-US" sz="32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tx1">
                                <a:lumMod val="5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320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mol</m:t>
                        </m:r>
                        <m:r>
                          <a:rPr lang="en-US" sz="320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3200" i="1"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3200"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  <m:sup>
                            <m:r>
                              <a:rPr lang="en-US" sz="3200"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−3</m:t>
                            </m:r>
                          </m:sup>
                        </m:sSup>
                      </m:oMath>
                    </m:oMathPara>
                  </a14:m>
                  <a:endParaRPr kumimoji="0" lang="en-GB" sz="3200" b="0" i="0" u="none" strike="noStrike" cap="none" spc="0" normalizeH="0" baseline="0">
                    <a:ln>
                      <a:noFill/>
                    </a:ln>
                    <a:solidFill>
                      <a:schemeClr val="tx1">
                        <a:lumMod val="50000"/>
                      </a:schemeClr>
                    </a:solidFill>
                    <a:effectLst/>
                    <a:uFillTx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1B50BFD2-EDFC-7C4B-4950-5DE47598B2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74546" y="9964250"/>
                  <a:ext cx="4628768" cy="492443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93E6960B-3A1D-A0BB-B0E2-AC4CF46EB65F}"/>
              </a:ext>
            </a:extLst>
          </p:cNvPr>
          <p:cNvGrpSpPr/>
          <p:nvPr/>
        </p:nvGrpSpPr>
        <p:grpSpPr>
          <a:xfrm>
            <a:off x="160623" y="3820967"/>
            <a:ext cx="7125496" cy="6852921"/>
            <a:chOff x="160623" y="3820967"/>
            <a:chExt cx="7125496" cy="6852921"/>
          </a:xfrm>
        </p:grpSpPr>
        <p:pic>
          <p:nvPicPr>
            <p:cNvPr id="8" name="Picture 7" descr="A graph of a function&#10;&#10;AI-generated content may be incorrect.">
              <a:extLst>
                <a:ext uri="{FF2B5EF4-FFF2-40B4-BE49-F238E27FC236}">
                  <a16:creationId xmlns:a16="http://schemas.microsoft.com/office/drawing/2014/main" id="{9DED0E67-2C64-532B-B375-963450B3B03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60623" y="3820967"/>
              <a:ext cx="6842119" cy="6842119"/>
            </a:xfrm>
            <a:prstGeom prst="rect">
              <a:avLst/>
            </a:prstGeom>
          </p:spPr>
        </p:pic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0CEC497E-89B3-69CC-8344-B2964310E94F}"/>
                </a:ext>
              </a:extLst>
            </p:cNvPr>
            <p:cNvGrpSpPr/>
            <p:nvPr/>
          </p:nvGrpSpPr>
          <p:grpSpPr>
            <a:xfrm>
              <a:off x="398526" y="4465806"/>
              <a:ext cx="6887593" cy="5918886"/>
              <a:chOff x="407453" y="5433188"/>
              <a:chExt cx="6887593" cy="5918886"/>
            </a:xfrm>
          </p:grpSpPr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68DE3373-85C3-B166-771B-42E4B9CBA600}"/>
                  </a:ext>
                </a:extLst>
              </p:cNvPr>
              <p:cNvSpPr txBox="1"/>
              <p:nvPr/>
            </p:nvSpPr>
            <p:spPr>
              <a:xfrm>
                <a:off x="899983" y="5433188"/>
                <a:ext cx="1337891" cy="859327"/>
              </a:xfrm>
              <a:prstGeom prst="rect">
                <a:avLst/>
              </a:prstGeom>
              <a:solidFill>
                <a:schemeClr val="bg1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GB" sz="24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4DAF3A0C-F227-A6A4-EC0F-74457C3C965E}"/>
                  </a:ext>
                </a:extLst>
              </p:cNvPr>
              <p:cNvSpPr txBox="1"/>
              <p:nvPr/>
            </p:nvSpPr>
            <p:spPr>
              <a:xfrm>
                <a:off x="5673778" y="10492747"/>
                <a:ext cx="1337891" cy="859327"/>
              </a:xfrm>
              <a:prstGeom prst="rect">
                <a:avLst/>
              </a:prstGeom>
              <a:solidFill>
                <a:schemeClr val="bg1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GB" sz="24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FE411543-6253-94FA-516B-33AC29A116E4}"/>
                  </a:ext>
                </a:extLst>
              </p:cNvPr>
              <p:cNvSpPr/>
              <p:nvPr/>
            </p:nvSpPr>
            <p:spPr>
              <a:xfrm>
                <a:off x="3830641" y="8588501"/>
                <a:ext cx="163244" cy="172045"/>
              </a:xfrm>
              <a:prstGeom prst="ellipse">
                <a:avLst/>
              </a:prstGeom>
              <a:solidFill>
                <a:srgbClr val="7030A0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GB" sz="3200" b="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58243B59-829A-A474-ED9B-6BA926BFDFE6}"/>
                  </a:ext>
                </a:extLst>
              </p:cNvPr>
              <p:cNvSpPr/>
              <p:nvPr/>
            </p:nvSpPr>
            <p:spPr>
              <a:xfrm>
                <a:off x="2614199" y="9114146"/>
                <a:ext cx="163244" cy="172045"/>
              </a:xfrm>
              <a:prstGeom prst="ellipse">
                <a:avLst/>
              </a:prstGeom>
              <a:solidFill>
                <a:srgbClr val="7030A0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GB" sz="3200" b="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1FF19F55-A66D-71CB-5309-95FA64975407}"/>
                  </a:ext>
                </a:extLst>
              </p:cNvPr>
              <p:cNvSpPr/>
              <p:nvPr/>
            </p:nvSpPr>
            <p:spPr>
              <a:xfrm>
                <a:off x="5004045" y="7782815"/>
                <a:ext cx="163244" cy="172045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GB" sz="3200" b="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19A2FB87-660E-FBAF-B1DD-FA923F130E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96568" y="9274159"/>
                <a:ext cx="0" cy="940650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dash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2564C037-693C-C71C-8291-EA8F99940CE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888795" y="8760546"/>
                <a:ext cx="23468" cy="1454263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dash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D273073C-6A97-370D-303A-ADE0708E900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85667" y="7958547"/>
                <a:ext cx="0" cy="2256262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dash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109592EB-532F-22D3-2980-4F62F111830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813047" y="7517693"/>
                <a:ext cx="4361676" cy="2256669"/>
              </a:xfrm>
              <a:prstGeom prst="line">
                <a:avLst/>
              </a:prstGeom>
              <a:noFill/>
              <a:ln w="57150" cap="flat">
                <a:solidFill>
                  <a:schemeClr val="accent1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CB5BA53D-C72B-9732-C9A4-124D57C1023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552161" y="7830479"/>
                <a:ext cx="4410385" cy="1857803"/>
              </a:xfrm>
              <a:prstGeom prst="line">
                <a:avLst/>
              </a:prstGeom>
              <a:noFill/>
              <a:ln w="57150" cap="flat">
                <a:solidFill>
                  <a:srgbClr val="7030A0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9" name="TextBox 88">
                    <a:extLst>
                      <a:ext uri="{FF2B5EF4-FFF2-40B4-BE49-F238E27FC236}">
                        <a16:creationId xmlns:a16="http://schemas.microsoft.com/office/drawing/2014/main" id="{2AB2D50D-DF7E-FC55-F4D4-4D0B3182D12B}"/>
                      </a:ext>
                    </a:extLst>
                  </p:cNvPr>
                  <p:cNvSpPr txBox="1"/>
                  <p:nvPr/>
                </p:nvSpPr>
                <p:spPr>
                  <a:xfrm>
                    <a:off x="407453" y="6231323"/>
                    <a:ext cx="886268" cy="492443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none" lIns="0" tIns="0" rIns="0" bIns="0" numCol="1" spcCol="38100" rtlCol="0" anchor="ctr">
                    <a:spAutoFit/>
                  </a:bodyPr>
                  <a:lstStyle/>
                  <a:p>
                    <a:pPr marL="0" marR="0" indent="0" algn="ctr" defTabSz="2438338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GB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𝑐</m:t>
                          </m:r>
                          <m:r>
                            <a:rPr kumimoji="0" lang="en-GB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(</m:t>
                          </m:r>
                          <m:r>
                            <a:rPr kumimoji="0" lang="en-GB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𝑥</m:t>
                          </m:r>
                          <m:r>
                            <a:rPr kumimoji="0" lang="en-GB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)</m:t>
                          </m:r>
                        </m:oMath>
                      </m:oMathPara>
                    </a14:m>
                    <a:endParaRPr kumimoji="0" lang="en-GB" sz="3200" b="0" i="0" u="none" strike="noStrike" cap="none" spc="0" normalizeH="0" baseline="0">
                      <a:ln>
                        <a:noFill/>
                      </a:ln>
                      <a:solidFill>
                        <a:schemeClr val="bg2">
                          <a:lumMod val="10000"/>
                        </a:schemeClr>
                      </a:solidFill>
                      <a:effectLst/>
                      <a:uFillTx/>
                      <a:ea typeface="+mn-ea"/>
                      <a:cs typeface="+mn-cs"/>
                      <a:sym typeface="Helvetica Neue"/>
                    </a:endParaRPr>
                  </a:p>
                </p:txBody>
              </p:sp>
            </mc:Choice>
            <mc:Fallback xmlns="">
              <p:sp>
                <p:nvSpPr>
                  <p:cNvPr id="89" name="TextBox 88">
                    <a:extLst>
                      <a:ext uri="{FF2B5EF4-FFF2-40B4-BE49-F238E27FC236}">
                        <a16:creationId xmlns:a16="http://schemas.microsoft.com/office/drawing/2014/main" id="{2AB2D50D-DF7E-FC55-F4D4-4D0B3182D12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7453" y="6231323"/>
                    <a:ext cx="886268" cy="492443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0" name="TextBox 89">
                    <a:extLst>
                      <a:ext uri="{FF2B5EF4-FFF2-40B4-BE49-F238E27FC236}">
                        <a16:creationId xmlns:a16="http://schemas.microsoft.com/office/drawing/2014/main" id="{55317659-D92E-1462-87B4-17FE79ABE1CF}"/>
                      </a:ext>
                    </a:extLst>
                  </p:cNvPr>
                  <p:cNvSpPr txBox="1"/>
                  <p:nvPr/>
                </p:nvSpPr>
                <p:spPr>
                  <a:xfrm>
                    <a:off x="6005114" y="10292644"/>
                    <a:ext cx="344261" cy="492443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none" lIns="0" tIns="0" rIns="0" bIns="0" numCol="1" spcCol="38100" rtlCol="0" anchor="ctr">
                    <a:spAutoFit/>
                  </a:bodyPr>
                  <a:lstStyle/>
                  <a:p>
                    <a:pPr marL="0" marR="0" indent="0" algn="ctr" defTabSz="2438338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GB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𝑥</m:t>
                          </m:r>
                        </m:oMath>
                      </m:oMathPara>
                    </a14:m>
                    <a:endParaRPr kumimoji="0" lang="en-GB" sz="3200" b="0" i="0" u="none" strike="noStrike" cap="none" spc="0" normalizeH="0" baseline="0">
                      <a:ln>
                        <a:noFill/>
                      </a:ln>
                      <a:solidFill>
                        <a:schemeClr val="bg2">
                          <a:lumMod val="10000"/>
                        </a:schemeClr>
                      </a:solidFill>
                      <a:effectLst/>
                      <a:uFillTx/>
                      <a:ea typeface="+mn-ea"/>
                      <a:cs typeface="+mn-cs"/>
                      <a:sym typeface="Helvetica Neue"/>
                    </a:endParaRPr>
                  </a:p>
                </p:txBody>
              </p:sp>
            </mc:Choice>
            <mc:Fallback xmlns="">
              <p:sp>
                <p:nvSpPr>
                  <p:cNvPr id="90" name="TextBox 89">
                    <a:extLst>
                      <a:ext uri="{FF2B5EF4-FFF2-40B4-BE49-F238E27FC236}">
                        <a16:creationId xmlns:a16="http://schemas.microsoft.com/office/drawing/2014/main" id="{55317659-D92E-1462-87B4-17FE79ABE1C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05114" y="10292644"/>
                    <a:ext cx="344261" cy="492443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1" name="TextBox 90">
                    <a:extLst>
                      <a:ext uri="{FF2B5EF4-FFF2-40B4-BE49-F238E27FC236}">
                        <a16:creationId xmlns:a16="http://schemas.microsoft.com/office/drawing/2014/main" id="{C4C49A17-365F-7E25-F446-8623BB418C28}"/>
                      </a:ext>
                    </a:extLst>
                  </p:cNvPr>
                  <p:cNvSpPr txBox="1"/>
                  <p:nvPr/>
                </p:nvSpPr>
                <p:spPr>
                  <a:xfrm>
                    <a:off x="3712268" y="10292644"/>
                    <a:ext cx="460960" cy="492443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none" lIns="0" tIns="0" rIns="0" bIns="0" numCol="1" spcCol="38100" rtlCol="0" anchor="ctr">
                    <a:spAutoFit/>
                  </a:bodyPr>
                  <a:lstStyle/>
                  <a:p>
                    <a:pPr marL="0" marR="0" indent="0" algn="ctr" defTabSz="2438338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en-GB" sz="3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7030A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</m:ctrlPr>
                            </m:sSubPr>
                            <m:e>
                              <m:r>
                                <a:rPr kumimoji="0" lang="en-GB" sz="3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7030A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GB" sz="3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7030A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  <m:t>𝑖</m:t>
                              </m:r>
                            </m:sub>
                          </m:sSub>
                        </m:oMath>
                      </m:oMathPara>
                    </a14:m>
                    <a:endParaRPr kumimoji="0" lang="en-GB" sz="3200" b="0" i="0" u="none" strike="noStrike" cap="none" spc="0" normalizeH="0" baseline="0">
                      <a:ln>
                        <a:noFill/>
                      </a:ln>
                      <a:solidFill>
                        <a:srgbClr val="7030A0"/>
                      </a:solidFill>
                      <a:effectLst/>
                      <a:uFillTx/>
                      <a:ea typeface="+mn-ea"/>
                      <a:cs typeface="+mn-cs"/>
                      <a:sym typeface="Helvetica Neue"/>
                    </a:endParaRPr>
                  </a:p>
                </p:txBody>
              </p:sp>
            </mc:Choice>
            <mc:Fallback xmlns="">
              <p:sp>
                <p:nvSpPr>
                  <p:cNvPr id="91" name="TextBox 90">
                    <a:extLst>
                      <a:ext uri="{FF2B5EF4-FFF2-40B4-BE49-F238E27FC236}">
                        <a16:creationId xmlns:a16="http://schemas.microsoft.com/office/drawing/2014/main" id="{C4C49A17-365F-7E25-F446-8623BB418C2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12268" y="10292644"/>
                    <a:ext cx="460960" cy="492443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2" name="TextBox 91">
                    <a:extLst>
                      <a:ext uri="{FF2B5EF4-FFF2-40B4-BE49-F238E27FC236}">
                        <a16:creationId xmlns:a16="http://schemas.microsoft.com/office/drawing/2014/main" id="{946C5881-9287-DCC1-63F3-44C81BB13CDC}"/>
                      </a:ext>
                    </a:extLst>
                  </p:cNvPr>
                  <p:cNvSpPr txBox="1"/>
                  <p:nvPr/>
                </p:nvSpPr>
                <p:spPr>
                  <a:xfrm>
                    <a:off x="4661863" y="10292644"/>
                    <a:ext cx="852093" cy="492443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none" lIns="0" tIns="0" rIns="0" bIns="0" numCol="1" spcCol="38100" rtlCol="0" anchor="ctr">
                    <a:spAutoFit/>
                  </a:bodyPr>
                  <a:lstStyle/>
                  <a:p>
                    <a:pPr marL="0" marR="0" indent="0" algn="ctr" defTabSz="2438338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en-GB" sz="3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</m:ctrlPr>
                            </m:sSubPr>
                            <m:e>
                              <m:r>
                                <a:rPr kumimoji="0" lang="en-GB" sz="3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GB" sz="3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  <m:t>𝑖</m:t>
                              </m:r>
                              <m:r>
                                <a:rPr kumimoji="0" lang="en-GB" sz="3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  <m:t>+1</m:t>
                              </m:r>
                            </m:sub>
                          </m:sSub>
                        </m:oMath>
                      </m:oMathPara>
                    </a14:m>
                    <a:endParaRPr kumimoji="0" lang="en-GB" sz="3200" b="0" i="0" u="none" strike="noStrike" cap="none" spc="0" normalizeH="0" baseline="0">
                      <a:ln>
                        <a:noFill/>
                      </a:ln>
                      <a:solidFill>
                        <a:schemeClr val="bg2">
                          <a:lumMod val="10000"/>
                        </a:schemeClr>
                      </a:solidFill>
                      <a:effectLst/>
                      <a:uFillTx/>
                      <a:ea typeface="+mn-ea"/>
                      <a:cs typeface="+mn-cs"/>
                      <a:sym typeface="Helvetica Neue"/>
                    </a:endParaRPr>
                  </a:p>
                </p:txBody>
              </p:sp>
            </mc:Choice>
            <mc:Fallback xmlns="">
              <p:sp>
                <p:nvSpPr>
                  <p:cNvPr id="92" name="TextBox 91">
                    <a:extLst>
                      <a:ext uri="{FF2B5EF4-FFF2-40B4-BE49-F238E27FC236}">
                        <a16:creationId xmlns:a16="http://schemas.microsoft.com/office/drawing/2014/main" id="{946C5881-9287-DCC1-63F3-44C81BB13CD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61863" y="10292644"/>
                    <a:ext cx="852093" cy="492443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3" name="TextBox 92">
                    <a:extLst>
                      <a:ext uri="{FF2B5EF4-FFF2-40B4-BE49-F238E27FC236}">
                        <a16:creationId xmlns:a16="http://schemas.microsoft.com/office/drawing/2014/main" id="{37EA7ADE-90A3-74FE-7EB1-314A24DB9DC4}"/>
                      </a:ext>
                    </a:extLst>
                  </p:cNvPr>
                  <p:cNvSpPr txBox="1"/>
                  <p:nvPr/>
                </p:nvSpPr>
                <p:spPr>
                  <a:xfrm>
                    <a:off x="2274822" y="10292644"/>
                    <a:ext cx="852093" cy="492443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none" lIns="0" tIns="0" rIns="0" bIns="0" numCol="1" spcCol="38100" rtlCol="0" anchor="ctr">
                    <a:spAutoFit/>
                  </a:bodyPr>
                  <a:lstStyle/>
                  <a:p>
                    <a:pPr marL="0" marR="0" indent="0" algn="ctr" defTabSz="2438338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en-GB" sz="3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7030A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</m:ctrlPr>
                            </m:sSubPr>
                            <m:e>
                              <m:r>
                                <a:rPr kumimoji="0" lang="en-GB" sz="3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7030A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GB" sz="3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7030A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  <m:t>𝑖</m:t>
                              </m:r>
                              <m:r>
                                <a:rPr kumimoji="0" lang="en-GB" sz="3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7030A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kumimoji="0" lang="en-GB" sz="3200" b="0" i="0" u="none" strike="noStrike" cap="none" spc="0" normalizeH="0" baseline="0">
                      <a:ln>
                        <a:noFill/>
                      </a:ln>
                      <a:solidFill>
                        <a:srgbClr val="7030A0"/>
                      </a:solidFill>
                      <a:effectLst/>
                      <a:uFillTx/>
                      <a:ea typeface="+mn-ea"/>
                      <a:cs typeface="+mn-cs"/>
                      <a:sym typeface="Helvetica Neue"/>
                    </a:endParaRPr>
                  </a:p>
                </p:txBody>
              </p:sp>
            </mc:Choice>
            <mc:Fallback xmlns="">
              <p:sp>
                <p:nvSpPr>
                  <p:cNvPr id="93" name="TextBox 92">
                    <a:extLst>
                      <a:ext uri="{FF2B5EF4-FFF2-40B4-BE49-F238E27FC236}">
                        <a16:creationId xmlns:a16="http://schemas.microsoft.com/office/drawing/2014/main" id="{37EA7ADE-90A3-74FE-7EB1-314A24DB9DC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74822" y="10292644"/>
                    <a:ext cx="852093" cy="492443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28B20D74-1958-A843-DBDE-CB64FC77245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109800" y="7590611"/>
                <a:ext cx="493566" cy="711178"/>
              </a:xfrm>
              <a:prstGeom prst="straightConnector1">
                <a:avLst/>
              </a:prstGeom>
              <a:noFill/>
              <a:ln w="57150" cap="flat">
                <a:solidFill>
                  <a:srgbClr val="00B0F0"/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EB749694-1383-E886-6199-7AD04DA4EC6E}"/>
                  </a:ext>
                </a:extLst>
              </p:cNvPr>
              <p:cNvSpPr txBox="1"/>
              <p:nvPr/>
            </p:nvSpPr>
            <p:spPr>
              <a:xfrm>
                <a:off x="6153708" y="8277196"/>
                <a:ext cx="1141338" cy="96436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GB" sz="2800" b="1" i="0" u="none" strike="noStrike" cap="none" spc="0" normalizeH="0" baseline="0">
                    <a:ln>
                      <a:noFill/>
                    </a:ln>
                    <a:solidFill>
                      <a:srgbClr val="00B0F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rPr>
                  <a:t>True</a:t>
                </a:r>
              </a:p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GB" sz="2800" b="1" i="0" u="none" strike="noStrike" cap="none" spc="0" normalizeH="0" baseline="0">
                    <a:ln>
                      <a:noFill/>
                    </a:ln>
                    <a:solidFill>
                      <a:srgbClr val="00B0F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rPr>
                  <a:t> slope</a:t>
                </a:r>
              </a:p>
            </p:txBody>
          </p: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695F1060-71FE-458D-3BC9-CBD46C4EB7F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667196" y="8443180"/>
                <a:ext cx="518915" cy="756988"/>
              </a:xfrm>
              <a:prstGeom prst="straightConnector1">
                <a:avLst/>
              </a:prstGeom>
              <a:noFill/>
              <a:ln w="57150" cap="flat">
                <a:solidFill>
                  <a:srgbClr val="7030A0"/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E8E46401-7603-2530-CFC7-CDD4CB95921B}"/>
                  </a:ext>
                </a:extLst>
              </p:cNvPr>
              <p:cNvSpPr txBox="1"/>
              <p:nvPr/>
            </p:nvSpPr>
            <p:spPr>
              <a:xfrm>
                <a:off x="3991561" y="9232127"/>
                <a:ext cx="2619307" cy="96436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GB" sz="2800" b="1" i="0" u="none" strike="noStrike" cap="none" spc="0" normalizeH="0" baseline="0">
                    <a:ln>
                      <a:noFill/>
                    </a:ln>
                    <a:solidFill>
                      <a:srgbClr val="7030A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rPr>
                  <a:t>Approximated </a:t>
                </a:r>
              </a:p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GB" sz="2800" b="1">
                    <a:solidFill>
                      <a:srgbClr val="7030A0"/>
                    </a:solidFill>
                  </a:rPr>
                  <a:t>slope</a:t>
                </a:r>
                <a:endParaRPr kumimoji="0" lang="en-GB" sz="2800" b="1" i="0" u="none" strike="noStrike" cap="none" spc="0" normalizeH="0" baseline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C5CAB427-93A2-D10A-F5FB-46FDDEABDBA6}"/>
                    </a:ext>
                  </a:extLst>
                </p:cNvPr>
                <p:cNvSpPr txBox="1"/>
                <p:nvPr/>
              </p:nvSpPr>
              <p:spPr>
                <a:xfrm>
                  <a:off x="2715390" y="10181445"/>
                  <a:ext cx="1173405" cy="49244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0" tIns="0" rIns="0" bIns="0" numCol="1" spcCol="3810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3200" i="1" smtClean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GB" sz="3200" b="0" i="1" smtClean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kumimoji="0" lang="en-GB" sz="3200" b="0" i="0" u="none" strike="noStrike" cap="none" spc="0" normalizeH="0" baseline="0">
                    <a:ln>
                      <a:noFill/>
                    </a:ln>
                    <a:solidFill>
                      <a:srgbClr val="5E5E5E"/>
                    </a:solidFill>
                    <a:effectLst/>
                    <a:uFillTx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C5CAB427-93A2-D10A-F5FB-46FDDEABDB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15390" y="10181445"/>
                  <a:ext cx="1173405" cy="492443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70D0A2C2-C16A-F9F9-5ED1-46B00A75BCF1}"/>
                </a:ext>
              </a:extLst>
            </p:cNvPr>
            <p:cNvCxnSpPr>
              <a:cxnSpLocks/>
            </p:cNvCxnSpPr>
            <p:nvPr/>
          </p:nvCxnSpPr>
          <p:spPr>
            <a:xfrm>
              <a:off x="2686894" y="10178716"/>
              <a:ext cx="1192974" cy="0"/>
            </a:xfrm>
            <a:prstGeom prst="straightConnector1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headEnd type="triangle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</p:spTree>
    <p:extLst>
      <p:ext uri="{BB962C8B-B14F-4D97-AF65-F5344CB8AC3E}">
        <p14:creationId xmlns:p14="http://schemas.microsoft.com/office/powerpoint/2010/main" val="429013919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B7D4E-0D43-D3BA-6A60-059AE0FDC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0331472F-69F2-7328-DC04-991F40A46908}"/>
              </a:ext>
            </a:extLst>
          </p:cNvPr>
          <p:cNvSpPr/>
          <p:nvPr/>
        </p:nvSpPr>
        <p:spPr>
          <a:xfrm>
            <a:off x="3888795" y="246197"/>
            <a:ext cx="7994496" cy="923330"/>
          </a:xfrm>
          <a:prstGeom prst="rect">
            <a:avLst/>
          </a:prstGeom>
        </p:spPr>
        <p:txBody>
          <a:bodyPr wrap="none">
            <a:spAutoFit/>
          </a:bodyPr>
          <a:lstStyle>
            <a:defPPr marL="0" marR="0" indent="0" algn="l" defTabSz="18288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1pPr>
            <a:lvl2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2pPr>
            <a:lvl3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3pPr>
            <a:lvl4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4pPr>
            <a:lvl5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5pPr>
            <a:lvl6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6pPr>
            <a:lvl7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7pPr>
            <a:lvl8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8pPr>
            <a:lvl9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9pPr>
          </a:lstStyle>
          <a:p>
            <a:r>
              <a:rPr lang="en-US" sz="5400" b="1">
                <a:solidFill>
                  <a:srgbClr val="EAEAEA"/>
                </a:solidFill>
              </a:rPr>
              <a:t>Converting PDE to ODE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B42713C-F63D-B7A1-5EF7-378A3E32E48B}"/>
              </a:ext>
            </a:extLst>
          </p:cNvPr>
          <p:cNvSpPr txBox="1"/>
          <p:nvPr/>
        </p:nvSpPr>
        <p:spPr>
          <a:xfrm>
            <a:off x="1378345" y="2896336"/>
            <a:ext cx="947375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3200" b="1" i="0" u="none" strike="noStrike" cap="none" spc="0" normalizeH="0" baseline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PDE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ECD9EB7-11E6-E353-32C1-E527661FB6D2}"/>
              </a:ext>
            </a:extLst>
          </p:cNvPr>
          <p:cNvSpPr/>
          <p:nvPr/>
        </p:nvSpPr>
        <p:spPr>
          <a:xfrm rot="-10800000" flipV="1">
            <a:off x="9853404" y="13283356"/>
            <a:ext cx="4628055" cy="379591"/>
          </a:xfrm>
          <a:prstGeom prst="rect">
            <a:avLst/>
          </a:prstGeom>
          <a:solidFill>
            <a:srgbClr val="8B79A6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n-US" sz="1800"/>
              <a:t>Workshop on Numerical Simulation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C61368-DA6A-959F-4AC3-D354EFC434C5}"/>
              </a:ext>
            </a:extLst>
          </p:cNvPr>
          <p:cNvSpPr/>
          <p:nvPr/>
        </p:nvSpPr>
        <p:spPr>
          <a:xfrm rot="-10800000" flipV="1">
            <a:off x="457612" y="13283975"/>
            <a:ext cx="4628055" cy="379591"/>
          </a:xfrm>
          <a:prstGeom prst="rect">
            <a:avLst/>
          </a:prstGeom>
          <a:solidFill>
            <a:srgbClr val="5C2A7A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/>
            <a:r>
              <a:rPr lang="en-GB" sz="1800">
                <a:solidFill>
                  <a:srgbClr val="9E79A6"/>
                </a:solidFill>
                <a:latin typeface="Helvetica Neue"/>
              </a:rPr>
              <a:t>KR and MA</a:t>
            </a:r>
            <a:endParaRPr lang="en-US" sz="18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2E031D-D562-56E1-30B0-271727E1AB65}"/>
              </a:ext>
            </a:extLst>
          </p:cNvPr>
          <p:cNvSpPr txBox="1"/>
          <p:nvPr/>
        </p:nvSpPr>
        <p:spPr>
          <a:xfrm flipH="1">
            <a:off x="2446661" y="1752132"/>
            <a:ext cx="632311" cy="1194507"/>
          </a:xfrm>
          <a:prstGeom prst="rect">
            <a:avLst/>
          </a:prstGeom>
          <a:solidFill>
            <a:srgbClr val="CCECFF">
              <a:alpha val="50196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6075629-829F-AB58-0569-D980F90F3BA1}"/>
              </a:ext>
            </a:extLst>
          </p:cNvPr>
          <p:cNvSpPr/>
          <p:nvPr/>
        </p:nvSpPr>
        <p:spPr>
          <a:xfrm rot="-10800000" flipV="1">
            <a:off x="19138012" y="13283101"/>
            <a:ext cx="4628055" cy="379591"/>
          </a:xfrm>
          <a:prstGeom prst="rect">
            <a:avLst/>
          </a:prstGeom>
          <a:solidFill>
            <a:srgbClr val="5C2A7A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/>
            <a:r>
              <a:rPr lang="en-GB" sz="1800">
                <a:solidFill>
                  <a:srgbClr val="9E79A6"/>
                </a:solidFill>
                <a:latin typeface="Helvetica Neue"/>
              </a:rPr>
              <a:t>22/10/2025</a:t>
            </a:r>
            <a:endParaRPr lang="en-US" sz="1800"/>
          </a:p>
        </p:txBody>
      </p:sp>
      <p:sp>
        <p:nvSpPr>
          <p:cNvPr id="59" name="Slide Number">
            <a:extLst>
              <a:ext uri="{FF2B5EF4-FFF2-40B4-BE49-F238E27FC236}">
                <a16:creationId xmlns:a16="http://schemas.microsoft.com/office/drawing/2014/main" id="{F700E2DF-D615-DA4E-4734-5EF19FC9CB68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23805849" y="13272486"/>
            <a:ext cx="230832" cy="379591"/>
          </a:xfrm>
          <a:prstGeom prst="rect">
            <a:avLst/>
          </a:prstGeom>
        </p:spPr>
        <p:txBody>
          <a:bodyPr/>
          <a:lstStyle/>
          <a:p>
            <a:r>
              <a:rPr lang="en-GB"/>
              <a:t>4</a:t>
            </a:r>
          </a:p>
        </p:txBody>
      </p:sp>
      <p:pic>
        <p:nvPicPr>
          <p:cNvPr id="12" name="Picture 11" descr="\documentclass{article}&#10;\usepackage{amsmath}&#10;\pagestyle{empty}&#10;\begin{document}&#10;\begin{equation}&#10;\frac{\partial c}{\partial t}=-v\frac{\partial c}{\partial x}&#10;\nonumber&#10;\end{equation}&#10;&#10;\end{document}" title="IguanaTex Bitmap Display">
            <a:extLst>
              <a:ext uri="{FF2B5EF4-FFF2-40B4-BE49-F238E27FC236}">
                <a16:creationId xmlns:a16="http://schemas.microsoft.com/office/drawing/2014/main" id="{613131ED-E9D4-B4D4-B5C0-FA1F9A89B24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187" y="1819920"/>
            <a:ext cx="2419693" cy="100772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3A9751E-2603-D8A0-746E-2258482E7332}"/>
                  </a:ext>
                </a:extLst>
              </p:cNvPr>
              <p:cNvSpPr txBox="1"/>
              <p:nvPr/>
            </p:nvSpPr>
            <p:spPr>
              <a:xfrm>
                <a:off x="18367561" y="2471145"/>
                <a:ext cx="4009431" cy="141673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900" i="1" smtClean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GB" sz="3900" i="1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sz="3900" i="1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3900" b="0" i="1" smtClean="0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n-GB" sz="3900" i="1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num>
                                <m:den>
                                  <m:r>
                                    <a:rPr lang="en-GB" sz="3900" b="0" i="1" smtClean="0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𝑑𝑥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GB" sz="3900" i="1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3900" i="1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GB" sz="3900" b="0" i="1" smtClean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3900" i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kumimoji="0" lang="en-GB" sz="39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Neue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</m:ctrlPr>
                            </m:sSubPr>
                            <m:e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𝑐</m:t>
                              </m:r>
                            </m:e>
                            <m:sub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0" lang="en-GB" sz="39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Neue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</m:ctrlPr>
                            </m:sSubPr>
                            <m:e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𝑐</m:t>
                              </m:r>
                            </m:e>
                            <m:sub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𝑖</m:t>
                              </m:r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−1</m:t>
                              </m:r>
                            </m:sub>
                          </m:sSub>
                        </m:num>
                        <m:den>
                          <m:r>
                            <a:rPr kumimoji="0" lang="en-GB" sz="39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Helvetica Neue"/>
                            </a:rPr>
                            <m:t>∆</m:t>
                          </m:r>
                          <m:r>
                            <a:rPr kumimoji="0" lang="en-GB" sz="39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Helvetica Neue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kumimoji="0" lang="en-GB" sz="39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sym typeface="Helvetica Neue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3A9751E-2603-D8A0-746E-2258482E73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67561" y="2471145"/>
                <a:ext cx="4009431" cy="141673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80C5F670-F81D-F751-C7D0-421B71D193A2}"/>
              </a:ext>
            </a:extLst>
          </p:cNvPr>
          <p:cNvSpPr txBox="1"/>
          <p:nvPr/>
        </p:nvSpPr>
        <p:spPr>
          <a:xfrm>
            <a:off x="18716818" y="1586097"/>
            <a:ext cx="3815148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3200">
                <a:solidFill>
                  <a:srgbClr val="7030A0"/>
                </a:solidFill>
              </a:rPr>
              <a:t>Backward difference</a:t>
            </a:r>
            <a:endParaRPr kumimoji="0" lang="en-GB" sz="3200" b="0" i="0" u="none" strike="noStrike" cap="none" spc="0" normalizeH="0" baseline="0">
              <a:ln>
                <a:noFill/>
              </a:ln>
              <a:solidFill>
                <a:srgbClr val="7030A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2B44D8-0B16-E436-D686-3BA583D73844}"/>
              </a:ext>
            </a:extLst>
          </p:cNvPr>
          <p:cNvSpPr txBox="1"/>
          <p:nvPr/>
        </p:nvSpPr>
        <p:spPr>
          <a:xfrm>
            <a:off x="12450197" y="1586096"/>
            <a:ext cx="3335849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3200">
                <a:solidFill>
                  <a:schemeClr val="accent6">
                    <a:lumMod val="75000"/>
                  </a:schemeClr>
                </a:solidFill>
              </a:rPr>
              <a:t>Central difference</a:t>
            </a:r>
            <a:endParaRPr kumimoji="0" lang="en-GB" sz="3200" b="0" i="0" u="none" strike="noStrike" cap="none" spc="0" normalizeH="0" baseline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72293FD-DED8-3493-768F-C473664186C2}"/>
                  </a:ext>
                </a:extLst>
              </p:cNvPr>
              <p:cNvSpPr txBox="1"/>
              <p:nvPr/>
            </p:nvSpPr>
            <p:spPr>
              <a:xfrm>
                <a:off x="11773274" y="2471145"/>
                <a:ext cx="4487126" cy="141673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900" i="1" smtClean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GB" sz="3900" i="1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sz="3900" i="1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3900" b="0" i="1" smtClean="0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n-GB" sz="3900" i="1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num>
                                <m:den>
                                  <m:r>
                                    <a:rPr lang="en-GB" sz="3900" b="0" i="1" smtClean="0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𝑑𝑥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GB" sz="3900" i="1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3900" i="1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GB" sz="3900" b="0" i="1" smtClean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3900" i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kumimoji="0" lang="en-GB" sz="39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Neue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</m:ctrlPr>
                            </m:sSubPr>
                            <m:e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𝑐</m:t>
                              </m:r>
                            </m:e>
                            <m:sub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𝑖</m:t>
                              </m:r>
                              <m:r>
                                <a:rPr kumimoji="0" lang="en-US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+</m:t>
                              </m:r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1</m:t>
                              </m:r>
                            </m:sub>
                          </m:sSub>
                          <m:r>
                            <a:rPr kumimoji="0" lang="en-GB" sz="39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Neue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</m:ctrlPr>
                            </m:sSubPr>
                            <m:e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𝑐</m:t>
                              </m:r>
                            </m:e>
                            <m:sub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𝑖</m:t>
                              </m:r>
                              <m:r>
                                <a:rPr kumimoji="0" lang="en-US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−</m:t>
                              </m:r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kumimoji="0" lang="en-GB" sz="39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Neue"/>
                            </a:rPr>
                            <m:t>2</m:t>
                          </m:r>
                          <m:r>
                            <a:rPr kumimoji="0" lang="en-GB" sz="39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Helvetica Neue"/>
                            </a:rPr>
                            <m:t>∆</m:t>
                          </m:r>
                          <m:r>
                            <a:rPr kumimoji="0" lang="en-GB" sz="39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Helvetica Neue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kumimoji="0" lang="en-GB" sz="39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sym typeface="Helvetica Neue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72293FD-DED8-3493-768F-C473664186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73274" y="2471145"/>
                <a:ext cx="4487126" cy="141673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C1648DBF-82AC-EF7D-47BB-DD1833C8C1FF}"/>
              </a:ext>
            </a:extLst>
          </p:cNvPr>
          <p:cNvSpPr txBox="1"/>
          <p:nvPr/>
        </p:nvSpPr>
        <p:spPr>
          <a:xfrm>
            <a:off x="11336890" y="4788349"/>
            <a:ext cx="12739467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GB" sz="3200" b="1">
                <a:solidFill>
                  <a:schemeClr val="tx1"/>
                </a:solidFill>
              </a:rPr>
              <a:t>Discretize</a:t>
            </a:r>
            <a:r>
              <a:rPr lang="en-GB" sz="3200">
                <a:solidFill>
                  <a:schemeClr val="tx1">
                    <a:lumMod val="50000"/>
                  </a:schemeClr>
                </a:solidFill>
              </a:rPr>
              <a:t> the </a:t>
            </a:r>
            <a:r>
              <a:rPr lang="en-GB" sz="3200" b="1">
                <a:solidFill>
                  <a:schemeClr val="tx1"/>
                </a:solidFill>
              </a:rPr>
              <a:t>spatial domain</a:t>
            </a:r>
            <a:r>
              <a:rPr lang="en-GB" sz="3200" b="1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GB" sz="3200">
                <a:solidFill>
                  <a:schemeClr val="tx1">
                    <a:lumMod val="50000"/>
                  </a:schemeClr>
                </a:solidFill>
              </a:rPr>
              <a:t>but keep the </a:t>
            </a:r>
            <a:r>
              <a:rPr lang="en-GB" sz="3200" b="1">
                <a:solidFill>
                  <a:schemeClr val="tx1">
                    <a:lumMod val="50000"/>
                  </a:schemeClr>
                </a:solidFill>
              </a:rPr>
              <a:t>time domain </a:t>
            </a:r>
            <a:r>
              <a:rPr lang="en-GB" sz="3200">
                <a:solidFill>
                  <a:schemeClr val="tx1">
                    <a:lumMod val="50000"/>
                  </a:schemeClr>
                </a:solidFill>
              </a:rPr>
              <a:t>continuous</a:t>
            </a:r>
            <a:endParaRPr lang="en-GB" sz="3200" b="1">
              <a:solidFill>
                <a:schemeClr val="tx1">
                  <a:lumMod val="50000"/>
                </a:schemeClr>
              </a:solidFill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FBC64C95-00F3-5A6F-E350-5E3B6B6B7EC6}"/>
              </a:ext>
            </a:extLst>
          </p:cNvPr>
          <p:cNvGrpSpPr/>
          <p:nvPr/>
        </p:nvGrpSpPr>
        <p:grpSpPr>
          <a:xfrm>
            <a:off x="11552722" y="5413262"/>
            <a:ext cx="11931295" cy="5177658"/>
            <a:chOff x="6494858" y="3875429"/>
            <a:chExt cx="11931295" cy="5177658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D440A55B-4072-66A3-0E7E-CDE8A689B531}"/>
                </a:ext>
              </a:extLst>
            </p:cNvPr>
            <p:cNvSpPr/>
            <p:nvPr/>
          </p:nvSpPr>
          <p:spPr>
            <a:xfrm>
              <a:off x="6494858" y="4584298"/>
              <a:ext cx="11931295" cy="2737681"/>
            </a:xfrm>
            <a:prstGeom prst="rect">
              <a:avLst/>
            </a:prstGeom>
            <a:noFill/>
            <a:ln w="57150" cap="flat">
              <a:solidFill>
                <a:schemeClr val="bg2">
                  <a:lumMod val="1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BBE66B7A-0920-F2E0-3AC8-065E32B37E52}"/>
                </a:ext>
              </a:extLst>
            </p:cNvPr>
            <p:cNvCxnSpPr>
              <a:cxnSpLocks/>
            </p:cNvCxnSpPr>
            <p:nvPr/>
          </p:nvCxnSpPr>
          <p:spPr>
            <a:xfrm>
              <a:off x="6510850" y="4334406"/>
              <a:ext cx="11915303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B2DDECD4-225D-DDF4-CF3A-E1D558BAECBB}"/>
                    </a:ext>
                  </a:extLst>
                </p:cNvPr>
                <p:cNvSpPr txBox="1"/>
                <p:nvPr/>
              </p:nvSpPr>
              <p:spPr>
                <a:xfrm>
                  <a:off x="12329544" y="3875429"/>
                  <a:ext cx="297517" cy="43088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ctr">
                  <a:spAutoFit/>
                </a:bodyPr>
                <a:lstStyle/>
                <a:p>
                  <a:pPr marL="0" marR="0" indent="0" algn="ctr" defTabSz="2438338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GB" sz="2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5E5E5E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𝐿</m:t>
                        </m:r>
                      </m:oMath>
                    </m:oMathPara>
                  </a14:m>
                  <a:endParaRPr kumimoji="0" lang="en-GB" sz="2800" b="0" i="0" u="none" strike="noStrike" cap="none" spc="0" normalizeH="0" baseline="0">
                    <a:ln>
                      <a:noFill/>
                    </a:ln>
                    <a:solidFill>
                      <a:srgbClr val="5E5E5E"/>
                    </a:solidFill>
                    <a:effectLst/>
                    <a:uFillTx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B2DDECD4-225D-DDF4-CF3A-E1D558BAEC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329544" y="3875429"/>
                  <a:ext cx="297517" cy="43088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9DAD796-A0B3-BA61-4F75-2BE2E51DBE02}"/>
                </a:ext>
              </a:extLst>
            </p:cNvPr>
            <p:cNvSpPr/>
            <p:nvPr/>
          </p:nvSpPr>
          <p:spPr>
            <a:xfrm>
              <a:off x="8515903" y="4584298"/>
              <a:ext cx="1985450" cy="2737681"/>
            </a:xfrm>
            <a:prstGeom prst="rect">
              <a:avLst/>
            </a:prstGeom>
            <a:noFill/>
            <a:ln w="12700" cap="flat">
              <a:solidFill>
                <a:schemeClr val="tx2">
                  <a:lumMod val="75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4FD9549-C236-F975-8162-A094BB71D82C}"/>
                </a:ext>
              </a:extLst>
            </p:cNvPr>
            <p:cNvSpPr/>
            <p:nvPr/>
          </p:nvSpPr>
          <p:spPr>
            <a:xfrm>
              <a:off x="6499209" y="4590270"/>
              <a:ext cx="2012186" cy="2737681"/>
            </a:xfrm>
            <a:prstGeom prst="rect">
              <a:avLst/>
            </a:prstGeom>
            <a:noFill/>
            <a:ln w="12700" cap="flat">
              <a:solidFill>
                <a:schemeClr val="tx2">
                  <a:lumMod val="75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7A97C0AA-4B97-D084-A7F3-9154E818D9C4}"/>
                </a:ext>
              </a:extLst>
            </p:cNvPr>
            <p:cNvSpPr/>
            <p:nvPr/>
          </p:nvSpPr>
          <p:spPr>
            <a:xfrm>
              <a:off x="10497103" y="4603348"/>
              <a:ext cx="1985450" cy="2737681"/>
            </a:xfrm>
            <a:prstGeom prst="rect">
              <a:avLst/>
            </a:prstGeom>
            <a:noFill/>
            <a:ln w="12700" cap="flat">
              <a:solidFill>
                <a:schemeClr val="tx2">
                  <a:lumMod val="75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14B6D943-48DF-B96D-599C-F36453AAD848}"/>
                </a:ext>
              </a:extLst>
            </p:cNvPr>
            <p:cNvSpPr/>
            <p:nvPr/>
          </p:nvSpPr>
          <p:spPr>
            <a:xfrm>
              <a:off x="12478303" y="4584298"/>
              <a:ext cx="1985450" cy="2737681"/>
            </a:xfrm>
            <a:prstGeom prst="rect">
              <a:avLst/>
            </a:prstGeom>
            <a:noFill/>
            <a:ln w="12700" cap="flat">
              <a:solidFill>
                <a:schemeClr val="tx2">
                  <a:lumMod val="75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788FFE1-CD93-E832-10EE-B9FEB4DDC676}"/>
                </a:ext>
              </a:extLst>
            </p:cNvPr>
            <p:cNvSpPr/>
            <p:nvPr/>
          </p:nvSpPr>
          <p:spPr>
            <a:xfrm>
              <a:off x="14459503" y="4601364"/>
              <a:ext cx="1985450" cy="2737681"/>
            </a:xfrm>
            <a:prstGeom prst="rect">
              <a:avLst/>
            </a:prstGeom>
            <a:noFill/>
            <a:ln w="12700" cap="flat">
              <a:solidFill>
                <a:schemeClr val="tx2">
                  <a:lumMod val="75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D9579483-565D-3122-8325-5C58B5806312}"/>
                </a:ext>
              </a:extLst>
            </p:cNvPr>
            <p:cNvSpPr/>
            <p:nvPr/>
          </p:nvSpPr>
          <p:spPr>
            <a:xfrm>
              <a:off x="16440703" y="4565248"/>
              <a:ext cx="1985450" cy="2737681"/>
            </a:xfrm>
            <a:prstGeom prst="rect">
              <a:avLst/>
            </a:prstGeom>
            <a:noFill/>
            <a:ln w="12700" cap="flat">
              <a:solidFill>
                <a:schemeClr val="tx2">
                  <a:lumMod val="75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32" name="Flowchart: Connector 31">
              <a:extLst>
                <a:ext uri="{FF2B5EF4-FFF2-40B4-BE49-F238E27FC236}">
                  <a16:creationId xmlns:a16="http://schemas.microsoft.com/office/drawing/2014/main" id="{B11258DF-7809-251D-34BD-699727341E02}"/>
                </a:ext>
              </a:extLst>
            </p:cNvPr>
            <p:cNvSpPr/>
            <p:nvPr/>
          </p:nvSpPr>
          <p:spPr>
            <a:xfrm>
              <a:off x="7392333" y="5842429"/>
              <a:ext cx="228600" cy="233363"/>
            </a:xfrm>
            <a:prstGeom prst="flowChartConnector">
              <a:avLst/>
            </a:prstGeom>
            <a:solidFill>
              <a:srgbClr val="FF0000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33" name="Flowchart: Connector 32">
              <a:extLst>
                <a:ext uri="{FF2B5EF4-FFF2-40B4-BE49-F238E27FC236}">
                  <a16:creationId xmlns:a16="http://schemas.microsoft.com/office/drawing/2014/main" id="{B0B1BD52-EE99-4D68-2F18-EEB5E3B444B7}"/>
                </a:ext>
              </a:extLst>
            </p:cNvPr>
            <p:cNvSpPr/>
            <p:nvPr/>
          </p:nvSpPr>
          <p:spPr>
            <a:xfrm>
              <a:off x="9394328" y="5836457"/>
              <a:ext cx="228600" cy="233363"/>
            </a:xfrm>
            <a:prstGeom prst="flowChartConnector">
              <a:avLst/>
            </a:prstGeom>
            <a:solidFill>
              <a:srgbClr val="FF0000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34" name="Flowchart: Connector 33">
              <a:extLst>
                <a:ext uri="{FF2B5EF4-FFF2-40B4-BE49-F238E27FC236}">
                  <a16:creationId xmlns:a16="http://schemas.microsoft.com/office/drawing/2014/main" id="{A34ABCAE-F7C2-21F8-2FD8-42F4391D0C89}"/>
                </a:ext>
              </a:extLst>
            </p:cNvPr>
            <p:cNvSpPr/>
            <p:nvPr/>
          </p:nvSpPr>
          <p:spPr>
            <a:xfrm>
              <a:off x="11375528" y="5836457"/>
              <a:ext cx="228600" cy="233363"/>
            </a:xfrm>
            <a:prstGeom prst="flowChartConnector">
              <a:avLst/>
            </a:prstGeom>
            <a:solidFill>
              <a:srgbClr val="FF0000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35" name="Flowchart: Connector 34">
              <a:extLst>
                <a:ext uri="{FF2B5EF4-FFF2-40B4-BE49-F238E27FC236}">
                  <a16:creationId xmlns:a16="http://schemas.microsoft.com/office/drawing/2014/main" id="{3FD99DC6-4110-A65F-7566-65836A75C4EF}"/>
                </a:ext>
              </a:extLst>
            </p:cNvPr>
            <p:cNvSpPr/>
            <p:nvPr/>
          </p:nvSpPr>
          <p:spPr>
            <a:xfrm>
              <a:off x="13356728" y="5836457"/>
              <a:ext cx="228600" cy="233363"/>
            </a:xfrm>
            <a:prstGeom prst="flowChartConnector">
              <a:avLst/>
            </a:prstGeom>
            <a:solidFill>
              <a:srgbClr val="FF0000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36" name="Flowchart: Connector 35">
              <a:extLst>
                <a:ext uri="{FF2B5EF4-FFF2-40B4-BE49-F238E27FC236}">
                  <a16:creationId xmlns:a16="http://schemas.microsoft.com/office/drawing/2014/main" id="{F3574DA9-F1C2-ABBC-0A62-19ED7322F4C3}"/>
                </a:ext>
              </a:extLst>
            </p:cNvPr>
            <p:cNvSpPr/>
            <p:nvPr/>
          </p:nvSpPr>
          <p:spPr>
            <a:xfrm>
              <a:off x="15337928" y="5853523"/>
              <a:ext cx="228600" cy="233363"/>
            </a:xfrm>
            <a:prstGeom prst="flowChartConnector">
              <a:avLst/>
            </a:prstGeom>
            <a:solidFill>
              <a:srgbClr val="FF0000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37" name="Flowchart: Connector 36">
              <a:extLst>
                <a:ext uri="{FF2B5EF4-FFF2-40B4-BE49-F238E27FC236}">
                  <a16:creationId xmlns:a16="http://schemas.microsoft.com/office/drawing/2014/main" id="{52621401-E931-43F3-E142-0E424A7EA3D3}"/>
                </a:ext>
              </a:extLst>
            </p:cNvPr>
            <p:cNvSpPr/>
            <p:nvPr/>
          </p:nvSpPr>
          <p:spPr>
            <a:xfrm>
              <a:off x="17319128" y="5853523"/>
              <a:ext cx="228600" cy="233363"/>
            </a:xfrm>
            <a:prstGeom prst="flowChartConnector">
              <a:avLst/>
            </a:prstGeom>
            <a:solidFill>
              <a:srgbClr val="FF0000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573620BC-974C-843A-BEF8-FBC826730D08}"/>
                </a:ext>
              </a:extLst>
            </p:cNvPr>
            <p:cNvCxnSpPr>
              <a:cxnSpLocks/>
            </p:cNvCxnSpPr>
            <p:nvPr/>
          </p:nvCxnSpPr>
          <p:spPr>
            <a:xfrm>
              <a:off x="7506633" y="8610600"/>
              <a:ext cx="2001995" cy="0"/>
            </a:xfrm>
            <a:prstGeom prst="straightConnector1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headEnd type="triangle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46FE6ECF-8111-05FF-50BD-2C9FEDC141A8}"/>
                </a:ext>
              </a:extLst>
            </p:cNvPr>
            <p:cNvCxnSpPr>
              <a:cxnSpLocks/>
              <a:stCxn id="27" idx="4"/>
            </p:cNvCxnSpPr>
            <p:nvPr/>
          </p:nvCxnSpPr>
          <p:spPr>
            <a:xfrm>
              <a:off x="7518670" y="6075792"/>
              <a:ext cx="0" cy="2534808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ysDot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35B07217-7308-2638-B9D3-68911B5EA0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508627" y="6069820"/>
              <a:ext cx="1" cy="254078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ysDot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ACF19DDB-735C-1461-3B37-D364FEB605BC}"/>
                    </a:ext>
                  </a:extLst>
                </p:cNvPr>
                <p:cNvSpPr txBox="1"/>
                <p:nvPr/>
              </p:nvSpPr>
              <p:spPr>
                <a:xfrm>
                  <a:off x="8204598" y="8560644"/>
                  <a:ext cx="589520" cy="49244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ctr">
                  <a:spAutoFit/>
                </a:bodyPr>
                <a:lstStyle/>
                <a:p>
                  <a:pPr marL="0" marR="0" indent="0" algn="ctr" defTabSz="2438338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GB" sz="32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5E5E5E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Helvetica Neue"/>
                          </a:rPr>
                          <m:t>∆</m:t>
                        </m:r>
                        <m:r>
                          <a:rPr kumimoji="0" lang="en-GB" sz="32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5E5E5E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Helvetica Neue"/>
                          </a:rPr>
                          <m:t>𝑥</m:t>
                        </m:r>
                      </m:oMath>
                    </m:oMathPara>
                  </a14:m>
                  <a:endParaRPr kumimoji="0" lang="en-GB" sz="3200" b="0" i="0" u="none" strike="noStrike" cap="none" spc="0" normalizeH="0" baseline="0">
                    <a:ln>
                      <a:noFill/>
                    </a:ln>
                    <a:solidFill>
                      <a:srgbClr val="5E5E5E"/>
                    </a:solidFill>
                    <a:effectLst/>
                    <a:uFillTx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ACF19DDB-735C-1461-3B37-D364FEB605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04598" y="8560644"/>
                  <a:ext cx="589520" cy="492443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477C9CB7-07A0-B72D-6954-605E8F304284}"/>
                </a:ext>
              </a:extLst>
            </p:cNvPr>
            <p:cNvSpPr txBox="1"/>
            <p:nvPr/>
          </p:nvSpPr>
          <p:spPr>
            <a:xfrm>
              <a:off x="7294947" y="5232270"/>
              <a:ext cx="522579" cy="4719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GB" sz="2400" b="0" i="0" u="none" strike="noStrike" cap="none" spc="0" normalizeH="0" baseline="0" err="1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i</a:t>
              </a:r>
              <a:r>
                <a:rPr kumimoji="0" lang="en-GB" sz="24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=0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66215D42-2B39-7DA3-CC09-0A3CB614987F}"/>
                </a:ext>
              </a:extLst>
            </p:cNvPr>
            <p:cNvSpPr txBox="1"/>
            <p:nvPr/>
          </p:nvSpPr>
          <p:spPr>
            <a:xfrm>
              <a:off x="9247338" y="5232270"/>
              <a:ext cx="522579" cy="4719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GB" sz="2400" b="0" i="0" u="none" strike="noStrike" cap="none" spc="0" normalizeH="0" baseline="0" err="1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i</a:t>
              </a:r>
              <a:r>
                <a:rPr kumimoji="0" lang="en-GB" sz="24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=1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7488D98D-54C3-538E-CC1E-9066CADF5831}"/>
                </a:ext>
              </a:extLst>
            </p:cNvPr>
            <p:cNvSpPr txBox="1"/>
            <p:nvPr/>
          </p:nvSpPr>
          <p:spPr>
            <a:xfrm>
              <a:off x="11277810" y="5232270"/>
              <a:ext cx="522579" cy="4719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GB" sz="2400" b="0" i="0" u="none" strike="noStrike" cap="none" spc="0" normalizeH="0" baseline="0" err="1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i</a:t>
              </a:r>
              <a:r>
                <a:rPr kumimoji="0" lang="en-GB" sz="24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=2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C1AD594B-4FB3-F47D-5106-4FDD68FF247B}"/>
                </a:ext>
              </a:extLst>
            </p:cNvPr>
            <p:cNvSpPr txBox="1"/>
            <p:nvPr/>
          </p:nvSpPr>
          <p:spPr>
            <a:xfrm>
              <a:off x="13070557" y="5232270"/>
              <a:ext cx="796693" cy="4719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GB" sz="2400" b="0" i="0" u="none" strike="noStrike" cap="none" spc="0" normalizeH="0" baseline="0" err="1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i</a:t>
              </a:r>
              <a:r>
                <a:rPr kumimoji="0" lang="en-GB" sz="24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=n-2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E9B33EC2-8B9F-AFF5-39F6-D48998CB82F9}"/>
                </a:ext>
              </a:extLst>
            </p:cNvPr>
            <p:cNvSpPr txBox="1"/>
            <p:nvPr/>
          </p:nvSpPr>
          <p:spPr>
            <a:xfrm>
              <a:off x="15051757" y="5223951"/>
              <a:ext cx="796693" cy="4719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GB" sz="2400" b="0" i="0" u="none" strike="noStrike" cap="none" spc="0" normalizeH="0" baseline="0" err="1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i</a:t>
              </a:r>
              <a:r>
                <a:rPr kumimoji="0" lang="en-GB" sz="24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=n-1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45F6D6CD-ACB0-A024-B63E-E4464B489544}"/>
                    </a:ext>
                  </a:extLst>
                </p:cNvPr>
                <p:cNvSpPr txBox="1"/>
                <p:nvPr/>
              </p:nvSpPr>
              <p:spPr>
                <a:xfrm rot="5400000">
                  <a:off x="12243661" y="4354104"/>
                  <a:ext cx="519373" cy="61555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ctr">
                  <a:spAutoFit/>
                </a:bodyPr>
                <a:lstStyle/>
                <a:p>
                  <a:pPr marL="0" marR="0" indent="0" algn="ctr" defTabSz="2438338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GB" sz="4000" b="1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tx1">
                                <a:lumMod val="75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Helvetica Neue"/>
                          </a:rPr>
                          <m:t>≈</m:t>
                        </m:r>
                      </m:oMath>
                    </m:oMathPara>
                  </a14:m>
                  <a:endParaRPr kumimoji="0" lang="en-GB" sz="3200" b="1" i="0" u="none" strike="noStrike" cap="none" spc="0" normalizeH="0" baseline="0">
                    <a:ln>
                      <a:noFill/>
                    </a:ln>
                    <a:solidFill>
                      <a:schemeClr val="tx1">
                        <a:lumMod val="75000"/>
                      </a:schemeClr>
                    </a:solidFill>
                    <a:effectLst/>
                    <a:uFillTx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45F6D6CD-ACB0-A024-B63E-E4464B4895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12243661" y="4354104"/>
                  <a:ext cx="519373" cy="615553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78AEEC31-F7A4-D7E6-CD58-776093EAC7A8}"/>
                    </a:ext>
                  </a:extLst>
                </p:cNvPr>
                <p:cNvSpPr txBox="1"/>
                <p:nvPr/>
              </p:nvSpPr>
              <p:spPr>
                <a:xfrm rot="5400000">
                  <a:off x="12243659" y="7118910"/>
                  <a:ext cx="519373" cy="61555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ctr">
                  <a:spAutoFit/>
                </a:bodyPr>
                <a:lstStyle/>
                <a:p>
                  <a:pPr marL="0" marR="0" indent="0" algn="ctr" defTabSz="2438338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GB" sz="4000" b="1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tx1">
                                <a:lumMod val="75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Helvetica Neue"/>
                          </a:rPr>
                          <m:t>≈</m:t>
                        </m:r>
                      </m:oMath>
                    </m:oMathPara>
                  </a14:m>
                  <a:endParaRPr kumimoji="0" lang="en-GB" sz="3200" b="1" i="0" u="none" strike="noStrike" cap="none" spc="0" normalizeH="0" baseline="0">
                    <a:ln>
                      <a:noFill/>
                    </a:ln>
                    <a:solidFill>
                      <a:schemeClr val="tx1">
                        <a:lumMod val="75000"/>
                      </a:schemeClr>
                    </a:solidFill>
                    <a:effectLst/>
                    <a:uFillTx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78AEEC31-F7A4-D7E6-CD58-776093EAC7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12243659" y="7118910"/>
                  <a:ext cx="519373" cy="615553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39B1B403-42AE-3D6D-820D-C1B7D5433F97}"/>
                </a:ext>
              </a:extLst>
            </p:cNvPr>
            <p:cNvSpPr txBox="1"/>
            <p:nvPr/>
          </p:nvSpPr>
          <p:spPr>
            <a:xfrm>
              <a:off x="17170014" y="5185933"/>
              <a:ext cx="522579" cy="4719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GB" sz="2400" b="0" i="0" u="none" strike="noStrike" cap="none" spc="0" normalizeH="0" baseline="0" err="1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i</a:t>
              </a:r>
              <a:r>
                <a:rPr kumimoji="0" lang="en-GB" sz="24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=n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663FD373-5491-55F3-B6EA-669D729DC19A}"/>
                    </a:ext>
                  </a:extLst>
                </p:cNvPr>
                <p:cNvSpPr txBox="1"/>
                <p:nvPr/>
              </p:nvSpPr>
              <p:spPr>
                <a:xfrm>
                  <a:off x="8230504" y="7426687"/>
                  <a:ext cx="728469" cy="69147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ctr">
                  <a:spAutoFit/>
                </a:bodyPr>
                <a:lstStyle/>
                <a:p>
                  <a:pPr marL="0" marR="0" indent="0" algn="ctr" defTabSz="2438338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GB" sz="24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5E5E5E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  <m:r>
                          <a:rPr kumimoji="0" lang="en-GB" sz="24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5E5E5E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+</m:t>
                        </m:r>
                        <m:f>
                          <m:fPr>
                            <m:ctrlPr>
                              <a:rPr kumimoji="0" lang="en-GB" sz="24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5E5E5E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Helvetica Neue"/>
                              </a:rPr>
                            </m:ctrlPr>
                          </m:fPr>
                          <m:num>
                            <m:r>
                              <a:rPr kumimoji="0" lang="en-GB" sz="24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5E5E5E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Helvetica Neue"/>
                              </a:rPr>
                              <m:t>1</m:t>
                            </m:r>
                          </m:num>
                          <m:den>
                            <m:r>
                              <a:rPr kumimoji="0" lang="en-GB" sz="24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5E5E5E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Helvetica Neue"/>
                              </a:rPr>
                              <m:t>2</m:t>
                            </m:r>
                          </m:den>
                        </m:f>
                      </m:oMath>
                    </m:oMathPara>
                  </a14:m>
                  <a:endParaRPr kumimoji="0" lang="en-GB" sz="2400" b="0" i="0" u="none" strike="noStrike" cap="none" spc="0" normalizeH="0" baseline="0">
                    <a:ln>
                      <a:noFill/>
                    </a:ln>
                    <a:solidFill>
                      <a:srgbClr val="5E5E5E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663FD373-5491-55F3-B6EA-669D729DC1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0504" y="7426687"/>
                  <a:ext cx="728469" cy="691471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19A642D8-9FCA-0084-C58D-4E3CCC80FA56}"/>
              </a:ext>
            </a:extLst>
          </p:cNvPr>
          <p:cNvGrpSpPr/>
          <p:nvPr/>
        </p:nvGrpSpPr>
        <p:grpSpPr>
          <a:xfrm>
            <a:off x="7800688" y="10005147"/>
            <a:ext cx="9947879" cy="1232427"/>
            <a:chOff x="3455435" y="9311003"/>
            <a:chExt cx="9947879" cy="123242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6D58596-47B2-EDEA-4F3C-E6E29FE8A676}"/>
                </a:ext>
              </a:extLst>
            </p:cNvPr>
            <p:cNvSpPr txBox="1"/>
            <p:nvPr/>
          </p:nvSpPr>
          <p:spPr>
            <a:xfrm>
              <a:off x="3455435" y="9868553"/>
              <a:ext cx="3571743" cy="674877"/>
            </a:xfrm>
            <a:prstGeom prst="rect">
              <a:avLst/>
            </a:prstGeom>
            <a:solidFill>
              <a:schemeClr val="accent5">
                <a:lumMod val="75000"/>
                <a:alpha val="32157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CF42D1E-2D0D-E467-49C2-9A6D409647FC}"/>
                </a:ext>
              </a:extLst>
            </p:cNvPr>
            <p:cNvSpPr txBox="1"/>
            <p:nvPr/>
          </p:nvSpPr>
          <p:spPr>
            <a:xfrm>
              <a:off x="3480621" y="9892806"/>
              <a:ext cx="3546558" cy="59503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GB" sz="3200" b="0" i="0" u="none" strike="noStrike" cap="none" spc="0" normalizeH="0" baseline="0">
                  <a:ln>
                    <a:noFill/>
                  </a:ln>
                  <a:solidFill>
                    <a:schemeClr val="tx1">
                      <a:lumMod val="50000"/>
                    </a:schemeClr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Initial condition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232445F-D881-51B6-E085-627DE739E78A}"/>
                </a:ext>
              </a:extLst>
            </p:cNvPr>
            <p:cNvSpPr txBox="1"/>
            <p:nvPr/>
          </p:nvSpPr>
          <p:spPr>
            <a:xfrm>
              <a:off x="4539565" y="9311003"/>
              <a:ext cx="102656" cy="8412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F2CD5FEE-EE91-4704-2536-C95520DEF8E0}"/>
                </a:ext>
              </a:extLst>
            </p:cNvPr>
            <p:cNvCxnSpPr>
              <a:cxnSpLocks/>
            </p:cNvCxnSpPr>
            <p:nvPr/>
          </p:nvCxnSpPr>
          <p:spPr>
            <a:xfrm>
              <a:off x="7341243" y="10210471"/>
              <a:ext cx="1085850" cy="0"/>
            </a:xfrm>
            <a:prstGeom prst="straightConnector1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E0F0A042-5D5D-46EC-A879-C79142289B99}"/>
                    </a:ext>
                  </a:extLst>
                </p:cNvPr>
                <p:cNvSpPr txBox="1"/>
                <p:nvPr/>
              </p:nvSpPr>
              <p:spPr>
                <a:xfrm>
                  <a:off x="8774546" y="9964250"/>
                  <a:ext cx="4628768" cy="49244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GB" sz="32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Helvetica Neue"/>
                              </a:rPr>
                            </m:ctrlPr>
                          </m:sSubPr>
                          <m:e>
                            <m:r>
                              <a:rPr kumimoji="0" lang="en-GB" sz="32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Helvetica Neue"/>
                              </a:rPr>
                              <m:t>𝑐</m:t>
                            </m:r>
                            <m:r>
                              <a:rPr kumimoji="0" lang="en-GB" sz="32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Helvetica Neue"/>
                              </a:rPr>
                              <m:t>(</m:t>
                            </m:r>
                            <m:r>
                              <a:rPr kumimoji="0" lang="en-GB" sz="32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Helvetica Neue"/>
                              </a:rPr>
                              <m:t>𝑡</m:t>
                            </m:r>
                            <m:r>
                              <a:rPr kumimoji="0" lang="en-GB" sz="32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Helvetica Neue"/>
                              </a:rPr>
                              <m:t>=0,</m:t>
                            </m:r>
                            <m:r>
                              <a:rPr kumimoji="0" lang="en-GB" sz="32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Helvetica Neue"/>
                              </a:rPr>
                              <m:t>𝑥</m:t>
                            </m:r>
                            <m:r>
                              <a:rPr kumimoji="0" lang="en-GB" sz="32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Helvetica Neue"/>
                              </a:rPr>
                              <m:t>)</m:t>
                            </m:r>
                          </m:e>
                          <m:sub/>
                        </m:sSub>
                        <m:r>
                          <a:rPr kumimoji="0" lang="en-GB" sz="32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tx1">
                                <a:lumMod val="5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=0</m:t>
                        </m:r>
                        <m:r>
                          <a:rPr kumimoji="0" lang="en-US" sz="32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tx1">
                                <a:lumMod val="5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320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mol</m:t>
                        </m:r>
                        <m:r>
                          <a:rPr lang="en-US" sz="320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3200" i="1"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3200"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  <m:sup>
                            <m:r>
                              <a:rPr lang="en-US" sz="3200"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−3</m:t>
                            </m:r>
                          </m:sup>
                        </m:sSup>
                      </m:oMath>
                    </m:oMathPara>
                  </a14:m>
                  <a:endParaRPr kumimoji="0" lang="en-GB" sz="3200" b="0" i="0" u="none" strike="noStrike" cap="none" spc="0" normalizeH="0" baseline="0">
                    <a:ln>
                      <a:noFill/>
                    </a:ln>
                    <a:solidFill>
                      <a:schemeClr val="tx1">
                        <a:lumMod val="50000"/>
                      </a:schemeClr>
                    </a:solidFill>
                    <a:effectLst/>
                    <a:uFillTx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E0F0A042-5D5D-46EC-A879-C79142289B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74546" y="9964250"/>
                  <a:ext cx="4628768" cy="492443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6" name="Rectangle 75">
            <a:extLst>
              <a:ext uri="{FF2B5EF4-FFF2-40B4-BE49-F238E27FC236}">
                <a16:creationId xmlns:a16="http://schemas.microsoft.com/office/drawing/2014/main" id="{ABB8EB6A-79F6-C004-4092-EDC52DD4566D}"/>
              </a:ext>
            </a:extLst>
          </p:cNvPr>
          <p:cNvSpPr/>
          <p:nvPr/>
        </p:nvSpPr>
        <p:spPr>
          <a:xfrm>
            <a:off x="9557139" y="6128166"/>
            <a:ext cx="2012186" cy="2737681"/>
          </a:xfrm>
          <a:prstGeom prst="rect">
            <a:avLst/>
          </a:prstGeom>
          <a:noFill/>
          <a:ln w="57150" cap="flat">
            <a:solidFill>
              <a:schemeClr val="tx2">
                <a:lumMod val="75000"/>
              </a:schemeClr>
            </a:solidFill>
            <a:prstDash val="sysDot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7" name="Flowchart: Connector 76">
            <a:extLst>
              <a:ext uri="{FF2B5EF4-FFF2-40B4-BE49-F238E27FC236}">
                <a16:creationId xmlns:a16="http://schemas.microsoft.com/office/drawing/2014/main" id="{491B71FE-17F0-B574-D126-9C589F05293A}"/>
              </a:ext>
            </a:extLst>
          </p:cNvPr>
          <p:cNvSpPr/>
          <p:nvPr/>
        </p:nvSpPr>
        <p:spPr>
          <a:xfrm>
            <a:off x="10435564" y="7380325"/>
            <a:ext cx="228600" cy="233363"/>
          </a:xfrm>
          <a:prstGeom prst="flowChartConnector">
            <a:avLst/>
          </a:prstGeom>
          <a:solidFill>
            <a:schemeClr val="accent3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265E9F1-6A2E-56FE-37AD-F1D334EDBF10}"/>
              </a:ext>
            </a:extLst>
          </p:cNvPr>
          <p:cNvSpPr txBox="1"/>
          <p:nvPr/>
        </p:nvSpPr>
        <p:spPr>
          <a:xfrm>
            <a:off x="10303827" y="6764816"/>
            <a:ext cx="668453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2400" b="0" i="0" u="none" strike="noStrike" cap="none" spc="0" normalizeH="0" baseline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inlet</a:t>
            </a: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FAA5218F-FF2C-2FA8-3CA0-D767E6F1F3DD}"/>
              </a:ext>
            </a:extLst>
          </p:cNvPr>
          <p:cNvGrpSpPr/>
          <p:nvPr/>
        </p:nvGrpSpPr>
        <p:grpSpPr>
          <a:xfrm>
            <a:off x="7695233" y="11622231"/>
            <a:ext cx="9581077" cy="1417311"/>
            <a:chOff x="7695233" y="11639723"/>
            <a:chExt cx="9581077" cy="1417311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F7E15B3B-2D64-C07C-5689-7BC6F78319C9}"/>
                </a:ext>
              </a:extLst>
            </p:cNvPr>
            <p:cNvSpPr txBox="1"/>
            <p:nvPr/>
          </p:nvSpPr>
          <p:spPr>
            <a:xfrm>
              <a:off x="7735343" y="11986750"/>
              <a:ext cx="3856584" cy="674877"/>
            </a:xfrm>
            <a:prstGeom prst="rect">
              <a:avLst/>
            </a:prstGeom>
            <a:solidFill>
              <a:srgbClr val="92D050">
                <a:alpha val="32157"/>
              </a:srgb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2E852E91-89CE-C28D-EDBA-317565DA8F41}"/>
                </a:ext>
              </a:extLst>
            </p:cNvPr>
            <p:cNvGrpSpPr/>
            <p:nvPr/>
          </p:nvGrpSpPr>
          <p:grpSpPr>
            <a:xfrm>
              <a:off x="7695233" y="11639723"/>
              <a:ext cx="9581077" cy="1417311"/>
              <a:chOff x="7447325" y="11432616"/>
              <a:chExt cx="9581077" cy="1417311"/>
            </a:xfrm>
          </p:grpSpPr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1E314CD-0ACD-161A-C4E3-1FE37A32CA4C}"/>
                  </a:ext>
                </a:extLst>
              </p:cNvPr>
              <p:cNvSpPr txBox="1"/>
              <p:nvPr/>
            </p:nvSpPr>
            <p:spPr>
              <a:xfrm>
                <a:off x="15780353" y="11647506"/>
                <a:ext cx="1097280" cy="457200"/>
              </a:xfrm>
              <a:prstGeom prst="rect">
                <a:avLst/>
              </a:prstGeom>
              <a:solidFill>
                <a:srgbClr val="92D050">
                  <a:alpha val="32157"/>
                </a:srgbClr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3E4C3F93-2F5C-22CC-19AD-A95A6CBFBF8E}"/>
                      </a:ext>
                    </a:extLst>
                  </p:cNvPr>
                  <p:cNvSpPr txBox="1"/>
                  <p:nvPr/>
                </p:nvSpPr>
                <p:spPr>
                  <a:xfrm>
                    <a:off x="12632903" y="11432616"/>
                    <a:ext cx="4395499" cy="1417311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none" lIns="0" tIns="0" rIns="0" bIns="0" numCol="1" spcCol="38100" rtlCol="0" anchor="ctr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GB" sz="3900" i="1" smtClean="0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"/>
                                  <m:endChr m:val="|"/>
                                  <m:ctrlPr>
                                    <a:rPr lang="en-GB" sz="3900" i="1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GB" sz="3900" i="1">
                                          <a:solidFill>
                                            <a:schemeClr val="tx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3900" b="0" i="1" smtClean="0">
                                          <a:solidFill>
                                            <a:schemeClr val="tx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  <m:r>
                                        <a:rPr lang="en-GB" sz="3900" i="1">
                                          <a:solidFill>
                                            <a:schemeClr val="tx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num>
                                    <m:den>
                                      <m:r>
                                        <a:rPr lang="en-GB" sz="3900" b="0" i="1" smtClean="0">
                                          <a:solidFill>
                                            <a:schemeClr val="tx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𝑑𝑥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b>
                              <m:r>
                                <a:rPr lang="en-GB" sz="3900" i="1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3900" i="1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</m:sSub>
                          <m:r>
                            <a:rPr lang="en-GB" sz="3900" i="1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≈</m:t>
                          </m:r>
                          <m:f>
                            <m:fPr>
                              <m:ctrlP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kumimoji="0" lang="en-GB" sz="3900" b="0" i="1" u="none" strike="noStrike" cap="none" spc="0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sym typeface="Helvetica Neue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GB" sz="3900" b="0" i="1" u="none" strike="noStrike" cap="none" spc="0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sym typeface="Helvetica Neue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kumimoji="0" lang="en-GB" sz="3900" b="0" i="1" u="none" strike="noStrike" cap="none" spc="0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sym typeface="Helvetica Neue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kumimoji="0" lang="en-GB" sz="3900" b="0" i="1" u="none" strike="noStrike" cap="none" spc="0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sym typeface="Helvetica Neue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GB" sz="3900" b="0" i="1" u="none" strike="noStrike" cap="none" spc="0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sym typeface="Helvetica Neue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kumimoji="0" lang="en-US" sz="3900" b="0" i="0" u="none" strike="noStrike" cap="none" spc="0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sym typeface="Helvetica Neue"/>
                                    </a:rPr>
                                    <m:t>inlet</m:t>
                                  </m:r>
                                </m:sub>
                              </m:sSub>
                            </m:num>
                            <m:den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Helvetica Neue"/>
                                </a:rPr>
                                <m:t>∆</m:t>
                              </m:r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Helvetica Neue"/>
                                </a:rPr>
                                <m:t>𝑥</m:t>
                              </m:r>
                            </m:den>
                          </m:f>
                        </m:oMath>
                      </m:oMathPara>
                    </a14:m>
                    <a:endParaRPr kumimoji="0" lang="en-GB" sz="3900" b="0" i="0" u="none" strike="noStrike" cap="none" spc="0" normalizeH="0" baseline="0">
                      <a:ln>
                        <a:noFill/>
                      </a:ln>
                      <a:solidFill>
                        <a:srgbClr val="5E5E5E"/>
                      </a:solidFill>
                      <a:effectLst/>
                      <a:uFillTx/>
                      <a:sym typeface="Helvetica Neue"/>
                    </a:endParaRPr>
                  </a:p>
                </p:txBody>
              </p:sp>
            </mc:Choice>
            <mc:Fallback xmlns="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3E4C3F93-2F5C-22CC-19AD-A95A6CBFBF8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632903" y="11432616"/>
                    <a:ext cx="4395499" cy="1417311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892995D3-DF1E-51C8-BDE6-0900A7B9C342}"/>
                  </a:ext>
                </a:extLst>
              </p:cNvPr>
              <p:cNvSpPr txBox="1"/>
              <p:nvPr/>
            </p:nvSpPr>
            <p:spPr>
              <a:xfrm>
                <a:off x="7447325" y="11878888"/>
                <a:ext cx="3924151" cy="53347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GB" sz="2800" i="0" u="none" strike="noStrike" cap="none" spc="0" normalizeH="0" baseline="0">
                    <a:ln>
                      <a:noFill/>
                    </a:ln>
                    <a:solidFill>
                      <a:schemeClr val="tx1">
                        <a:lumMod val="50000"/>
                      </a:schemeClr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rPr>
                  <a:t>Inlet boundary condition</a:t>
                </a:r>
              </a:p>
            </p:txBody>
          </p:sp>
        </p:grp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A239D751-EC00-1172-A9A4-31F541184AE0}"/>
                </a:ext>
              </a:extLst>
            </p:cNvPr>
            <p:cNvCxnSpPr>
              <a:cxnSpLocks/>
            </p:cNvCxnSpPr>
            <p:nvPr/>
          </p:nvCxnSpPr>
          <p:spPr>
            <a:xfrm>
              <a:off x="11819846" y="12371465"/>
              <a:ext cx="900000" cy="0"/>
            </a:xfrm>
            <a:prstGeom prst="straightConnector1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21E1532B-6582-9E67-C049-81F51D00BA67}"/>
              </a:ext>
            </a:extLst>
          </p:cNvPr>
          <p:cNvGrpSpPr/>
          <p:nvPr/>
        </p:nvGrpSpPr>
        <p:grpSpPr>
          <a:xfrm>
            <a:off x="160623" y="3820967"/>
            <a:ext cx="7125496" cy="6852921"/>
            <a:chOff x="160623" y="3820967"/>
            <a:chExt cx="7125496" cy="6852921"/>
          </a:xfrm>
        </p:grpSpPr>
        <p:pic>
          <p:nvPicPr>
            <p:cNvPr id="8" name="Picture 7" descr="A graph of a function&#10;&#10;AI-generated content may be incorrect.">
              <a:extLst>
                <a:ext uri="{FF2B5EF4-FFF2-40B4-BE49-F238E27FC236}">
                  <a16:creationId xmlns:a16="http://schemas.microsoft.com/office/drawing/2014/main" id="{BFED6659-4CB1-7937-4A3A-1157F283BC5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60623" y="3820967"/>
              <a:ext cx="6842119" cy="6842119"/>
            </a:xfrm>
            <a:prstGeom prst="rect">
              <a:avLst/>
            </a:prstGeom>
          </p:spPr>
        </p:pic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31347BE7-7A0B-C79B-6574-F957356F3BD4}"/>
                </a:ext>
              </a:extLst>
            </p:cNvPr>
            <p:cNvGrpSpPr/>
            <p:nvPr/>
          </p:nvGrpSpPr>
          <p:grpSpPr>
            <a:xfrm>
              <a:off x="398526" y="4465806"/>
              <a:ext cx="6887593" cy="5918886"/>
              <a:chOff x="407453" y="5433188"/>
              <a:chExt cx="6887593" cy="5918886"/>
            </a:xfrm>
          </p:grpSpPr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FEEDD949-9B23-691C-E339-0091984F2A0F}"/>
                  </a:ext>
                </a:extLst>
              </p:cNvPr>
              <p:cNvSpPr txBox="1"/>
              <p:nvPr/>
            </p:nvSpPr>
            <p:spPr>
              <a:xfrm>
                <a:off x="899983" y="5433188"/>
                <a:ext cx="1337891" cy="859327"/>
              </a:xfrm>
              <a:prstGeom prst="rect">
                <a:avLst/>
              </a:prstGeom>
              <a:solidFill>
                <a:schemeClr val="bg1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GB" sz="24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9D68986B-CB6C-77ED-B727-ABF9B3A449D1}"/>
                  </a:ext>
                </a:extLst>
              </p:cNvPr>
              <p:cNvSpPr txBox="1"/>
              <p:nvPr/>
            </p:nvSpPr>
            <p:spPr>
              <a:xfrm>
                <a:off x="5673778" y="10492747"/>
                <a:ext cx="1337891" cy="859327"/>
              </a:xfrm>
              <a:prstGeom prst="rect">
                <a:avLst/>
              </a:prstGeom>
              <a:solidFill>
                <a:schemeClr val="bg1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GB" sz="24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878F9213-E44B-8EF4-C01A-F00F62A9435A}"/>
                  </a:ext>
                </a:extLst>
              </p:cNvPr>
              <p:cNvSpPr/>
              <p:nvPr/>
            </p:nvSpPr>
            <p:spPr>
              <a:xfrm>
                <a:off x="3830641" y="8588501"/>
                <a:ext cx="163244" cy="172045"/>
              </a:xfrm>
              <a:prstGeom prst="ellipse">
                <a:avLst/>
              </a:prstGeom>
              <a:solidFill>
                <a:srgbClr val="7030A0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GB" sz="3200" b="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0742AA3E-EADA-9FE6-70D2-684D0840003C}"/>
                  </a:ext>
                </a:extLst>
              </p:cNvPr>
              <p:cNvSpPr/>
              <p:nvPr/>
            </p:nvSpPr>
            <p:spPr>
              <a:xfrm>
                <a:off x="2614199" y="9114146"/>
                <a:ext cx="163244" cy="172045"/>
              </a:xfrm>
              <a:prstGeom prst="ellipse">
                <a:avLst/>
              </a:prstGeom>
              <a:solidFill>
                <a:srgbClr val="7030A0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GB" sz="3200" b="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CA94E796-3D90-FD75-86A9-4B275CCA80AC}"/>
                  </a:ext>
                </a:extLst>
              </p:cNvPr>
              <p:cNvSpPr/>
              <p:nvPr/>
            </p:nvSpPr>
            <p:spPr>
              <a:xfrm>
                <a:off x="5004045" y="7782815"/>
                <a:ext cx="163244" cy="172045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GB" sz="3200" b="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58CB39BD-BB75-4E34-5235-7D49F230F4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96568" y="9274159"/>
                <a:ext cx="0" cy="940650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dash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6E6265A3-E499-B311-52D2-9D0FC890063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888795" y="8760546"/>
                <a:ext cx="23468" cy="1454263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dash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A5C0A22D-EE82-4446-8732-0282F72063A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85667" y="7958547"/>
                <a:ext cx="0" cy="2256262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dash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B8965611-16F2-A481-DB2B-6439621FA8B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813047" y="7517693"/>
                <a:ext cx="4361676" cy="2256669"/>
              </a:xfrm>
              <a:prstGeom prst="line">
                <a:avLst/>
              </a:prstGeom>
              <a:noFill/>
              <a:ln w="57150" cap="flat">
                <a:solidFill>
                  <a:schemeClr val="accent1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9DC8ACD6-062B-57F0-31E8-606906F9584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552161" y="7830479"/>
                <a:ext cx="4410385" cy="1857803"/>
              </a:xfrm>
              <a:prstGeom prst="line">
                <a:avLst/>
              </a:prstGeom>
              <a:noFill/>
              <a:ln w="57150" cap="flat">
                <a:solidFill>
                  <a:srgbClr val="7030A0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2" name="TextBox 91">
                    <a:extLst>
                      <a:ext uri="{FF2B5EF4-FFF2-40B4-BE49-F238E27FC236}">
                        <a16:creationId xmlns:a16="http://schemas.microsoft.com/office/drawing/2014/main" id="{699674CB-A290-9696-D67B-1C7AAA054D90}"/>
                      </a:ext>
                    </a:extLst>
                  </p:cNvPr>
                  <p:cNvSpPr txBox="1"/>
                  <p:nvPr/>
                </p:nvSpPr>
                <p:spPr>
                  <a:xfrm>
                    <a:off x="407453" y="6231323"/>
                    <a:ext cx="886268" cy="492443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none" lIns="0" tIns="0" rIns="0" bIns="0" numCol="1" spcCol="38100" rtlCol="0" anchor="ctr">
                    <a:spAutoFit/>
                  </a:bodyPr>
                  <a:lstStyle/>
                  <a:p>
                    <a:pPr marL="0" marR="0" indent="0" algn="ctr" defTabSz="2438338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GB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𝑐</m:t>
                          </m:r>
                          <m:r>
                            <a:rPr kumimoji="0" lang="en-GB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(</m:t>
                          </m:r>
                          <m:r>
                            <a:rPr kumimoji="0" lang="en-GB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𝑥</m:t>
                          </m:r>
                          <m:r>
                            <a:rPr kumimoji="0" lang="en-GB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)</m:t>
                          </m:r>
                        </m:oMath>
                      </m:oMathPara>
                    </a14:m>
                    <a:endParaRPr kumimoji="0" lang="en-GB" sz="3200" b="0" i="0" u="none" strike="noStrike" cap="none" spc="0" normalizeH="0" baseline="0">
                      <a:ln>
                        <a:noFill/>
                      </a:ln>
                      <a:solidFill>
                        <a:schemeClr val="bg2">
                          <a:lumMod val="10000"/>
                        </a:schemeClr>
                      </a:solidFill>
                      <a:effectLst/>
                      <a:uFillTx/>
                      <a:ea typeface="+mn-ea"/>
                      <a:cs typeface="+mn-cs"/>
                      <a:sym typeface="Helvetica Neue"/>
                    </a:endParaRPr>
                  </a:p>
                </p:txBody>
              </p:sp>
            </mc:Choice>
            <mc:Fallback xmlns="">
              <p:sp>
                <p:nvSpPr>
                  <p:cNvPr id="92" name="TextBox 91">
                    <a:extLst>
                      <a:ext uri="{FF2B5EF4-FFF2-40B4-BE49-F238E27FC236}">
                        <a16:creationId xmlns:a16="http://schemas.microsoft.com/office/drawing/2014/main" id="{699674CB-A290-9696-D67B-1C7AAA054D9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7453" y="6231323"/>
                    <a:ext cx="886268" cy="492443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3" name="TextBox 92">
                    <a:extLst>
                      <a:ext uri="{FF2B5EF4-FFF2-40B4-BE49-F238E27FC236}">
                        <a16:creationId xmlns:a16="http://schemas.microsoft.com/office/drawing/2014/main" id="{81A42331-790A-AFEA-AAF8-E277217B2A23}"/>
                      </a:ext>
                    </a:extLst>
                  </p:cNvPr>
                  <p:cNvSpPr txBox="1"/>
                  <p:nvPr/>
                </p:nvSpPr>
                <p:spPr>
                  <a:xfrm>
                    <a:off x="6005114" y="10292644"/>
                    <a:ext cx="344261" cy="492443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none" lIns="0" tIns="0" rIns="0" bIns="0" numCol="1" spcCol="38100" rtlCol="0" anchor="ctr">
                    <a:spAutoFit/>
                  </a:bodyPr>
                  <a:lstStyle/>
                  <a:p>
                    <a:pPr marL="0" marR="0" indent="0" algn="ctr" defTabSz="2438338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GB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𝑥</m:t>
                          </m:r>
                        </m:oMath>
                      </m:oMathPara>
                    </a14:m>
                    <a:endParaRPr kumimoji="0" lang="en-GB" sz="3200" b="0" i="0" u="none" strike="noStrike" cap="none" spc="0" normalizeH="0" baseline="0">
                      <a:ln>
                        <a:noFill/>
                      </a:ln>
                      <a:solidFill>
                        <a:schemeClr val="bg2">
                          <a:lumMod val="10000"/>
                        </a:schemeClr>
                      </a:solidFill>
                      <a:effectLst/>
                      <a:uFillTx/>
                      <a:ea typeface="+mn-ea"/>
                      <a:cs typeface="+mn-cs"/>
                      <a:sym typeface="Helvetica Neue"/>
                    </a:endParaRPr>
                  </a:p>
                </p:txBody>
              </p:sp>
            </mc:Choice>
            <mc:Fallback xmlns="">
              <p:sp>
                <p:nvSpPr>
                  <p:cNvPr id="93" name="TextBox 92">
                    <a:extLst>
                      <a:ext uri="{FF2B5EF4-FFF2-40B4-BE49-F238E27FC236}">
                        <a16:creationId xmlns:a16="http://schemas.microsoft.com/office/drawing/2014/main" id="{81A42331-790A-AFEA-AAF8-E277217B2A2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05114" y="10292644"/>
                    <a:ext cx="344261" cy="492443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4" name="TextBox 93">
                    <a:extLst>
                      <a:ext uri="{FF2B5EF4-FFF2-40B4-BE49-F238E27FC236}">
                        <a16:creationId xmlns:a16="http://schemas.microsoft.com/office/drawing/2014/main" id="{83469D8B-5F7B-3173-BD8A-1AB8776B3F45}"/>
                      </a:ext>
                    </a:extLst>
                  </p:cNvPr>
                  <p:cNvSpPr txBox="1"/>
                  <p:nvPr/>
                </p:nvSpPr>
                <p:spPr>
                  <a:xfrm>
                    <a:off x="3712268" y="10292644"/>
                    <a:ext cx="460960" cy="492443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none" lIns="0" tIns="0" rIns="0" bIns="0" numCol="1" spcCol="38100" rtlCol="0" anchor="ctr">
                    <a:spAutoFit/>
                  </a:bodyPr>
                  <a:lstStyle/>
                  <a:p>
                    <a:pPr marL="0" marR="0" indent="0" algn="ctr" defTabSz="2438338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en-GB" sz="3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7030A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</m:ctrlPr>
                            </m:sSubPr>
                            <m:e>
                              <m:r>
                                <a:rPr kumimoji="0" lang="en-GB" sz="3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7030A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GB" sz="3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7030A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  <m:t>𝑖</m:t>
                              </m:r>
                            </m:sub>
                          </m:sSub>
                        </m:oMath>
                      </m:oMathPara>
                    </a14:m>
                    <a:endParaRPr kumimoji="0" lang="en-GB" sz="3200" b="0" i="0" u="none" strike="noStrike" cap="none" spc="0" normalizeH="0" baseline="0">
                      <a:ln>
                        <a:noFill/>
                      </a:ln>
                      <a:solidFill>
                        <a:srgbClr val="7030A0"/>
                      </a:solidFill>
                      <a:effectLst/>
                      <a:uFillTx/>
                      <a:ea typeface="+mn-ea"/>
                      <a:cs typeface="+mn-cs"/>
                      <a:sym typeface="Helvetica Neue"/>
                    </a:endParaRPr>
                  </a:p>
                </p:txBody>
              </p:sp>
            </mc:Choice>
            <mc:Fallback xmlns="">
              <p:sp>
                <p:nvSpPr>
                  <p:cNvPr id="94" name="TextBox 93">
                    <a:extLst>
                      <a:ext uri="{FF2B5EF4-FFF2-40B4-BE49-F238E27FC236}">
                        <a16:creationId xmlns:a16="http://schemas.microsoft.com/office/drawing/2014/main" id="{83469D8B-5F7B-3173-BD8A-1AB8776B3F4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12268" y="10292644"/>
                    <a:ext cx="460960" cy="492443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5" name="TextBox 94">
                    <a:extLst>
                      <a:ext uri="{FF2B5EF4-FFF2-40B4-BE49-F238E27FC236}">
                        <a16:creationId xmlns:a16="http://schemas.microsoft.com/office/drawing/2014/main" id="{6B5ACC8D-26ED-6659-B9DE-24417993E088}"/>
                      </a:ext>
                    </a:extLst>
                  </p:cNvPr>
                  <p:cNvSpPr txBox="1"/>
                  <p:nvPr/>
                </p:nvSpPr>
                <p:spPr>
                  <a:xfrm>
                    <a:off x="4661863" y="10292644"/>
                    <a:ext cx="852093" cy="492443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none" lIns="0" tIns="0" rIns="0" bIns="0" numCol="1" spcCol="38100" rtlCol="0" anchor="ctr">
                    <a:spAutoFit/>
                  </a:bodyPr>
                  <a:lstStyle/>
                  <a:p>
                    <a:pPr marL="0" marR="0" indent="0" algn="ctr" defTabSz="2438338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en-GB" sz="3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</m:ctrlPr>
                            </m:sSubPr>
                            <m:e>
                              <m:r>
                                <a:rPr kumimoji="0" lang="en-GB" sz="3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GB" sz="3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  <m:t>𝑖</m:t>
                              </m:r>
                              <m:r>
                                <a:rPr kumimoji="0" lang="en-GB" sz="3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  <m:t>+1</m:t>
                              </m:r>
                            </m:sub>
                          </m:sSub>
                        </m:oMath>
                      </m:oMathPara>
                    </a14:m>
                    <a:endParaRPr kumimoji="0" lang="en-GB" sz="3200" b="0" i="0" u="none" strike="noStrike" cap="none" spc="0" normalizeH="0" baseline="0">
                      <a:ln>
                        <a:noFill/>
                      </a:ln>
                      <a:solidFill>
                        <a:schemeClr val="bg2">
                          <a:lumMod val="10000"/>
                        </a:schemeClr>
                      </a:solidFill>
                      <a:effectLst/>
                      <a:uFillTx/>
                      <a:ea typeface="+mn-ea"/>
                      <a:cs typeface="+mn-cs"/>
                      <a:sym typeface="Helvetica Neue"/>
                    </a:endParaRPr>
                  </a:p>
                </p:txBody>
              </p:sp>
            </mc:Choice>
            <mc:Fallback xmlns="">
              <p:sp>
                <p:nvSpPr>
                  <p:cNvPr id="95" name="TextBox 94">
                    <a:extLst>
                      <a:ext uri="{FF2B5EF4-FFF2-40B4-BE49-F238E27FC236}">
                        <a16:creationId xmlns:a16="http://schemas.microsoft.com/office/drawing/2014/main" id="{6B5ACC8D-26ED-6659-B9DE-24417993E08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61863" y="10292644"/>
                    <a:ext cx="852093" cy="492443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1" name="TextBox 100">
                    <a:extLst>
                      <a:ext uri="{FF2B5EF4-FFF2-40B4-BE49-F238E27FC236}">
                        <a16:creationId xmlns:a16="http://schemas.microsoft.com/office/drawing/2014/main" id="{4639EE92-2FE3-2C46-47BD-3B8D5DCDBB5E}"/>
                      </a:ext>
                    </a:extLst>
                  </p:cNvPr>
                  <p:cNvSpPr txBox="1"/>
                  <p:nvPr/>
                </p:nvSpPr>
                <p:spPr>
                  <a:xfrm>
                    <a:off x="2274822" y="10292644"/>
                    <a:ext cx="852093" cy="492443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none" lIns="0" tIns="0" rIns="0" bIns="0" numCol="1" spcCol="38100" rtlCol="0" anchor="ctr">
                    <a:spAutoFit/>
                  </a:bodyPr>
                  <a:lstStyle/>
                  <a:p>
                    <a:pPr marL="0" marR="0" indent="0" algn="ctr" defTabSz="2438338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en-GB" sz="3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7030A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</m:ctrlPr>
                            </m:sSubPr>
                            <m:e>
                              <m:r>
                                <a:rPr kumimoji="0" lang="en-GB" sz="3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7030A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GB" sz="3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7030A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  <m:t>𝑖</m:t>
                              </m:r>
                              <m:r>
                                <a:rPr kumimoji="0" lang="en-GB" sz="3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7030A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kumimoji="0" lang="en-GB" sz="3200" b="0" i="0" u="none" strike="noStrike" cap="none" spc="0" normalizeH="0" baseline="0">
                      <a:ln>
                        <a:noFill/>
                      </a:ln>
                      <a:solidFill>
                        <a:srgbClr val="7030A0"/>
                      </a:solidFill>
                      <a:effectLst/>
                      <a:uFillTx/>
                      <a:ea typeface="+mn-ea"/>
                      <a:cs typeface="+mn-cs"/>
                      <a:sym typeface="Helvetica Neue"/>
                    </a:endParaRPr>
                  </a:p>
                </p:txBody>
              </p:sp>
            </mc:Choice>
            <mc:Fallback xmlns="">
              <p:sp>
                <p:nvSpPr>
                  <p:cNvPr id="101" name="TextBox 100">
                    <a:extLst>
                      <a:ext uri="{FF2B5EF4-FFF2-40B4-BE49-F238E27FC236}">
                        <a16:creationId xmlns:a16="http://schemas.microsoft.com/office/drawing/2014/main" id="{4639EE92-2FE3-2C46-47BD-3B8D5DCDBB5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74822" y="10292644"/>
                    <a:ext cx="852093" cy="492443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03" name="Straight Arrow Connector 102">
                <a:extLst>
                  <a:ext uri="{FF2B5EF4-FFF2-40B4-BE49-F238E27FC236}">
                    <a16:creationId xmlns:a16="http://schemas.microsoft.com/office/drawing/2014/main" id="{928269E8-8F5C-F1D8-A58F-517A37FD63A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109800" y="7590611"/>
                <a:ext cx="493566" cy="711178"/>
              </a:xfrm>
              <a:prstGeom prst="straightConnector1">
                <a:avLst/>
              </a:prstGeom>
              <a:noFill/>
              <a:ln w="57150" cap="flat">
                <a:solidFill>
                  <a:srgbClr val="00B0F0"/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903FC25C-1E46-F47D-5CBC-D70EC8A69265}"/>
                  </a:ext>
                </a:extLst>
              </p:cNvPr>
              <p:cNvSpPr txBox="1"/>
              <p:nvPr/>
            </p:nvSpPr>
            <p:spPr>
              <a:xfrm>
                <a:off x="6153708" y="8277196"/>
                <a:ext cx="1141338" cy="96436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GB" sz="2800" b="1" i="0" u="none" strike="noStrike" cap="none" spc="0" normalizeH="0" baseline="0">
                    <a:ln>
                      <a:noFill/>
                    </a:ln>
                    <a:solidFill>
                      <a:srgbClr val="00B0F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rPr>
                  <a:t>True</a:t>
                </a:r>
              </a:p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GB" sz="2800" b="1" i="0" u="none" strike="noStrike" cap="none" spc="0" normalizeH="0" baseline="0">
                    <a:ln>
                      <a:noFill/>
                    </a:ln>
                    <a:solidFill>
                      <a:srgbClr val="00B0F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rPr>
                  <a:t> slope</a:t>
                </a:r>
              </a:p>
            </p:txBody>
          </p: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73AC3E15-FF62-9E0A-85E9-F578D80388B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667196" y="8443180"/>
                <a:ext cx="518915" cy="756988"/>
              </a:xfrm>
              <a:prstGeom prst="straightConnector1">
                <a:avLst/>
              </a:prstGeom>
              <a:noFill/>
              <a:ln w="57150" cap="flat">
                <a:solidFill>
                  <a:srgbClr val="7030A0"/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32835CF2-07EF-AE42-6CC7-21B78B1AECDF}"/>
                  </a:ext>
                </a:extLst>
              </p:cNvPr>
              <p:cNvSpPr txBox="1"/>
              <p:nvPr/>
            </p:nvSpPr>
            <p:spPr>
              <a:xfrm>
                <a:off x="3991561" y="9232127"/>
                <a:ext cx="2619307" cy="96436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GB" sz="2800" b="1" i="0" u="none" strike="noStrike" cap="none" spc="0" normalizeH="0" baseline="0">
                    <a:ln>
                      <a:noFill/>
                    </a:ln>
                    <a:solidFill>
                      <a:srgbClr val="7030A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rPr>
                  <a:t>Approximated </a:t>
                </a:r>
              </a:p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GB" sz="2800" b="1">
                    <a:solidFill>
                      <a:srgbClr val="7030A0"/>
                    </a:solidFill>
                  </a:rPr>
                  <a:t>slope</a:t>
                </a:r>
                <a:endParaRPr kumimoji="0" lang="en-GB" sz="2800" b="1" i="0" u="none" strike="noStrike" cap="none" spc="0" normalizeH="0" baseline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8FFE1805-96FC-1B42-1239-3C34D206CA3F}"/>
                    </a:ext>
                  </a:extLst>
                </p:cNvPr>
                <p:cNvSpPr txBox="1"/>
                <p:nvPr/>
              </p:nvSpPr>
              <p:spPr>
                <a:xfrm>
                  <a:off x="2715390" y="10181445"/>
                  <a:ext cx="1173405" cy="49244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0" tIns="0" rIns="0" bIns="0" numCol="1" spcCol="3810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3200" i="1" smtClean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GB" sz="3200" b="0" i="1" smtClean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kumimoji="0" lang="en-GB" sz="3200" b="0" i="0" u="none" strike="noStrike" cap="none" spc="0" normalizeH="0" baseline="0">
                    <a:ln>
                      <a:noFill/>
                    </a:ln>
                    <a:solidFill>
                      <a:srgbClr val="5E5E5E"/>
                    </a:solidFill>
                    <a:effectLst/>
                    <a:uFillTx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8FFE1805-96FC-1B42-1239-3C34D206CA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15390" y="10181445"/>
                  <a:ext cx="1173405" cy="492443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9E70D632-1503-FA43-64FF-898C9D0054C0}"/>
                </a:ext>
              </a:extLst>
            </p:cNvPr>
            <p:cNvCxnSpPr>
              <a:cxnSpLocks/>
            </p:cNvCxnSpPr>
            <p:nvPr/>
          </p:nvCxnSpPr>
          <p:spPr>
            <a:xfrm>
              <a:off x="2686894" y="10178716"/>
              <a:ext cx="1192974" cy="0"/>
            </a:xfrm>
            <a:prstGeom prst="straightConnector1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headEnd type="triangle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</p:spTree>
    <p:extLst>
      <p:ext uri="{BB962C8B-B14F-4D97-AF65-F5344CB8AC3E}">
        <p14:creationId xmlns:p14="http://schemas.microsoft.com/office/powerpoint/2010/main" val="3007325827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EC9DB-31CF-7B10-8E50-343D389F4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89A75D3F-A024-9527-EE26-C37ACABF496B}"/>
              </a:ext>
            </a:extLst>
          </p:cNvPr>
          <p:cNvSpPr/>
          <p:nvPr/>
        </p:nvSpPr>
        <p:spPr>
          <a:xfrm>
            <a:off x="3888795" y="246197"/>
            <a:ext cx="7994496" cy="923330"/>
          </a:xfrm>
          <a:prstGeom prst="rect">
            <a:avLst/>
          </a:prstGeom>
        </p:spPr>
        <p:txBody>
          <a:bodyPr wrap="none">
            <a:spAutoFit/>
          </a:bodyPr>
          <a:lstStyle>
            <a:defPPr marL="0" marR="0" indent="0" algn="l" defTabSz="18288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1pPr>
            <a:lvl2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2pPr>
            <a:lvl3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3pPr>
            <a:lvl4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4pPr>
            <a:lvl5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5pPr>
            <a:lvl6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6pPr>
            <a:lvl7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7pPr>
            <a:lvl8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8pPr>
            <a:lvl9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9pPr>
          </a:lstStyle>
          <a:p>
            <a:r>
              <a:rPr lang="en-US" sz="5400" b="1">
                <a:solidFill>
                  <a:srgbClr val="EAEAEA"/>
                </a:solidFill>
              </a:rPr>
              <a:t>Converting PDE to ODE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A81F7CD-8288-4418-8506-2A070B8AB637}"/>
              </a:ext>
            </a:extLst>
          </p:cNvPr>
          <p:cNvSpPr txBox="1"/>
          <p:nvPr/>
        </p:nvSpPr>
        <p:spPr>
          <a:xfrm>
            <a:off x="1378345" y="2896336"/>
            <a:ext cx="947375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3200" b="1" i="0" u="none" strike="noStrike" cap="none" spc="0" normalizeH="0" baseline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PDE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24AECA2-9A6C-5591-2194-083EC07D9F42}"/>
              </a:ext>
            </a:extLst>
          </p:cNvPr>
          <p:cNvSpPr/>
          <p:nvPr/>
        </p:nvSpPr>
        <p:spPr>
          <a:xfrm rot="-10800000" flipV="1">
            <a:off x="9853404" y="13283356"/>
            <a:ext cx="4628055" cy="379591"/>
          </a:xfrm>
          <a:prstGeom prst="rect">
            <a:avLst/>
          </a:prstGeom>
          <a:solidFill>
            <a:srgbClr val="8B79A6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n-US" sz="1800"/>
              <a:t>Workshop on Numerical Simulation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04048E-1D6D-4BC8-C140-EC7863D37F25}"/>
              </a:ext>
            </a:extLst>
          </p:cNvPr>
          <p:cNvSpPr/>
          <p:nvPr/>
        </p:nvSpPr>
        <p:spPr>
          <a:xfrm rot="-10800000" flipV="1">
            <a:off x="457612" y="13283975"/>
            <a:ext cx="4628055" cy="379591"/>
          </a:xfrm>
          <a:prstGeom prst="rect">
            <a:avLst/>
          </a:prstGeom>
          <a:solidFill>
            <a:srgbClr val="5C2A7A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/>
            <a:r>
              <a:rPr lang="en-GB" sz="1800">
                <a:solidFill>
                  <a:srgbClr val="9E79A6"/>
                </a:solidFill>
                <a:latin typeface="Helvetica Neue"/>
              </a:rPr>
              <a:t>KR and MA</a:t>
            </a:r>
            <a:endParaRPr lang="en-US" sz="18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7ED269-6DF7-C830-EC7B-180232DE4C1B}"/>
              </a:ext>
            </a:extLst>
          </p:cNvPr>
          <p:cNvSpPr txBox="1"/>
          <p:nvPr/>
        </p:nvSpPr>
        <p:spPr>
          <a:xfrm flipH="1">
            <a:off x="2446661" y="1752132"/>
            <a:ext cx="632311" cy="1194507"/>
          </a:xfrm>
          <a:prstGeom prst="rect">
            <a:avLst/>
          </a:prstGeom>
          <a:solidFill>
            <a:srgbClr val="CCECFF">
              <a:alpha val="50196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6A650C9-CC3F-6A38-6F36-E2FFBECFBF45}"/>
              </a:ext>
            </a:extLst>
          </p:cNvPr>
          <p:cNvSpPr/>
          <p:nvPr/>
        </p:nvSpPr>
        <p:spPr>
          <a:xfrm rot="-10800000" flipV="1">
            <a:off x="19138012" y="13283101"/>
            <a:ext cx="4628055" cy="379591"/>
          </a:xfrm>
          <a:prstGeom prst="rect">
            <a:avLst/>
          </a:prstGeom>
          <a:solidFill>
            <a:srgbClr val="5C2A7A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/>
            <a:r>
              <a:rPr lang="en-GB" sz="1800">
                <a:solidFill>
                  <a:srgbClr val="9E79A6"/>
                </a:solidFill>
                <a:latin typeface="Helvetica Neue"/>
              </a:rPr>
              <a:t>22/10/2025</a:t>
            </a:r>
            <a:endParaRPr lang="en-US" sz="1800"/>
          </a:p>
        </p:txBody>
      </p:sp>
      <p:sp>
        <p:nvSpPr>
          <p:cNvPr id="59" name="Slide Number">
            <a:extLst>
              <a:ext uri="{FF2B5EF4-FFF2-40B4-BE49-F238E27FC236}">
                <a16:creationId xmlns:a16="http://schemas.microsoft.com/office/drawing/2014/main" id="{728A18DB-7A3A-C0DD-70FA-74FD26D06F10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23805849" y="13272486"/>
            <a:ext cx="230832" cy="379591"/>
          </a:xfrm>
          <a:prstGeom prst="rect">
            <a:avLst/>
          </a:prstGeom>
        </p:spPr>
        <p:txBody>
          <a:bodyPr/>
          <a:lstStyle/>
          <a:p>
            <a:r>
              <a:rPr lang="en-GB"/>
              <a:t>4</a:t>
            </a:r>
            <a:endParaRPr/>
          </a:p>
        </p:txBody>
      </p:sp>
      <p:pic>
        <p:nvPicPr>
          <p:cNvPr id="12" name="Picture 11" descr="\documentclass{article}&#10;\usepackage{amsmath}&#10;\pagestyle{empty}&#10;\begin{document}&#10;\begin{equation}&#10;\frac{\partial c}{\partial t}=-v\frac{\partial c}{\partial x}&#10;\nonumber&#10;\end{equation}&#10;&#10;\end{document}" title="IguanaTex Bitmap Display">
            <a:extLst>
              <a:ext uri="{FF2B5EF4-FFF2-40B4-BE49-F238E27FC236}">
                <a16:creationId xmlns:a16="http://schemas.microsoft.com/office/drawing/2014/main" id="{12B7A3B3-E507-00B4-B533-5A69D3C5093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187" y="1819920"/>
            <a:ext cx="2419693" cy="100772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6BEBE80-BC4E-E346-C80C-5DAAA5C10844}"/>
                  </a:ext>
                </a:extLst>
              </p:cNvPr>
              <p:cNvSpPr txBox="1"/>
              <p:nvPr/>
            </p:nvSpPr>
            <p:spPr>
              <a:xfrm>
                <a:off x="18367561" y="2471145"/>
                <a:ext cx="4009431" cy="141673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900" i="1" smtClean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GB" sz="3900" i="1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sz="3900" i="1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3900" b="0" i="1" smtClean="0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n-GB" sz="3900" i="1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num>
                                <m:den>
                                  <m:r>
                                    <a:rPr lang="en-GB" sz="3900" b="0" i="1" smtClean="0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𝑑𝑥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GB" sz="3900" i="1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3900" i="1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GB" sz="3900" b="0" i="1" smtClean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3900" i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kumimoji="0" lang="en-GB" sz="39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Neue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</m:ctrlPr>
                            </m:sSubPr>
                            <m:e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𝑐</m:t>
                              </m:r>
                            </m:e>
                            <m:sub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0" lang="en-GB" sz="39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Neue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</m:ctrlPr>
                            </m:sSubPr>
                            <m:e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𝑐</m:t>
                              </m:r>
                            </m:e>
                            <m:sub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𝑖</m:t>
                              </m:r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−1</m:t>
                              </m:r>
                            </m:sub>
                          </m:sSub>
                        </m:num>
                        <m:den>
                          <m:r>
                            <a:rPr kumimoji="0" lang="en-GB" sz="39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Helvetica Neue"/>
                            </a:rPr>
                            <m:t>∆</m:t>
                          </m:r>
                          <m:r>
                            <a:rPr kumimoji="0" lang="en-GB" sz="39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Helvetica Neue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kumimoji="0" lang="en-GB" sz="39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sym typeface="Helvetica Neue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6BEBE80-BC4E-E346-C80C-5DAAA5C108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67561" y="2471145"/>
                <a:ext cx="4009431" cy="141673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0BA7DC17-AA85-0D31-098B-01A552CF25A9}"/>
              </a:ext>
            </a:extLst>
          </p:cNvPr>
          <p:cNvSpPr txBox="1"/>
          <p:nvPr/>
        </p:nvSpPr>
        <p:spPr>
          <a:xfrm>
            <a:off x="18716818" y="1586097"/>
            <a:ext cx="3815148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3200">
                <a:solidFill>
                  <a:srgbClr val="7030A0"/>
                </a:solidFill>
              </a:rPr>
              <a:t>Backward difference</a:t>
            </a:r>
            <a:endParaRPr kumimoji="0" lang="en-GB" sz="3200" b="0" i="0" u="none" strike="noStrike" cap="none" spc="0" normalizeH="0" baseline="0">
              <a:ln>
                <a:noFill/>
              </a:ln>
              <a:solidFill>
                <a:srgbClr val="7030A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45B978-216D-963B-E7A9-7BFB7973F43D}"/>
              </a:ext>
            </a:extLst>
          </p:cNvPr>
          <p:cNvSpPr txBox="1"/>
          <p:nvPr/>
        </p:nvSpPr>
        <p:spPr>
          <a:xfrm>
            <a:off x="12450197" y="1586096"/>
            <a:ext cx="3335849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3200">
                <a:solidFill>
                  <a:schemeClr val="accent6">
                    <a:lumMod val="75000"/>
                  </a:schemeClr>
                </a:solidFill>
              </a:rPr>
              <a:t>Central difference</a:t>
            </a:r>
            <a:endParaRPr kumimoji="0" lang="en-GB" sz="3200" b="0" i="0" u="none" strike="noStrike" cap="none" spc="0" normalizeH="0" baseline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618995B-1A94-6C40-04AA-215879A7DE59}"/>
                  </a:ext>
                </a:extLst>
              </p:cNvPr>
              <p:cNvSpPr txBox="1"/>
              <p:nvPr/>
            </p:nvSpPr>
            <p:spPr>
              <a:xfrm>
                <a:off x="11773274" y="2471145"/>
                <a:ext cx="4487126" cy="141673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900" i="1" smtClean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GB" sz="3900" i="1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sz="3900" i="1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3900" b="0" i="1" smtClean="0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n-GB" sz="3900" i="1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num>
                                <m:den>
                                  <m:r>
                                    <a:rPr lang="en-GB" sz="3900" b="0" i="1" smtClean="0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𝑑𝑥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GB" sz="3900" i="1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3900" i="1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GB" sz="3900" b="0" i="1" smtClean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3900" i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kumimoji="0" lang="en-GB" sz="39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Neue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</m:ctrlPr>
                            </m:sSubPr>
                            <m:e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𝑐</m:t>
                              </m:r>
                            </m:e>
                            <m:sub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𝑖</m:t>
                              </m:r>
                              <m:r>
                                <a:rPr kumimoji="0" lang="en-US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+</m:t>
                              </m:r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1</m:t>
                              </m:r>
                            </m:sub>
                          </m:sSub>
                          <m:r>
                            <a:rPr kumimoji="0" lang="en-GB" sz="39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Neue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</m:ctrlPr>
                            </m:sSubPr>
                            <m:e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𝑐</m:t>
                              </m:r>
                            </m:e>
                            <m:sub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𝑖</m:t>
                              </m:r>
                              <m:r>
                                <a:rPr kumimoji="0" lang="en-US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−</m:t>
                              </m:r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kumimoji="0" lang="en-GB" sz="39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Neue"/>
                            </a:rPr>
                            <m:t>2</m:t>
                          </m:r>
                          <m:r>
                            <a:rPr kumimoji="0" lang="en-GB" sz="39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Helvetica Neue"/>
                            </a:rPr>
                            <m:t>∆</m:t>
                          </m:r>
                          <m:r>
                            <a:rPr kumimoji="0" lang="en-GB" sz="39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Helvetica Neue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kumimoji="0" lang="en-GB" sz="39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sym typeface="Helvetica Neue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618995B-1A94-6C40-04AA-215879A7DE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73274" y="2471145"/>
                <a:ext cx="4487126" cy="141673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D722156B-0B7D-656B-6EF7-56018F832E2E}"/>
              </a:ext>
            </a:extLst>
          </p:cNvPr>
          <p:cNvSpPr txBox="1"/>
          <p:nvPr/>
        </p:nvSpPr>
        <p:spPr>
          <a:xfrm>
            <a:off x="11336890" y="4788349"/>
            <a:ext cx="12739467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GB" sz="3200" b="1">
                <a:solidFill>
                  <a:schemeClr val="tx1"/>
                </a:solidFill>
              </a:rPr>
              <a:t>Discretize</a:t>
            </a:r>
            <a:r>
              <a:rPr lang="en-GB" sz="3200">
                <a:solidFill>
                  <a:schemeClr val="tx1">
                    <a:lumMod val="50000"/>
                  </a:schemeClr>
                </a:solidFill>
              </a:rPr>
              <a:t> the </a:t>
            </a:r>
            <a:r>
              <a:rPr lang="en-GB" sz="3200" b="1">
                <a:solidFill>
                  <a:schemeClr val="tx1"/>
                </a:solidFill>
              </a:rPr>
              <a:t>spatial domain</a:t>
            </a:r>
            <a:r>
              <a:rPr lang="en-GB" sz="3200" b="1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GB" sz="3200">
                <a:solidFill>
                  <a:schemeClr val="tx1">
                    <a:lumMod val="50000"/>
                  </a:schemeClr>
                </a:solidFill>
              </a:rPr>
              <a:t>but keep the </a:t>
            </a:r>
            <a:r>
              <a:rPr lang="en-GB" sz="3200" b="1">
                <a:solidFill>
                  <a:schemeClr val="tx1">
                    <a:lumMod val="50000"/>
                  </a:schemeClr>
                </a:solidFill>
              </a:rPr>
              <a:t>time domain </a:t>
            </a:r>
            <a:r>
              <a:rPr lang="en-GB" sz="3200">
                <a:solidFill>
                  <a:schemeClr val="tx1">
                    <a:lumMod val="50000"/>
                  </a:schemeClr>
                </a:solidFill>
              </a:rPr>
              <a:t>continuous</a:t>
            </a:r>
            <a:endParaRPr lang="en-GB" sz="3200" b="1">
              <a:solidFill>
                <a:schemeClr val="tx1">
                  <a:lumMod val="50000"/>
                </a:schemeClr>
              </a:solidFill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B62A7728-F260-1AA8-9084-A66042AF39AC}"/>
              </a:ext>
            </a:extLst>
          </p:cNvPr>
          <p:cNvGrpSpPr/>
          <p:nvPr/>
        </p:nvGrpSpPr>
        <p:grpSpPr>
          <a:xfrm>
            <a:off x="11552722" y="5413262"/>
            <a:ext cx="11931295" cy="5177658"/>
            <a:chOff x="6494858" y="3875429"/>
            <a:chExt cx="11931295" cy="5177658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0CF8A56-1815-91C8-D1F9-9431E3E18395}"/>
                </a:ext>
              </a:extLst>
            </p:cNvPr>
            <p:cNvSpPr/>
            <p:nvPr/>
          </p:nvSpPr>
          <p:spPr>
            <a:xfrm>
              <a:off x="6494858" y="4584298"/>
              <a:ext cx="11931295" cy="2737681"/>
            </a:xfrm>
            <a:prstGeom prst="rect">
              <a:avLst/>
            </a:prstGeom>
            <a:noFill/>
            <a:ln w="57150" cap="flat">
              <a:solidFill>
                <a:schemeClr val="bg2">
                  <a:lumMod val="1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7C9FE8E5-06F6-F6D4-6284-A277BB84FA33}"/>
                </a:ext>
              </a:extLst>
            </p:cNvPr>
            <p:cNvCxnSpPr>
              <a:cxnSpLocks/>
            </p:cNvCxnSpPr>
            <p:nvPr/>
          </p:nvCxnSpPr>
          <p:spPr>
            <a:xfrm>
              <a:off x="6510850" y="4334406"/>
              <a:ext cx="11915303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9ECEBC79-5940-C98E-40D5-5BB3833E1406}"/>
                    </a:ext>
                  </a:extLst>
                </p:cNvPr>
                <p:cNvSpPr txBox="1"/>
                <p:nvPr/>
              </p:nvSpPr>
              <p:spPr>
                <a:xfrm>
                  <a:off x="12329544" y="3875429"/>
                  <a:ext cx="297517" cy="43088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ctr">
                  <a:spAutoFit/>
                </a:bodyPr>
                <a:lstStyle/>
                <a:p>
                  <a:pPr marL="0" marR="0" indent="0" algn="ctr" defTabSz="2438338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GB" sz="2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5E5E5E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𝐿</m:t>
                        </m:r>
                      </m:oMath>
                    </m:oMathPara>
                  </a14:m>
                  <a:endParaRPr kumimoji="0" lang="en-GB" sz="2800" b="0" i="0" u="none" strike="noStrike" cap="none" spc="0" normalizeH="0" baseline="0">
                    <a:ln>
                      <a:noFill/>
                    </a:ln>
                    <a:solidFill>
                      <a:srgbClr val="5E5E5E"/>
                    </a:solidFill>
                    <a:effectLst/>
                    <a:uFillTx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9ECEBC79-5940-C98E-40D5-5BB3833E14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329544" y="3875429"/>
                  <a:ext cx="297517" cy="43088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7CD7DFC-BB83-CB59-E108-5F456B8B56B2}"/>
                </a:ext>
              </a:extLst>
            </p:cNvPr>
            <p:cNvSpPr/>
            <p:nvPr/>
          </p:nvSpPr>
          <p:spPr>
            <a:xfrm>
              <a:off x="8515903" y="4584298"/>
              <a:ext cx="1985450" cy="2737681"/>
            </a:xfrm>
            <a:prstGeom prst="rect">
              <a:avLst/>
            </a:prstGeom>
            <a:noFill/>
            <a:ln w="12700" cap="flat">
              <a:solidFill>
                <a:schemeClr val="tx2">
                  <a:lumMod val="75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8A0E9DDA-FA21-84F8-2657-CE3747D99717}"/>
                </a:ext>
              </a:extLst>
            </p:cNvPr>
            <p:cNvSpPr/>
            <p:nvPr/>
          </p:nvSpPr>
          <p:spPr>
            <a:xfrm>
              <a:off x="6501813" y="4590270"/>
              <a:ext cx="2033830" cy="2737681"/>
            </a:xfrm>
            <a:prstGeom prst="rect">
              <a:avLst/>
            </a:prstGeom>
            <a:noFill/>
            <a:ln w="12700" cap="flat">
              <a:solidFill>
                <a:schemeClr val="tx2">
                  <a:lumMod val="75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4A34C47-118D-5298-7C30-6D5DD5761D02}"/>
                </a:ext>
              </a:extLst>
            </p:cNvPr>
            <p:cNvSpPr/>
            <p:nvPr/>
          </p:nvSpPr>
          <p:spPr>
            <a:xfrm>
              <a:off x="10497103" y="4603348"/>
              <a:ext cx="1985450" cy="2737681"/>
            </a:xfrm>
            <a:prstGeom prst="rect">
              <a:avLst/>
            </a:prstGeom>
            <a:noFill/>
            <a:ln w="12700" cap="flat">
              <a:solidFill>
                <a:schemeClr val="tx2">
                  <a:lumMod val="75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1813749-687A-567E-6A81-F11C7560BB05}"/>
                </a:ext>
              </a:extLst>
            </p:cNvPr>
            <p:cNvSpPr/>
            <p:nvPr/>
          </p:nvSpPr>
          <p:spPr>
            <a:xfrm>
              <a:off x="12478303" y="4584298"/>
              <a:ext cx="1985450" cy="2737681"/>
            </a:xfrm>
            <a:prstGeom prst="rect">
              <a:avLst/>
            </a:prstGeom>
            <a:noFill/>
            <a:ln w="12700" cap="flat">
              <a:solidFill>
                <a:schemeClr val="tx2">
                  <a:lumMod val="75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31C70033-8D7B-E66B-6AD3-9D3A7E728BC6}"/>
                </a:ext>
              </a:extLst>
            </p:cNvPr>
            <p:cNvSpPr/>
            <p:nvPr/>
          </p:nvSpPr>
          <p:spPr>
            <a:xfrm>
              <a:off x="14459503" y="4601364"/>
              <a:ext cx="1985450" cy="2737681"/>
            </a:xfrm>
            <a:prstGeom prst="rect">
              <a:avLst/>
            </a:prstGeom>
            <a:noFill/>
            <a:ln w="12700" cap="flat">
              <a:solidFill>
                <a:schemeClr val="tx2">
                  <a:lumMod val="75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9735E346-67C1-5FFE-4069-9216F317AF71}"/>
                </a:ext>
              </a:extLst>
            </p:cNvPr>
            <p:cNvSpPr/>
            <p:nvPr/>
          </p:nvSpPr>
          <p:spPr>
            <a:xfrm>
              <a:off x="16440703" y="4565248"/>
              <a:ext cx="1985450" cy="2737681"/>
            </a:xfrm>
            <a:prstGeom prst="rect">
              <a:avLst/>
            </a:prstGeom>
            <a:noFill/>
            <a:ln w="12700" cap="flat">
              <a:solidFill>
                <a:schemeClr val="tx2">
                  <a:lumMod val="75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32" name="Flowchart: Connector 31">
              <a:extLst>
                <a:ext uri="{FF2B5EF4-FFF2-40B4-BE49-F238E27FC236}">
                  <a16:creationId xmlns:a16="http://schemas.microsoft.com/office/drawing/2014/main" id="{46FFC3E1-7CDB-7E95-1EF0-6957884F01C9}"/>
                </a:ext>
              </a:extLst>
            </p:cNvPr>
            <p:cNvSpPr/>
            <p:nvPr/>
          </p:nvSpPr>
          <p:spPr>
            <a:xfrm>
              <a:off x="7392333" y="5842429"/>
              <a:ext cx="228600" cy="233363"/>
            </a:xfrm>
            <a:prstGeom prst="flowChartConnector">
              <a:avLst/>
            </a:prstGeom>
            <a:solidFill>
              <a:srgbClr val="FF0000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33" name="Flowchart: Connector 32">
              <a:extLst>
                <a:ext uri="{FF2B5EF4-FFF2-40B4-BE49-F238E27FC236}">
                  <a16:creationId xmlns:a16="http://schemas.microsoft.com/office/drawing/2014/main" id="{8DE234AC-C8D6-EDF6-2F67-D025206E089B}"/>
                </a:ext>
              </a:extLst>
            </p:cNvPr>
            <p:cNvSpPr/>
            <p:nvPr/>
          </p:nvSpPr>
          <p:spPr>
            <a:xfrm>
              <a:off x="9394328" y="5836457"/>
              <a:ext cx="228600" cy="233363"/>
            </a:xfrm>
            <a:prstGeom prst="flowChartConnector">
              <a:avLst/>
            </a:prstGeom>
            <a:solidFill>
              <a:srgbClr val="FF0000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34" name="Flowchart: Connector 33">
              <a:extLst>
                <a:ext uri="{FF2B5EF4-FFF2-40B4-BE49-F238E27FC236}">
                  <a16:creationId xmlns:a16="http://schemas.microsoft.com/office/drawing/2014/main" id="{AB16FE66-2B42-F796-ED0F-6DD426D595C1}"/>
                </a:ext>
              </a:extLst>
            </p:cNvPr>
            <p:cNvSpPr/>
            <p:nvPr/>
          </p:nvSpPr>
          <p:spPr>
            <a:xfrm>
              <a:off x="11375528" y="5836457"/>
              <a:ext cx="228600" cy="233363"/>
            </a:xfrm>
            <a:prstGeom prst="flowChartConnector">
              <a:avLst/>
            </a:prstGeom>
            <a:solidFill>
              <a:srgbClr val="FF0000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35" name="Flowchart: Connector 34">
              <a:extLst>
                <a:ext uri="{FF2B5EF4-FFF2-40B4-BE49-F238E27FC236}">
                  <a16:creationId xmlns:a16="http://schemas.microsoft.com/office/drawing/2014/main" id="{399F60F1-A485-72EA-25D1-54E87267E99D}"/>
                </a:ext>
              </a:extLst>
            </p:cNvPr>
            <p:cNvSpPr/>
            <p:nvPr/>
          </p:nvSpPr>
          <p:spPr>
            <a:xfrm>
              <a:off x="13356728" y="5836457"/>
              <a:ext cx="228600" cy="233363"/>
            </a:xfrm>
            <a:prstGeom prst="flowChartConnector">
              <a:avLst/>
            </a:prstGeom>
            <a:solidFill>
              <a:srgbClr val="FF0000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36" name="Flowchart: Connector 35">
              <a:extLst>
                <a:ext uri="{FF2B5EF4-FFF2-40B4-BE49-F238E27FC236}">
                  <a16:creationId xmlns:a16="http://schemas.microsoft.com/office/drawing/2014/main" id="{DF5AEA28-1027-554D-47FC-A6FDD02FB96F}"/>
                </a:ext>
              </a:extLst>
            </p:cNvPr>
            <p:cNvSpPr/>
            <p:nvPr/>
          </p:nvSpPr>
          <p:spPr>
            <a:xfrm>
              <a:off x="15337928" y="5853523"/>
              <a:ext cx="228600" cy="233363"/>
            </a:xfrm>
            <a:prstGeom prst="flowChartConnector">
              <a:avLst/>
            </a:prstGeom>
            <a:solidFill>
              <a:srgbClr val="FF0000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37" name="Flowchart: Connector 36">
              <a:extLst>
                <a:ext uri="{FF2B5EF4-FFF2-40B4-BE49-F238E27FC236}">
                  <a16:creationId xmlns:a16="http://schemas.microsoft.com/office/drawing/2014/main" id="{F691F1E6-F6D1-D883-D4BF-EEBBE1EDDB34}"/>
                </a:ext>
              </a:extLst>
            </p:cNvPr>
            <p:cNvSpPr/>
            <p:nvPr/>
          </p:nvSpPr>
          <p:spPr>
            <a:xfrm>
              <a:off x="17319128" y="5853523"/>
              <a:ext cx="228600" cy="233363"/>
            </a:xfrm>
            <a:prstGeom prst="flowChartConnector">
              <a:avLst/>
            </a:prstGeom>
            <a:solidFill>
              <a:srgbClr val="FF0000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509AA5CC-3DD1-C746-0CC8-B99A1FD2278C}"/>
                </a:ext>
              </a:extLst>
            </p:cNvPr>
            <p:cNvCxnSpPr>
              <a:cxnSpLocks/>
            </p:cNvCxnSpPr>
            <p:nvPr/>
          </p:nvCxnSpPr>
          <p:spPr>
            <a:xfrm>
              <a:off x="7506633" y="8610600"/>
              <a:ext cx="2001995" cy="0"/>
            </a:xfrm>
            <a:prstGeom prst="straightConnector1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headEnd type="triangle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196B3795-AD00-93B0-1D12-D636C95F2C14}"/>
                </a:ext>
              </a:extLst>
            </p:cNvPr>
            <p:cNvCxnSpPr>
              <a:cxnSpLocks/>
              <a:stCxn id="27" idx="4"/>
            </p:cNvCxnSpPr>
            <p:nvPr/>
          </p:nvCxnSpPr>
          <p:spPr>
            <a:xfrm>
              <a:off x="7506633" y="6075792"/>
              <a:ext cx="0" cy="2534808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ysDot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C8D51371-1604-C5F6-E7C9-AA98B3BDDB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508627" y="6069820"/>
              <a:ext cx="1" cy="254078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ysDot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2B31A814-8C0C-AE69-197F-54D227A7CEC2}"/>
                    </a:ext>
                  </a:extLst>
                </p:cNvPr>
                <p:cNvSpPr txBox="1"/>
                <p:nvPr/>
              </p:nvSpPr>
              <p:spPr>
                <a:xfrm>
                  <a:off x="8204598" y="8560644"/>
                  <a:ext cx="589520" cy="49244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ctr">
                  <a:spAutoFit/>
                </a:bodyPr>
                <a:lstStyle/>
                <a:p>
                  <a:pPr marL="0" marR="0" indent="0" algn="ctr" defTabSz="2438338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GB" sz="32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5E5E5E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Helvetica Neue"/>
                          </a:rPr>
                          <m:t>∆</m:t>
                        </m:r>
                        <m:r>
                          <a:rPr kumimoji="0" lang="en-GB" sz="32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5E5E5E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Helvetica Neue"/>
                          </a:rPr>
                          <m:t>𝑥</m:t>
                        </m:r>
                      </m:oMath>
                    </m:oMathPara>
                  </a14:m>
                  <a:endParaRPr kumimoji="0" lang="en-GB" sz="3200" b="0" i="0" u="none" strike="noStrike" cap="none" spc="0" normalizeH="0" baseline="0">
                    <a:ln>
                      <a:noFill/>
                    </a:ln>
                    <a:solidFill>
                      <a:srgbClr val="5E5E5E"/>
                    </a:solidFill>
                    <a:effectLst/>
                    <a:uFillTx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2B31A814-8C0C-AE69-197F-54D227A7CE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04598" y="8560644"/>
                  <a:ext cx="589520" cy="492443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48D7A61-4248-226F-D732-1385A88E1401}"/>
                </a:ext>
              </a:extLst>
            </p:cNvPr>
            <p:cNvSpPr txBox="1"/>
            <p:nvPr/>
          </p:nvSpPr>
          <p:spPr>
            <a:xfrm>
              <a:off x="7294947" y="5232270"/>
              <a:ext cx="522579" cy="4719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GB" sz="2400" b="0" i="0" u="none" strike="noStrike" cap="none" spc="0" normalizeH="0" baseline="0" err="1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i</a:t>
              </a:r>
              <a:r>
                <a:rPr kumimoji="0" lang="en-GB" sz="24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=0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484AF06-64DE-21AE-8B04-05856911B9B4}"/>
                </a:ext>
              </a:extLst>
            </p:cNvPr>
            <p:cNvSpPr txBox="1"/>
            <p:nvPr/>
          </p:nvSpPr>
          <p:spPr>
            <a:xfrm>
              <a:off x="9247338" y="5232270"/>
              <a:ext cx="522579" cy="4719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GB" sz="2400" b="0" i="0" u="none" strike="noStrike" cap="none" spc="0" normalizeH="0" baseline="0" err="1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i</a:t>
              </a:r>
              <a:r>
                <a:rPr kumimoji="0" lang="en-GB" sz="24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=1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4AE7430D-0FE5-1AA5-AF6F-A597E3A9B964}"/>
                </a:ext>
              </a:extLst>
            </p:cNvPr>
            <p:cNvSpPr txBox="1"/>
            <p:nvPr/>
          </p:nvSpPr>
          <p:spPr>
            <a:xfrm>
              <a:off x="11277810" y="5232270"/>
              <a:ext cx="522579" cy="4719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GB" sz="2400" b="0" i="0" u="none" strike="noStrike" cap="none" spc="0" normalizeH="0" baseline="0" err="1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i</a:t>
              </a:r>
              <a:r>
                <a:rPr kumimoji="0" lang="en-GB" sz="24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=2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628D9F5-C07F-6034-A47F-6E9DF61B476D}"/>
                </a:ext>
              </a:extLst>
            </p:cNvPr>
            <p:cNvSpPr txBox="1"/>
            <p:nvPr/>
          </p:nvSpPr>
          <p:spPr>
            <a:xfrm>
              <a:off x="13070557" y="5232270"/>
              <a:ext cx="796693" cy="4719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GB" sz="2400" b="0" i="0" u="none" strike="noStrike" cap="none" spc="0" normalizeH="0" baseline="0" err="1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i</a:t>
              </a:r>
              <a:r>
                <a:rPr kumimoji="0" lang="en-GB" sz="24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=n-2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9D43A31C-9C47-EAD5-BE12-C305C3502548}"/>
                </a:ext>
              </a:extLst>
            </p:cNvPr>
            <p:cNvSpPr txBox="1"/>
            <p:nvPr/>
          </p:nvSpPr>
          <p:spPr>
            <a:xfrm>
              <a:off x="15051757" y="5223951"/>
              <a:ext cx="796693" cy="4719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GB" sz="2400" b="0" i="0" u="none" strike="noStrike" cap="none" spc="0" normalizeH="0" baseline="0" err="1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i</a:t>
              </a:r>
              <a:r>
                <a:rPr kumimoji="0" lang="en-GB" sz="24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=n-1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AD609192-04BD-0947-8365-617851B2BA6A}"/>
                    </a:ext>
                  </a:extLst>
                </p:cNvPr>
                <p:cNvSpPr txBox="1"/>
                <p:nvPr/>
              </p:nvSpPr>
              <p:spPr>
                <a:xfrm rot="5400000">
                  <a:off x="12243661" y="4354104"/>
                  <a:ext cx="519373" cy="61555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ctr">
                  <a:spAutoFit/>
                </a:bodyPr>
                <a:lstStyle/>
                <a:p>
                  <a:pPr marL="0" marR="0" indent="0" algn="ctr" defTabSz="2438338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GB" sz="4000" b="1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tx1">
                                <a:lumMod val="75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Helvetica Neue"/>
                          </a:rPr>
                          <m:t>≈</m:t>
                        </m:r>
                      </m:oMath>
                    </m:oMathPara>
                  </a14:m>
                  <a:endParaRPr kumimoji="0" lang="en-GB" sz="3200" b="1" i="0" u="none" strike="noStrike" cap="none" spc="0" normalizeH="0" baseline="0">
                    <a:ln>
                      <a:noFill/>
                    </a:ln>
                    <a:solidFill>
                      <a:schemeClr val="tx1">
                        <a:lumMod val="75000"/>
                      </a:schemeClr>
                    </a:solidFill>
                    <a:effectLst/>
                    <a:uFillTx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AD609192-04BD-0947-8365-617851B2BA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12243661" y="4354104"/>
                  <a:ext cx="519373" cy="615553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CC5F5481-E07A-EDD9-1C00-6929AF0861E3}"/>
                    </a:ext>
                  </a:extLst>
                </p:cNvPr>
                <p:cNvSpPr txBox="1"/>
                <p:nvPr/>
              </p:nvSpPr>
              <p:spPr>
                <a:xfrm rot="5400000">
                  <a:off x="12243659" y="7118910"/>
                  <a:ext cx="519373" cy="61555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ctr">
                  <a:spAutoFit/>
                </a:bodyPr>
                <a:lstStyle/>
                <a:p>
                  <a:pPr marL="0" marR="0" indent="0" algn="ctr" defTabSz="2438338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GB" sz="4000" b="1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tx1">
                                <a:lumMod val="75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Helvetica Neue"/>
                          </a:rPr>
                          <m:t>≈</m:t>
                        </m:r>
                      </m:oMath>
                    </m:oMathPara>
                  </a14:m>
                  <a:endParaRPr kumimoji="0" lang="en-GB" sz="3200" b="1" i="0" u="none" strike="noStrike" cap="none" spc="0" normalizeH="0" baseline="0">
                    <a:ln>
                      <a:noFill/>
                    </a:ln>
                    <a:solidFill>
                      <a:schemeClr val="tx1">
                        <a:lumMod val="75000"/>
                      </a:schemeClr>
                    </a:solidFill>
                    <a:effectLst/>
                    <a:uFillTx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CC5F5481-E07A-EDD9-1C00-6929AF0861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12243659" y="7118910"/>
                  <a:ext cx="519373" cy="615553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D8620545-AFD0-9D9B-4FE7-295DF84B08DE}"/>
                </a:ext>
              </a:extLst>
            </p:cNvPr>
            <p:cNvSpPr txBox="1"/>
            <p:nvPr/>
          </p:nvSpPr>
          <p:spPr>
            <a:xfrm>
              <a:off x="17170014" y="5185933"/>
              <a:ext cx="522579" cy="4719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GB" sz="2400" b="0" i="0" u="none" strike="noStrike" cap="none" spc="0" normalizeH="0" baseline="0" err="1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i</a:t>
              </a:r>
              <a:r>
                <a:rPr kumimoji="0" lang="en-GB" sz="24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=n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C8454513-4233-5323-6646-1AB802A8074D}"/>
                    </a:ext>
                  </a:extLst>
                </p:cNvPr>
                <p:cNvSpPr txBox="1"/>
                <p:nvPr/>
              </p:nvSpPr>
              <p:spPr>
                <a:xfrm>
                  <a:off x="8230504" y="7426687"/>
                  <a:ext cx="728469" cy="69147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ctr">
                  <a:spAutoFit/>
                </a:bodyPr>
                <a:lstStyle/>
                <a:p>
                  <a:pPr marL="0" marR="0" indent="0" algn="ctr" defTabSz="2438338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GB" sz="24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5E5E5E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  <m:r>
                          <a:rPr kumimoji="0" lang="en-GB" sz="24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5E5E5E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+</m:t>
                        </m:r>
                        <m:f>
                          <m:fPr>
                            <m:ctrlPr>
                              <a:rPr kumimoji="0" lang="en-GB" sz="24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5E5E5E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Helvetica Neue"/>
                              </a:rPr>
                            </m:ctrlPr>
                          </m:fPr>
                          <m:num>
                            <m:r>
                              <a:rPr kumimoji="0" lang="en-GB" sz="24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5E5E5E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Helvetica Neue"/>
                              </a:rPr>
                              <m:t>1</m:t>
                            </m:r>
                          </m:num>
                          <m:den>
                            <m:r>
                              <a:rPr kumimoji="0" lang="en-GB" sz="24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5E5E5E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Helvetica Neue"/>
                              </a:rPr>
                              <m:t>2</m:t>
                            </m:r>
                          </m:den>
                        </m:f>
                      </m:oMath>
                    </m:oMathPara>
                  </a14:m>
                  <a:endParaRPr kumimoji="0" lang="en-GB" sz="2400" b="0" i="0" u="none" strike="noStrike" cap="none" spc="0" normalizeH="0" baseline="0">
                    <a:ln>
                      <a:noFill/>
                    </a:ln>
                    <a:solidFill>
                      <a:srgbClr val="5E5E5E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C8454513-4233-5323-6646-1AB802A807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0504" y="7426687"/>
                  <a:ext cx="728469" cy="691471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7D9A2023-4B44-4B54-A338-B81393AF5CB5}"/>
              </a:ext>
            </a:extLst>
          </p:cNvPr>
          <p:cNvGrpSpPr/>
          <p:nvPr/>
        </p:nvGrpSpPr>
        <p:grpSpPr>
          <a:xfrm>
            <a:off x="7800688" y="10005147"/>
            <a:ext cx="9947879" cy="1232427"/>
            <a:chOff x="3455435" y="9311003"/>
            <a:chExt cx="9947879" cy="123242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835C705-5508-911C-61B1-C8E699E5F023}"/>
                </a:ext>
              </a:extLst>
            </p:cNvPr>
            <p:cNvSpPr txBox="1"/>
            <p:nvPr/>
          </p:nvSpPr>
          <p:spPr>
            <a:xfrm>
              <a:off x="3455435" y="9868553"/>
              <a:ext cx="3571743" cy="674877"/>
            </a:xfrm>
            <a:prstGeom prst="rect">
              <a:avLst/>
            </a:prstGeom>
            <a:solidFill>
              <a:schemeClr val="accent5">
                <a:lumMod val="75000"/>
                <a:alpha val="32157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3A3DE3-0CE1-E29C-4F2B-8E0A983EA8E4}"/>
                </a:ext>
              </a:extLst>
            </p:cNvPr>
            <p:cNvSpPr txBox="1"/>
            <p:nvPr/>
          </p:nvSpPr>
          <p:spPr>
            <a:xfrm>
              <a:off x="3480621" y="9892806"/>
              <a:ext cx="3546558" cy="59503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GB" sz="3200" b="0" i="0" u="none" strike="noStrike" cap="none" spc="0" normalizeH="0" baseline="0">
                  <a:ln>
                    <a:noFill/>
                  </a:ln>
                  <a:solidFill>
                    <a:schemeClr val="tx1">
                      <a:lumMod val="50000"/>
                    </a:schemeClr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Initial condition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98CB213-4C99-55F5-EEF2-B3E652B787DD}"/>
                </a:ext>
              </a:extLst>
            </p:cNvPr>
            <p:cNvSpPr txBox="1"/>
            <p:nvPr/>
          </p:nvSpPr>
          <p:spPr>
            <a:xfrm>
              <a:off x="4539565" y="9311003"/>
              <a:ext cx="102656" cy="8412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59BB0C73-C135-A515-5028-9402306AA21C}"/>
                </a:ext>
              </a:extLst>
            </p:cNvPr>
            <p:cNvCxnSpPr>
              <a:cxnSpLocks/>
            </p:cNvCxnSpPr>
            <p:nvPr/>
          </p:nvCxnSpPr>
          <p:spPr>
            <a:xfrm>
              <a:off x="7341243" y="10210471"/>
              <a:ext cx="1085850" cy="0"/>
            </a:xfrm>
            <a:prstGeom prst="straightConnector1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A07D4C2C-AD44-3FF6-2B7B-BFEC9964AA2E}"/>
                    </a:ext>
                  </a:extLst>
                </p:cNvPr>
                <p:cNvSpPr txBox="1"/>
                <p:nvPr/>
              </p:nvSpPr>
              <p:spPr>
                <a:xfrm>
                  <a:off x="8774546" y="9964250"/>
                  <a:ext cx="4628768" cy="49244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GB" sz="32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Helvetica Neue"/>
                              </a:rPr>
                            </m:ctrlPr>
                          </m:sSubPr>
                          <m:e>
                            <m:r>
                              <a:rPr kumimoji="0" lang="en-GB" sz="32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Helvetica Neue"/>
                              </a:rPr>
                              <m:t>𝑐</m:t>
                            </m:r>
                            <m:r>
                              <a:rPr kumimoji="0" lang="en-GB" sz="32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Helvetica Neue"/>
                              </a:rPr>
                              <m:t>(</m:t>
                            </m:r>
                            <m:r>
                              <a:rPr kumimoji="0" lang="en-GB" sz="32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Helvetica Neue"/>
                              </a:rPr>
                              <m:t>𝑡</m:t>
                            </m:r>
                            <m:r>
                              <a:rPr kumimoji="0" lang="en-GB" sz="32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Helvetica Neue"/>
                              </a:rPr>
                              <m:t>=0,</m:t>
                            </m:r>
                            <m:r>
                              <a:rPr kumimoji="0" lang="en-GB" sz="32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Helvetica Neue"/>
                              </a:rPr>
                              <m:t>𝑥</m:t>
                            </m:r>
                            <m:r>
                              <a:rPr kumimoji="0" lang="en-GB" sz="32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Helvetica Neue"/>
                              </a:rPr>
                              <m:t>)</m:t>
                            </m:r>
                          </m:e>
                          <m:sub/>
                        </m:sSub>
                        <m:r>
                          <a:rPr kumimoji="0" lang="en-GB" sz="32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tx1">
                                <a:lumMod val="5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=0</m:t>
                        </m:r>
                        <m:r>
                          <a:rPr kumimoji="0" lang="en-US" sz="32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tx1">
                                <a:lumMod val="5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320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mol</m:t>
                        </m:r>
                        <m:r>
                          <a:rPr lang="en-US" sz="320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3200" i="1"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3200"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  <m:sup>
                            <m:r>
                              <a:rPr lang="en-US" sz="3200"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−3</m:t>
                            </m:r>
                          </m:sup>
                        </m:sSup>
                      </m:oMath>
                    </m:oMathPara>
                  </a14:m>
                  <a:endParaRPr kumimoji="0" lang="en-GB" sz="3200" b="0" i="0" u="none" strike="noStrike" cap="none" spc="0" normalizeH="0" baseline="0">
                    <a:ln>
                      <a:noFill/>
                    </a:ln>
                    <a:solidFill>
                      <a:schemeClr val="tx1">
                        <a:lumMod val="50000"/>
                      </a:schemeClr>
                    </a:solidFill>
                    <a:effectLst/>
                    <a:uFillTx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A07D4C2C-AD44-3FF6-2B7B-BFEC9964AA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74546" y="9964250"/>
                  <a:ext cx="4628768" cy="492443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6" name="Rectangle 75">
            <a:extLst>
              <a:ext uri="{FF2B5EF4-FFF2-40B4-BE49-F238E27FC236}">
                <a16:creationId xmlns:a16="http://schemas.microsoft.com/office/drawing/2014/main" id="{30C3F410-D9F9-CC4D-90CC-6243A6F15FFE}"/>
              </a:ext>
            </a:extLst>
          </p:cNvPr>
          <p:cNvSpPr/>
          <p:nvPr/>
        </p:nvSpPr>
        <p:spPr>
          <a:xfrm>
            <a:off x="9557139" y="6128166"/>
            <a:ext cx="1985450" cy="2737681"/>
          </a:xfrm>
          <a:prstGeom prst="rect">
            <a:avLst/>
          </a:prstGeom>
          <a:noFill/>
          <a:ln w="57150" cap="flat">
            <a:solidFill>
              <a:schemeClr val="tx2">
                <a:lumMod val="75000"/>
              </a:schemeClr>
            </a:solidFill>
            <a:prstDash val="sysDot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7" name="Flowchart: Connector 76">
            <a:extLst>
              <a:ext uri="{FF2B5EF4-FFF2-40B4-BE49-F238E27FC236}">
                <a16:creationId xmlns:a16="http://schemas.microsoft.com/office/drawing/2014/main" id="{3A54C552-C8E0-B0F2-E998-530EC703CEA7}"/>
              </a:ext>
            </a:extLst>
          </p:cNvPr>
          <p:cNvSpPr/>
          <p:nvPr/>
        </p:nvSpPr>
        <p:spPr>
          <a:xfrm>
            <a:off x="10435564" y="7380325"/>
            <a:ext cx="228600" cy="233363"/>
          </a:xfrm>
          <a:prstGeom prst="flowChartConnector">
            <a:avLst/>
          </a:prstGeom>
          <a:solidFill>
            <a:schemeClr val="accent3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B8B4BDE-41EC-06F7-8F59-55A228BBAF54}"/>
              </a:ext>
            </a:extLst>
          </p:cNvPr>
          <p:cNvSpPr txBox="1"/>
          <p:nvPr/>
        </p:nvSpPr>
        <p:spPr>
          <a:xfrm>
            <a:off x="10303827" y="6764816"/>
            <a:ext cx="668453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2400" b="0" i="0" u="none" strike="noStrike" cap="none" spc="0" normalizeH="0" baseline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inlet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BA73028-D05B-D3E1-998D-7EE71892DCFA}"/>
              </a:ext>
            </a:extLst>
          </p:cNvPr>
          <p:cNvSpPr txBox="1"/>
          <p:nvPr/>
        </p:nvSpPr>
        <p:spPr>
          <a:xfrm flipH="1">
            <a:off x="19297583" y="10148433"/>
            <a:ext cx="3884694" cy="1194507"/>
          </a:xfrm>
          <a:prstGeom prst="rect">
            <a:avLst/>
          </a:prstGeom>
          <a:solidFill>
            <a:schemeClr val="accent4">
              <a:lumMod val="40000"/>
              <a:lumOff val="60000"/>
              <a:alpha val="5019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9A2D0D0-5F91-745D-08EE-6D4A0D6A3760}"/>
              </a:ext>
            </a:extLst>
          </p:cNvPr>
          <p:cNvSpPr txBox="1"/>
          <p:nvPr/>
        </p:nvSpPr>
        <p:spPr>
          <a:xfrm>
            <a:off x="18446531" y="10201947"/>
            <a:ext cx="5418828" cy="10874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3200" b="1" i="0" u="none" strike="noStrike" cap="none" spc="0" normalizeH="0" baseline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ODE</a:t>
            </a: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3200" b="0" i="0" u="none" strike="noStrike" cap="none" spc="0" normalizeH="0" baseline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 solved by ode solver</a:t>
            </a: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D8746560-5A7A-BF7B-B6A0-2809949E287B}"/>
              </a:ext>
            </a:extLst>
          </p:cNvPr>
          <p:cNvGrpSpPr/>
          <p:nvPr/>
        </p:nvGrpSpPr>
        <p:grpSpPr>
          <a:xfrm>
            <a:off x="18190985" y="11553366"/>
            <a:ext cx="5823394" cy="1555041"/>
            <a:chOff x="18190985" y="11452338"/>
            <a:chExt cx="5823394" cy="1555041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F040113B-006A-5470-97F2-795D4F54906E}"/>
                </a:ext>
              </a:extLst>
            </p:cNvPr>
            <p:cNvSpPr txBox="1"/>
            <p:nvPr/>
          </p:nvSpPr>
          <p:spPr>
            <a:xfrm flipH="1">
              <a:off x="18190985" y="11598028"/>
              <a:ext cx="632311" cy="1194507"/>
            </a:xfrm>
            <a:prstGeom prst="rect">
              <a:avLst/>
            </a:prstGeom>
            <a:solidFill>
              <a:schemeClr val="accent4">
                <a:lumMod val="40000"/>
                <a:lumOff val="60000"/>
                <a:alpha val="50196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A1306059-551F-5608-99C7-19FA65DBA0F5}"/>
                </a:ext>
              </a:extLst>
            </p:cNvPr>
            <p:cNvSpPr txBox="1"/>
            <p:nvPr/>
          </p:nvSpPr>
          <p:spPr>
            <a:xfrm flipH="1">
              <a:off x="21128454" y="11452338"/>
              <a:ext cx="2885925" cy="1485888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50196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Rectangle 74">
                  <a:extLst>
                    <a:ext uri="{FF2B5EF4-FFF2-40B4-BE49-F238E27FC236}">
                      <a16:creationId xmlns:a16="http://schemas.microsoft.com/office/drawing/2014/main" id="{39B0C228-36F9-45EB-DAAB-0407DD3EF1EF}"/>
                    </a:ext>
                  </a:extLst>
                </p:cNvPr>
                <p:cNvSpPr/>
                <p:nvPr/>
              </p:nvSpPr>
              <p:spPr>
                <a:xfrm>
                  <a:off x="18308451" y="11452338"/>
                  <a:ext cx="5640006" cy="155504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900" i="1" smtClean="0"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"/>
                                <m:endChr m:val="|"/>
                                <m:ctrlPr>
                                  <a:rPr lang="en-GB" sz="3900" i="1">
                                    <a:solidFill>
                                      <a:schemeClr val="tx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GB" sz="3900" i="1">
                                        <a:solidFill>
                                          <a:schemeClr val="tx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900" i="1">
                                        <a:solidFill>
                                          <a:schemeClr val="tx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𝑑𝑐</m:t>
                                    </m:r>
                                  </m:num>
                                  <m:den>
                                    <m:r>
                                      <a:rPr lang="en-GB" sz="3900" i="1">
                                        <a:solidFill>
                                          <a:schemeClr val="tx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r>
                                      <a:rPr lang="en-US" sz="3900" b="0" i="1" smtClean="0">
                                        <a:solidFill>
                                          <a:schemeClr val="tx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GB" sz="3900" i="1"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sz="3900" i="1"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GB" sz="3900" i="1"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3900" b="0" i="1" smtClean="0"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sz="3900" b="0" i="1" smtClean="0"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GB" sz="3900" i="1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≈</m:t>
                        </m:r>
                        <m:r>
                          <a:rPr lang="en-US" sz="3900" b="0" i="1" smtClean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3900" b="0" i="1" smtClean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  <m:f>
                          <m:fPr>
                            <m:ctrlPr>
                              <a:rPr lang="en-GB" sz="3900" i="1"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GB" sz="3900" i="1">
                                    <a:solidFill>
                                      <a:schemeClr val="tx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3900" i="1">
                                    <a:solidFill>
                                      <a:schemeClr val="tx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GB" sz="3900" b="0" i="1" smtClean="0">
                                    <a:solidFill>
                                      <a:schemeClr val="tx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GB" sz="3900" b="0" i="1" smtClean="0">
                                    <a:solidFill>
                                      <a:schemeClr val="tx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3900" b="0" i="1" smtClean="0">
                                    <a:solidFill>
                                      <a:schemeClr val="tx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GB" sz="3900" i="1"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GB" sz="3900" i="1">
                                    <a:solidFill>
                                      <a:schemeClr val="tx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3900" i="1">
                                    <a:solidFill>
                                      <a:schemeClr val="tx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GB" sz="3900" i="1">
                                    <a:solidFill>
                                      <a:schemeClr val="tx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3900" i="1">
                                    <a:solidFill>
                                      <a:schemeClr val="tx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3900" i="1">
                                    <a:solidFill>
                                      <a:schemeClr val="tx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3900" b="0" i="1" smtClean="0">
                                    <a:solidFill>
                                      <a:schemeClr val="tx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3900" b="0" i="1" smtClean="0">
                                    <a:solidFill>
                                      <a:schemeClr val="tx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num>
                          <m:den>
                            <m:r>
                              <a:rPr lang="en-GB" sz="3900" i="1"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GB" sz="3900" i="1"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oMath>
                    </m:oMathPara>
                  </a14:m>
                  <a:endParaRPr lang="en-US" sz="3900"/>
                </a:p>
              </p:txBody>
            </p:sp>
          </mc:Choice>
          <mc:Fallback xmlns="">
            <p:sp>
              <p:nvSpPr>
                <p:cNvPr id="75" name="Rectangle 74">
                  <a:extLst>
                    <a:ext uri="{FF2B5EF4-FFF2-40B4-BE49-F238E27FC236}">
                      <a16:creationId xmlns:a16="http://schemas.microsoft.com/office/drawing/2014/main" id="{39B0C228-36F9-45EB-DAAB-0407DD3EF1E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308451" y="11452338"/>
                  <a:ext cx="5640006" cy="1555041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EF284995-468B-AECB-2A96-641A6A0A0127}"/>
              </a:ext>
            </a:extLst>
          </p:cNvPr>
          <p:cNvGrpSpPr/>
          <p:nvPr/>
        </p:nvGrpSpPr>
        <p:grpSpPr>
          <a:xfrm>
            <a:off x="7695233" y="11622231"/>
            <a:ext cx="9581077" cy="1417311"/>
            <a:chOff x="7695233" y="11639723"/>
            <a:chExt cx="9581077" cy="1417311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C70AE6E5-E177-042C-A8D7-F72B333DDAD5}"/>
                </a:ext>
              </a:extLst>
            </p:cNvPr>
            <p:cNvSpPr txBox="1"/>
            <p:nvPr/>
          </p:nvSpPr>
          <p:spPr>
            <a:xfrm>
              <a:off x="7735343" y="11986750"/>
              <a:ext cx="3856584" cy="674877"/>
            </a:xfrm>
            <a:prstGeom prst="rect">
              <a:avLst/>
            </a:prstGeom>
            <a:solidFill>
              <a:srgbClr val="92D050">
                <a:alpha val="32157"/>
              </a:srgb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AC74D387-C9C0-F93E-5A0C-308C9BCA4918}"/>
                </a:ext>
              </a:extLst>
            </p:cNvPr>
            <p:cNvGrpSpPr/>
            <p:nvPr/>
          </p:nvGrpSpPr>
          <p:grpSpPr>
            <a:xfrm>
              <a:off x="7695233" y="11639723"/>
              <a:ext cx="9581077" cy="1417311"/>
              <a:chOff x="7447325" y="11432616"/>
              <a:chExt cx="9581077" cy="1417311"/>
            </a:xfrm>
          </p:grpSpPr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E25B120-3A5D-F226-2032-B916F89A8DB2}"/>
                  </a:ext>
                </a:extLst>
              </p:cNvPr>
              <p:cNvSpPr txBox="1"/>
              <p:nvPr/>
            </p:nvSpPr>
            <p:spPr>
              <a:xfrm>
                <a:off x="15780353" y="11647506"/>
                <a:ext cx="1097280" cy="457200"/>
              </a:xfrm>
              <a:prstGeom prst="rect">
                <a:avLst/>
              </a:prstGeom>
              <a:solidFill>
                <a:srgbClr val="92D050">
                  <a:alpha val="32157"/>
                </a:srgbClr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58990A7D-CA13-9828-97B9-66C29BFE17C7}"/>
                      </a:ext>
                    </a:extLst>
                  </p:cNvPr>
                  <p:cNvSpPr txBox="1"/>
                  <p:nvPr/>
                </p:nvSpPr>
                <p:spPr>
                  <a:xfrm>
                    <a:off x="12632903" y="11432616"/>
                    <a:ext cx="4395499" cy="1417311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none" lIns="0" tIns="0" rIns="0" bIns="0" numCol="1" spcCol="38100" rtlCol="0" anchor="ctr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GB" sz="3900" i="1" smtClean="0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"/>
                                  <m:endChr m:val="|"/>
                                  <m:ctrlPr>
                                    <a:rPr lang="en-GB" sz="3900" i="1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GB" sz="3900" i="1">
                                          <a:solidFill>
                                            <a:schemeClr val="tx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3900" b="0" i="1" smtClean="0">
                                          <a:solidFill>
                                            <a:schemeClr val="tx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  <m:r>
                                        <a:rPr lang="en-GB" sz="3900" i="1">
                                          <a:solidFill>
                                            <a:schemeClr val="tx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num>
                                    <m:den>
                                      <m:r>
                                        <a:rPr lang="en-GB" sz="3900" b="0" i="1" smtClean="0">
                                          <a:solidFill>
                                            <a:schemeClr val="tx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𝑑𝑥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b>
                              <m:r>
                                <a:rPr lang="en-GB" sz="3900" i="1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3900" i="1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</m:sSub>
                          <m:r>
                            <a:rPr lang="en-GB" sz="3900" i="1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≈</m:t>
                          </m:r>
                          <m:f>
                            <m:fPr>
                              <m:ctrlP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kumimoji="0" lang="en-GB" sz="3900" b="0" i="1" u="none" strike="noStrike" cap="none" spc="0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sym typeface="Helvetica Neue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GB" sz="3900" b="0" i="1" u="none" strike="noStrike" cap="none" spc="0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sym typeface="Helvetica Neue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kumimoji="0" lang="en-GB" sz="3900" b="0" i="1" u="none" strike="noStrike" cap="none" spc="0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sym typeface="Helvetica Neue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kumimoji="0" lang="en-GB" sz="3900" b="0" i="1" u="none" strike="noStrike" cap="none" spc="0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sym typeface="Helvetica Neue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GB" sz="3900" b="0" i="1" u="none" strike="noStrike" cap="none" spc="0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sym typeface="Helvetica Neue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kumimoji="0" lang="en-US" sz="3900" b="0" i="0" u="none" strike="noStrike" cap="none" spc="0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sym typeface="Helvetica Neue"/>
                                    </a:rPr>
                                    <m:t>inlet</m:t>
                                  </m:r>
                                </m:sub>
                              </m:sSub>
                            </m:num>
                            <m:den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Helvetica Neue"/>
                                </a:rPr>
                                <m:t>∆</m:t>
                              </m:r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Helvetica Neue"/>
                                </a:rPr>
                                <m:t>𝑥</m:t>
                              </m:r>
                            </m:den>
                          </m:f>
                        </m:oMath>
                      </m:oMathPara>
                    </a14:m>
                    <a:endParaRPr kumimoji="0" lang="en-GB" sz="3900" b="0" i="0" u="none" strike="noStrike" cap="none" spc="0" normalizeH="0" baseline="0">
                      <a:ln>
                        <a:noFill/>
                      </a:ln>
                      <a:solidFill>
                        <a:srgbClr val="5E5E5E"/>
                      </a:solidFill>
                      <a:effectLst/>
                      <a:uFillTx/>
                      <a:sym typeface="Helvetica Neue"/>
                    </a:endParaRPr>
                  </a:p>
                </p:txBody>
              </p:sp>
            </mc:Choice>
            <mc:Fallback xmlns="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58990A7D-CA13-9828-97B9-66C29BFE17C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632903" y="11432616"/>
                    <a:ext cx="4395499" cy="1417311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EAE1EFCC-C51A-7394-0DE8-BF847B44A14D}"/>
                  </a:ext>
                </a:extLst>
              </p:cNvPr>
              <p:cNvSpPr txBox="1"/>
              <p:nvPr/>
            </p:nvSpPr>
            <p:spPr>
              <a:xfrm>
                <a:off x="7447325" y="11878888"/>
                <a:ext cx="3924151" cy="53347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GB" sz="2800" i="0" u="none" strike="noStrike" cap="none" spc="0" normalizeH="0" baseline="0">
                    <a:ln>
                      <a:noFill/>
                    </a:ln>
                    <a:solidFill>
                      <a:schemeClr val="tx1">
                        <a:lumMod val="50000"/>
                      </a:schemeClr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rPr>
                  <a:t>Inlet boundary condition</a:t>
                </a:r>
              </a:p>
            </p:txBody>
          </p:sp>
        </p:grp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80C45E72-016C-8F05-E363-6937368072F4}"/>
                </a:ext>
              </a:extLst>
            </p:cNvPr>
            <p:cNvCxnSpPr>
              <a:cxnSpLocks/>
            </p:cNvCxnSpPr>
            <p:nvPr/>
          </p:nvCxnSpPr>
          <p:spPr>
            <a:xfrm>
              <a:off x="11819846" y="12371465"/>
              <a:ext cx="900000" cy="0"/>
            </a:xfrm>
            <a:prstGeom prst="straightConnector1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BCC932FE-CC5F-D7E2-53E3-C9C1B486BB24}"/>
              </a:ext>
            </a:extLst>
          </p:cNvPr>
          <p:cNvGrpSpPr/>
          <p:nvPr/>
        </p:nvGrpSpPr>
        <p:grpSpPr>
          <a:xfrm>
            <a:off x="160623" y="3820967"/>
            <a:ext cx="7125496" cy="6852921"/>
            <a:chOff x="160623" y="3820967"/>
            <a:chExt cx="7125496" cy="6852921"/>
          </a:xfrm>
        </p:grpSpPr>
        <p:pic>
          <p:nvPicPr>
            <p:cNvPr id="8" name="Picture 7" descr="A graph of a function&#10;&#10;AI-generated content may be incorrect.">
              <a:extLst>
                <a:ext uri="{FF2B5EF4-FFF2-40B4-BE49-F238E27FC236}">
                  <a16:creationId xmlns:a16="http://schemas.microsoft.com/office/drawing/2014/main" id="{B97F38C5-1A75-5C5F-77B0-133C255CDC3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60623" y="3820967"/>
              <a:ext cx="6842119" cy="6842119"/>
            </a:xfrm>
            <a:prstGeom prst="rect">
              <a:avLst/>
            </a:prstGeom>
          </p:spPr>
        </p:pic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2D484971-7EB9-79B0-840E-578A8FB717D4}"/>
                </a:ext>
              </a:extLst>
            </p:cNvPr>
            <p:cNvGrpSpPr/>
            <p:nvPr/>
          </p:nvGrpSpPr>
          <p:grpSpPr>
            <a:xfrm>
              <a:off x="398526" y="4465806"/>
              <a:ext cx="6887593" cy="5918886"/>
              <a:chOff x="407453" y="5433188"/>
              <a:chExt cx="6887593" cy="5918886"/>
            </a:xfrm>
          </p:grpSpPr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00632486-3C33-F1A9-3B66-065B86522327}"/>
                  </a:ext>
                </a:extLst>
              </p:cNvPr>
              <p:cNvSpPr txBox="1"/>
              <p:nvPr/>
            </p:nvSpPr>
            <p:spPr>
              <a:xfrm>
                <a:off x="899983" y="5433188"/>
                <a:ext cx="1337891" cy="859327"/>
              </a:xfrm>
              <a:prstGeom prst="rect">
                <a:avLst/>
              </a:prstGeom>
              <a:solidFill>
                <a:schemeClr val="bg1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GB" sz="24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81D0DEA8-8B65-C9FA-817A-2567D5212853}"/>
                  </a:ext>
                </a:extLst>
              </p:cNvPr>
              <p:cNvSpPr txBox="1"/>
              <p:nvPr/>
            </p:nvSpPr>
            <p:spPr>
              <a:xfrm>
                <a:off x="5673778" y="10492747"/>
                <a:ext cx="1337891" cy="859327"/>
              </a:xfrm>
              <a:prstGeom prst="rect">
                <a:avLst/>
              </a:prstGeom>
              <a:solidFill>
                <a:schemeClr val="bg1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GB" sz="24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A189E745-DC23-E7E5-FC3C-D66C9E55230D}"/>
                  </a:ext>
                </a:extLst>
              </p:cNvPr>
              <p:cNvSpPr/>
              <p:nvPr/>
            </p:nvSpPr>
            <p:spPr>
              <a:xfrm>
                <a:off x="3830641" y="8588501"/>
                <a:ext cx="163244" cy="172045"/>
              </a:xfrm>
              <a:prstGeom prst="ellipse">
                <a:avLst/>
              </a:prstGeom>
              <a:solidFill>
                <a:srgbClr val="7030A0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GB" sz="3200" b="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F3B7A096-0B7F-4944-9864-7E35831EC1BF}"/>
                  </a:ext>
                </a:extLst>
              </p:cNvPr>
              <p:cNvSpPr/>
              <p:nvPr/>
            </p:nvSpPr>
            <p:spPr>
              <a:xfrm>
                <a:off x="2614199" y="9114146"/>
                <a:ext cx="163244" cy="172045"/>
              </a:xfrm>
              <a:prstGeom prst="ellipse">
                <a:avLst/>
              </a:prstGeom>
              <a:solidFill>
                <a:srgbClr val="7030A0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GB" sz="3200" b="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34B77115-550A-9CAB-874F-75309940BCF2}"/>
                  </a:ext>
                </a:extLst>
              </p:cNvPr>
              <p:cNvSpPr/>
              <p:nvPr/>
            </p:nvSpPr>
            <p:spPr>
              <a:xfrm>
                <a:off x="5004045" y="7782815"/>
                <a:ext cx="163244" cy="172045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GB" sz="3200" b="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6097DC28-A23F-0233-8878-4E979A5B646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96568" y="9274159"/>
                <a:ext cx="0" cy="940650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dash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6446537A-A546-8EE8-DD29-D83AB48E35B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888795" y="8760546"/>
                <a:ext cx="23468" cy="1454263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dash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2400410A-8F40-1E60-B547-DE93D9C2CB0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85667" y="7958547"/>
                <a:ext cx="0" cy="2256262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dash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471A7609-07F7-D461-DD6A-5AC4DA5D23D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813047" y="7517693"/>
                <a:ext cx="4361676" cy="2256669"/>
              </a:xfrm>
              <a:prstGeom prst="line">
                <a:avLst/>
              </a:prstGeom>
              <a:noFill/>
              <a:ln w="57150" cap="flat">
                <a:solidFill>
                  <a:schemeClr val="accent1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51C091A8-0CCA-7FCD-2C35-F990AD17E77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552161" y="7830479"/>
                <a:ext cx="4410385" cy="1857803"/>
              </a:xfrm>
              <a:prstGeom prst="line">
                <a:avLst/>
              </a:prstGeom>
              <a:noFill/>
              <a:ln w="57150" cap="flat">
                <a:solidFill>
                  <a:srgbClr val="7030A0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2" name="TextBox 91">
                    <a:extLst>
                      <a:ext uri="{FF2B5EF4-FFF2-40B4-BE49-F238E27FC236}">
                        <a16:creationId xmlns:a16="http://schemas.microsoft.com/office/drawing/2014/main" id="{0CF86C42-3825-8562-65A6-98102C1EEC7D}"/>
                      </a:ext>
                    </a:extLst>
                  </p:cNvPr>
                  <p:cNvSpPr txBox="1"/>
                  <p:nvPr/>
                </p:nvSpPr>
                <p:spPr>
                  <a:xfrm>
                    <a:off x="407453" y="6231323"/>
                    <a:ext cx="886268" cy="492443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none" lIns="0" tIns="0" rIns="0" bIns="0" numCol="1" spcCol="38100" rtlCol="0" anchor="ctr">
                    <a:spAutoFit/>
                  </a:bodyPr>
                  <a:lstStyle/>
                  <a:p>
                    <a:pPr marL="0" marR="0" indent="0" algn="ctr" defTabSz="2438338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GB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𝑐</m:t>
                          </m:r>
                          <m:r>
                            <a:rPr kumimoji="0" lang="en-GB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(</m:t>
                          </m:r>
                          <m:r>
                            <a:rPr kumimoji="0" lang="en-GB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𝑥</m:t>
                          </m:r>
                          <m:r>
                            <a:rPr kumimoji="0" lang="en-GB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)</m:t>
                          </m:r>
                        </m:oMath>
                      </m:oMathPara>
                    </a14:m>
                    <a:endParaRPr kumimoji="0" lang="en-GB" sz="3200" b="0" i="0" u="none" strike="noStrike" cap="none" spc="0" normalizeH="0" baseline="0">
                      <a:ln>
                        <a:noFill/>
                      </a:ln>
                      <a:solidFill>
                        <a:schemeClr val="bg2">
                          <a:lumMod val="10000"/>
                        </a:schemeClr>
                      </a:solidFill>
                      <a:effectLst/>
                      <a:uFillTx/>
                      <a:ea typeface="+mn-ea"/>
                      <a:cs typeface="+mn-cs"/>
                      <a:sym typeface="Helvetica Neue"/>
                    </a:endParaRPr>
                  </a:p>
                </p:txBody>
              </p:sp>
            </mc:Choice>
            <mc:Fallback xmlns="">
              <p:sp>
                <p:nvSpPr>
                  <p:cNvPr id="92" name="TextBox 91">
                    <a:extLst>
                      <a:ext uri="{FF2B5EF4-FFF2-40B4-BE49-F238E27FC236}">
                        <a16:creationId xmlns:a16="http://schemas.microsoft.com/office/drawing/2014/main" id="{0CF86C42-3825-8562-65A6-98102C1EEC7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7453" y="6231323"/>
                    <a:ext cx="886268" cy="492443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3" name="TextBox 92">
                    <a:extLst>
                      <a:ext uri="{FF2B5EF4-FFF2-40B4-BE49-F238E27FC236}">
                        <a16:creationId xmlns:a16="http://schemas.microsoft.com/office/drawing/2014/main" id="{A92E73BE-EF4F-78CD-1CBC-50F27AB65A92}"/>
                      </a:ext>
                    </a:extLst>
                  </p:cNvPr>
                  <p:cNvSpPr txBox="1"/>
                  <p:nvPr/>
                </p:nvSpPr>
                <p:spPr>
                  <a:xfrm>
                    <a:off x="6005114" y="10292644"/>
                    <a:ext cx="344261" cy="492443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none" lIns="0" tIns="0" rIns="0" bIns="0" numCol="1" spcCol="38100" rtlCol="0" anchor="ctr">
                    <a:spAutoFit/>
                  </a:bodyPr>
                  <a:lstStyle/>
                  <a:p>
                    <a:pPr marL="0" marR="0" indent="0" algn="ctr" defTabSz="2438338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GB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𝑥</m:t>
                          </m:r>
                        </m:oMath>
                      </m:oMathPara>
                    </a14:m>
                    <a:endParaRPr kumimoji="0" lang="en-GB" sz="3200" b="0" i="0" u="none" strike="noStrike" cap="none" spc="0" normalizeH="0" baseline="0">
                      <a:ln>
                        <a:noFill/>
                      </a:ln>
                      <a:solidFill>
                        <a:schemeClr val="bg2">
                          <a:lumMod val="10000"/>
                        </a:schemeClr>
                      </a:solidFill>
                      <a:effectLst/>
                      <a:uFillTx/>
                      <a:ea typeface="+mn-ea"/>
                      <a:cs typeface="+mn-cs"/>
                      <a:sym typeface="Helvetica Neue"/>
                    </a:endParaRPr>
                  </a:p>
                </p:txBody>
              </p:sp>
            </mc:Choice>
            <mc:Fallback xmlns="">
              <p:sp>
                <p:nvSpPr>
                  <p:cNvPr id="93" name="TextBox 92">
                    <a:extLst>
                      <a:ext uri="{FF2B5EF4-FFF2-40B4-BE49-F238E27FC236}">
                        <a16:creationId xmlns:a16="http://schemas.microsoft.com/office/drawing/2014/main" id="{A92E73BE-EF4F-78CD-1CBC-50F27AB65A9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05114" y="10292644"/>
                    <a:ext cx="344261" cy="492443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4" name="TextBox 93">
                    <a:extLst>
                      <a:ext uri="{FF2B5EF4-FFF2-40B4-BE49-F238E27FC236}">
                        <a16:creationId xmlns:a16="http://schemas.microsoft.com/office/drawing/2014/main" id="{7A381B7B-9261-690C-8351-32B7A75704E1}"/>
                      </a:ext>
                    </a:extLst>
                  </p:cNvPr>
                  <p:cNvSpPr txBox="1"/>
                  <p:nvPr/>
                </p:nvSpPr>
                <p:spPr>
                  <a:xfrm>
                    <a:off x="3712268" y="10292644"/>
                    <a:ext cx="460960" cy="492443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none" lIns="0" tIns="0" rIns="0" bIns="0" numCol="1" spcCol="38100" rtlCol="0" anchor="ctr">
                    <a:spAutoFit/>
                  </a:bodyPr>
                  <a:lstStyle/>
                  <a:p>
                    <a:pPr marL="0" marR="0" indent="0" algn="ctr" defTabSz="2438338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en-GB" sz="3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7030A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</m:ctrlPr>
                            </m:sSubPr>
                            <m:e>
                              <m:r>
                                <a:rPr kumimoji="0" lang="en-GB" sz="3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7030A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GB" sz="3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7030A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  <m:t>𝑖</m:t>
                              </m:r>
                            </m:sub>
                          </m:sSub>
                        </m:oMath>
                      </m:oMathPara>
                    </a14:m>
                    <a:endParaRPr kumimoji="0" lang="en-GB" sz="3200" b="0" i="0" u="none" strike="noStrike" cap="none" spc="0" normalizeH="0" baseline="0">
                      <a:ln>
                        <a:noFill/>
                      </a:ln>
                      <a:solidFill>
                        <a:srgbClr val="7030A0"/>
                      </a:solidFill>
                      <a:effectLst/>
                      <a:uFillTx/>
                      <a:ea typeface="+mn-ea"/>
                      <a:cs typeface="+mn-cs"/>
                      <a:sym typeface="Helvetica Neue"/>
                    </a:endParaRPr>
                  </a:p>
                </p:txBody>
              </p:sp>
            </mc:Choice>
            <mc:Fallback xmlns="">
              <p:sp>
                <p:nvSpPr>
                  <p:cNvPr id="94" name="TextBox 93">
                    <a:extLst>
                      <a:ext uri="{FF2B5EF4-FFF2-40B4-BE49-F238E27FC236}">
                        <a16:creationId xmlns:a16="http://schemas.microsoft.com/office/drawing/2014/main" id="{7A381B7B-9261-690C-8351-32B7A75704E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12268" y="10292644"/>
                    <a:ext cx="460960" cy="492443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1" name="TextBox 100">
                    <a:extLst>
                      <a:ext uri="{FF2B5EF4-FFF2-40B4-BE49-F238E27FC236}">
                        <a16:creationId xmlns:a16="http://schemas.microsoft.com/office/drawing/2014/main" id="{2BEAEF21-A0F5-CC0F-BDD0-132C1F6C3299}"/>
                      </a:ext>
                    </a:extLst>
                  </p:cNvPr>
                  <p:cNvSpPr txBox="1"/>
                  <p:nvPr/>
                </p:nvSpPr>
                <p:spPr>
                  <a:xfrm>
                    <a:off x="4661863" y="10292644"/>
                    <a:ext cx="852093" cy="492443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none" lIns="0" tIns="0" rIns="0" bIns="0" numCol="1" spcCol="38100" rtlCol="0" anchor="ctr">
                    <a:spAutoFit/>
                  </a:bodyPr>
                  <a:lstStyle/>
                  <a:p>
                    <a:pPr marL="0" marR="0" indent="0" algn="ctr" defTabSz="2438338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en-GB" sz="3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</m:ctrlPr>
                            </m:sSubPr>
                            <m:e>
                              <m:r>
                                <a:rPr kumimoji="0" lang="en-GB" sz="3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GB" sz="3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  <m:t>𝑖</m:t>
                              </m:r>
                              <m:r>
                                <a:rPr kumimoji="0" lang="en-GB" sz="3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  <m:t>+1</m:t>
                              </m:r>
                            </m:sub>
                          </m:sSub>
                        </m:oMath>
                      </m:oMathPara>
                    </a14:m>
                    <a:endParaRPr kumimoji="0" lang="en-GB" sz="3200" b="0" i="0" u="none" strike="noStrike" cap="none" spc="0" normalizeH="0" baseline="0">
                      <a:ln>
                        <a:noFill/>
                      </a:ln>
                      <a:solidFill>
                        <a:schemeClr val="bg2">
                          <a:lumMod val="10000"/>
                        </a:schemeClr>
                      </a:solidFill>
                      <a:effectLst/>
                      <a:uFillTx/>
                      <a:ea typeface="+mn-ea"/>
                      <a:cs typeface="+mn-cs"/>
                      <a:sym typeface="Helvetica Neue"/>
                    </a:endParaRPr>
                  </a:p>
                </p:txBody>
              </p:sp>
            </mc:Choice>
            <mc:Fallback xmlns="">
              <p:sp>
                <p:nvSpPr>
                  <p:cNvPr id="101" name="TextBox 100">
                    <a:extLst>
                      <a:ext uri="{FF2B5EF4-FFF2-40B4-BE49-F238E27FC236}">
                        <a16:creationId xmlns:a16="http://schemas.microsoft.com/office/drawing/2014/main" id="{2BEAEF21-A0F5-CC0F-BDD0-132C1F6C329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61863" y="10292644"/>
                    <a:ext cx="852093" cy="492443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2" name="TextBox 101">
                    <a:extLst>
                      <a:ext uri="{FF2B5EF4-FFF2-40B4-BE49-F238E27FC236}">
                        <a16:creationId xmlns:a16="http://schemas.microsoft.com/office/drawing/2014/main" id="{03E65C67-3F21-F206-33CC-82CC71C389AE}"/>
                      </a:ext>
                    </a:extLst>
                  </p:cNvPr>
                  <p:cNvSpPr txBox="1"/>
                  <p:nvPr/>
                </p:nvSpPr>
                <p:spPr>
                  <a:xfrm>
                    <a:off x="2274822" y="10292644"/>
                    <a:ext cx="852093" cy="492443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none" lIns="0" tIns="0" rIns="0" bIns="0" numCol="1" spcCol="38100" rtlCol="0" anchor="ctr">
                    <a:spAutoFit/>
                  </a:bodyPr>
                  <a:lstStyle/>
                  <a:p>
                    <a:pPr marL="0" marR="0" indent="0" algn="ctr" defTabSz="2438338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en-GB" sz="3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7030A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</m:ctrlPr>
                            </m:sSubPr>
                            <m:e>
                              <m:r>
                                <a:rPr kumimoji="0" lang="en-GB" sz="3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7030A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GB" sz="3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7030A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  <m:t>𝑖</m:t>
                              </m:r>
                              <m:r>
                                <a:rPr kumimoji="0" lang="en-GB" sz="3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7030A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kumimoji="0" lang="en-GB" sz="3200" b="0" i="0" u="none" strike="noStrike" cap="none" spc="0" normalizeH="0" baseline="0">
                      <a:ln>
                        <a:noFill/>
                      </a:ln>
                      <a:solidFill>
                        <a:srgbClr val="7030A0"/>
                      </a:solidFill>
                      <a:effectLst/>
                      <a:uFillTx/>
                      <a:ea typeface="+mn-ea"/>
                      <a:cs typeface="+mn-cs"/>
                      <a:sym typeface="Helvetica Neue"/>
                    </a:endParaRPr>
                  </a:p>
                </p:txBody>
              </p:sp>
            </mc:Choice>
            <mc:Fallback xmlns="">
              <p:sp>
                <p:nvSpPr>
                  <p:cNvPr id="102" name="TextBox 101">
                    <a:extLst>
                      <a:ext uri="{FF2B5EF4-FFF2-40B4-BE49-F238E27FC236}">
                        <a16:creationId xmlns:a16="http://schemas.microsoft.com/office/drawing/2014/main" id="{03E65C67-3F21-F206-33CC-82CC71C389A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74822" y="10292644"/>
                    <a:ext cx="852093" cy="492443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03" name="Straight Arrow Connector 102">
                <a:extLst>
                  <a:ext uri="{FF2B5EF4-FFF2-40B4-BE49-F238E27FC236}">
                    <a16:creationId xmlns:a16="http://schemas.microsoft.com/office/drawing/2014/main" id="{BC698810-A7EE-7C58-9599-8A698E9B358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109800" y="7590611"/>
                <a:ext cx="493566" cy="711178"/>
              </a:xfrm>
              <a:prstGeom prst="straightConnector1">
                <a:avLst/>
              </a:prstGeom>
              <a:noFill/>
              <a:ln w="57150" cap="flat">
                <a:solidFill>
                  <a:srgbClr val="00B0F0"/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166A33EB-608D-127E-6BEF-7F83044D4281}"/>
                  </a:ext>
                </a:extLst>
              </p:cNvPr>
              <p:cNvSpPr txBox="1"/>
              <p:nvPr/>
            </p:nvSpPr>
            <p:spPr>
              <a:xfrm>
                <a:off x="6153708" y="8277196"/>
                <a:ext cx="1141338" cy="96436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GB" sz="2800" b="1" i="0" u="none" strike="noStrike" cap="none" spc="0" normalizeH="0" baseline="0">
                    <a:ln>
                      <a:noFill/>
                    </a:ln>
                    <a:solidFill>
                      <a:srgbClr val="00B0F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rPr>
                  <a:t>True</a:t>
                </a:r>
              </a:p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GB" sz="2800" b="1" i="0" u="none" strike="noStrike" cap="none" spc="0" normalizeH="0" baseline="0">
                    <a:ln>
                      <a:noFill/>
                    </a:ln>
                    <a:solidFill>
                      <a:srgbClr val="00B0F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rPr>
                  <a:t> slope</a:t>
                </a:r>
              </a:p>
            </p:txBody>
          </p:sp>
          <p:cxnSp>
            <p:nvCxnSpPr>
              <p:cNvPr id="111" name="Straight Arrow Connector 110">
                <a:extLst>
                  <a:ext uri="{FF2B5EF4-FFF2-40B4-BE49-F238E27FC236}">
                    <a16:creationId xmlns:a16="http://schemas.microsoft.com/office/drawing/2014/main" id="{67F7B858-F208-E162-2244-AA0F89206D7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667196" y="8443180"/>
                <a:ext cx="518915" cy="756988"/>
              </a:xfrm>
              <a:prstGeom prst="straightConnector1">
                <a:avLst/>
              </a:prstGeom>
              <a:noFill/>
              <a:ln w="57150" cap="flat">
                <a:solidFill>
                  <a:srgbClr val="7030A0"/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F315BCB8-8295-1C74-B054-7660AD12E27A}"/>
                  </a:ext>
                </a:extLst>
              </p:cNvPr>
              <p:cNvSpPr txBox="1"/>
              <p:nvPr/>
            </p:nvSpPr>
            <p:spPr>
              <a:xfrm>
                <a:off x="3991561" y="9232127"/>
                <a:ext cx="2619307" cy="96436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GB" sz="2800" b="1" i="0" u="none" strike="noStrike" cap="none" spc="0" normalizeH="0" baseline="0">
                    <a:ln>
                      <a:noFill/>
                    </a:ln>
                    <a:solidFill>
                      <a:srgbClr val="7030A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rPr>
                  <a:t>Approximated </a:t>
                </a:r>
              </a:p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GB" sz="2800" b="1">
                    <a:solidFill>
                      <a:srgbClr val="7030A0"/>
                    </a:solidFill>
                  </a:rPr>
                  <a:t>slope</a:t>
                </a:r>
                <a:endParaRPr kumimoji="0" lang="en-GB" sz="2800" b="1" i="0" u="none" strike="noStrike" cap="none" spc="0" normalizeH="0" baseline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A723196C-D7C6-6BEA-B183-103CC14D638B}"/>
                    </a:ext>
                  </a:extLst>
                </p:cNvPr>
                <p:cNvSpPr txBox="1"/>
                <p:nvPr/>
              </p:nvSpPr>
              <p:spPr>
                <a:xfrm>
                  <a:off x="2715390" y="10181445"/>
                  <a:ext cx="1173405" cy="49244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0" tIns="0" rIns="0" bIns="0" numCol="1" spcCol="3810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3200" i="1" smtClean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GB" sz="3200" b="0" i="1" smtClean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kumimoji="0" lang="en-GB" sz="3200" b="0" i="0" u="none" strike="noStrike" cap="none" spc="0" normalizeH="0" baseline="0">
                    <a:ln>
                      <a:noFill/>
                    </a:ln>
                    <a:solidFill>
                      <a:srgbClr val="5E5E5E"/>
                    </a:solidFill>
                    <a:effectLst/>
                    <a:uFillTx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A723196C-D7C6-6BEA-B183-103CC14D63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15390" y="10181445"/>
                  <a:ext cx="1173405" cy="492443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64DB58CD-B1F4-606C-29F4-97C355BA89CE}"/>
                </a:ext>
              </a:extLst>
            </p:cNvPr>
            <p:cNvCxnSpPr>
              <a:cxnSpLocks/>
            </p:cNvCxnSpPr>
            <p:nvPr/>
          </p:nvCxnSpPr>
          <p:spPr>
            <a:xfrm>
              <a:off x="2686894" y="10178716"/>
              <a:ext cx="1192974" cy="0"/>
            </a:xfrm>
            <a:prstGeom prst="straightConnector1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headEnd type="triangle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</p:spTree>
    <p:extLst>
      <p:ext uri="{BB962C8B-B14F-4D97-AF65-F5344CB8AC3E}">
        <p14:creationId xmlns:p14="http://schemas.microsoft.com/office/powerpoint/2010/main" val="975269573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8C3F8-9027-7B1B-4326-3BF2D9EBF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C3BA655D-B455-3181-DAFF-C540A06E3F14}"/>
              </a:ext>
            </a:extLst>
          </p:cNvPr>
          <p:cNvSpPr/>
          <p:nvPr/>
        </p:nvSpPr>
        <p:spPr>
          <a:xfrm>
            <a:off x="3888795" y="246197"/>
            <a:ext cx="7994496" cy="923330"/>
          </a:xfrm>
          <a:prstGeom prst="rect">
            <a:avLst/>
          </a:prstGeom>
        </p:spPr>
        <p:txBody>
          <a:bodyPr wrap="none">
            <a:spAutoFit/>
          </a:bodyPr>
          <a:lstStyle>
            <a:defPPr marL="0" marR="0" indent="0" algn="l" defTabSz="18288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1pPr>
            <a:lvl2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2pPr>
            <a:lvl3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3pPr>
            <a:lvl4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4pPr>
            <a:lvl5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5pPr>
            <a:lvl6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6pPr>
            <a:lvl7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7pPr>
            <a:lvl8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8pPr>
            <a:lvl9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9pPr>
          </a:lstStyle>
          <a:p>
            <a:r>
              <a:rPr lang="en-US" sz="5400" b="1">
                <a:solidFill>
                  <a:srgbClr val="EAEAEA"/>
                </a:solidFill>
              </a:rPr>
              <a:t>Converting PDE to ODE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8D71735-B0F4-50F7-8843-B1226F203114}"/>
              </a:ext>
            </a:extLst>
          </p:cNvPr>
          <p:cNvSpPr txBox="1"/>
          <p:nvPr/>
        </p:nvSpPr>
        <p:spPr>
          <a:xfrm>
            <a:off x="1378345" y="2896336"/>
            <a:ext cx="947375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3200" b="1" i="0" u="none" strike="noStrike" cap="none" spc="0" normalizeH="0" baseline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PDE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262604-07B3-E0DC-98A5-4DCCA81B43C0}"/>
              </a:ext>
            </a:extLst>
          </p:cNvPr>
          <p:cNvSpPr/>
          <p:nvPr/>
        </p:nvSpPr>
        <p:spPr>
          <a:xfrm rot="-10800000" flipV="1">
            <a:off x="9853404" y="13283356"/>
            <a:ext cx="4628055" cy="379591"/>
          </a:xfrm>
          <a:prstGeom prst="rect">
            <a:avLst/>
          </a:prstGeom>
          <a:solidFill>
            <a:srgbClr val="8B79A6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n-US" sz="1800"/>
              <a:t>Workshop on Numerical Simulation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F064E5-7CA2-D50E-6108-C49878893E3E}"/>
              </a:ext>
            </a:extLst>
          </p:cNvPr>
          <p:cNvSpPr/>
          <p:nvPr/>
        </p:nvSpPr>
        <p:spPr>
          <a:xfrm rot="-10800000" flipV="1">
            <a:off x="457612" y="13283975"/>
            <a:ext cx="4628055" cy="379591"/>
          </a:xfrm>
          <a:prstGeom prst="rect">
            <a:avLst/>
          </a:prstGeom>
          <a:solidFill>
            <a:srgbClr val="5C2A7A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/>
            <a:r>
              <a:rPr lang="en-GB" sz="1800">
                <a:solidFill>
                  <a:srgbClr val="9E79A6"/>
                </a:solidFill>
                <a:latin typeface="Helvetica Neue"/>
              </a:rPr>
              <a:t>KR and MA</a:t>
            </a:r>
            <a:endParaRPr lang="en-US" sz="18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6954BE-BA96-9ECA-1295-135973FA2A66}"/>
              </a:ext>
            </a:extLst>
          </p:cNvPr>
          <p:cNvSpPr txBox="1"/>
          <p:nvPr/>
        </p:nvSpPr>
        <p:spPr>
          <a:xfrm flipH="1">
            <a:off x="2446661" y="1752132"/>
            <a:ext cx="632311" cy="1194507"/>
          </a:xfrm>
          <a:prstGeom prst="rect">
            <a:avLst/>
          </a:prstGeom>
          <a:solidFill>
            <a:srgbClr val="CCECFF">
              <a:alpha val="50196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6760D78-44FC-2AFB-5CBD-1FF5A2232110}"/>
              </a:ext>
            </a:extLst>
          </p:cNvPr>
          <p:cNvSpPr/>
          <p:nvPr/>
        </p:nvSpPr>
        <p:spPr>
          <a:xfrm rot="-10800000" flipV="1">
            <a:off x="19138012" y="13283101"/>
            <a:ext cx="4628055" cy="379591"/>
          </a:xfrm>
          <a:prstGeom prst="rect">
            <a:avLst/>
          </a:prstGeom>
          <a:solidFill>
            <a:srgbClr val="5C2A7A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/>
            <a:r>
              <a:rPr lang="en-GB" sz="1800">
                <a:solidFill>
                  <a:srgbClr val="9E79A6"/>
                </a:solidFill>
                <a:latin typeface="Helvetica Neue"/>
              </a:rPr>
              <a:t>22/10/2025</a:t>
            </a:r>
            <a:endParaRPr lang="en-US" sz="1800"/>
          </a:p>
        </p:txBody>
      </p:sp>
      <p:sp>
        <p:nvSpPr>
          <p:cNvPr id="59" name="Slide Number">
            <a:extLst>
              <a:ext uri="{FF2B5EF4-FFF2-40B4-BE49-F238E27FC236}">
                <a16:creationId xmlns:a16="http://schemas.microsoft.com/office/drawing/2014/main" id="{C81796B2-9C18-A7DB-12B4-7DF1D8907CF4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23805849" y="13272486"/>
            <a:ext cx="230832" cy="379591"/>
          </a:xfrm>
          <a:prstGeom prst="rect">
            <a:avLst/>
          </a:prstGeom>
        </p:spPr>
        <p:txBody>
          <a:bodyPr/>
          <a:lstStyle/>
          <a:p>
            <a:r>
              <a:rPr lang="en-GB"/>
              <a:t>4</a:t>
            </a:r>
            <a:endParaRPr/>
          </a:p>
        </p:txBody>
      </p:sp>
      <p:pic>
        <p:nvPicPr>
          <p:cNvPr id="12" name="Picture 11" descr="\documentclass{article}&#10;\usepackage{amsmath}&#10;\pagestyle{empty}&#10;\begin{document}&#10;\begin{equation}&#10;\frac{\partial c}{\partial t}=-v\frac{\partial c}{\partial x}&#10;\nonumber&#10;\end{equation}&#10;&#10;\end{document}" title="IguanaTex Bitmap Display">
            <a:extLst>
              <a:ext uri="{FF2B5EF4-FFF2-40B4-BE49-F238E27FC236}">
                <a16:creationId xmlns:a16="http://schemas.microsoft.com/office/drawing/2014/main" id="{259D489E-E52C-EEC6-D7C3-1E5A63001BF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187" y="1819920"/>
            <a:ext cx="2419693" cy="100772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6C170A9-704F-4244-3430-2D71CBF1BCA5}"/>
                  </a:ext>
                </a:extLst>
              </p:cNvPr>
              <p:cNvSpPr txBox="1"/>
              <p:nvPr/>
            </p:nvSpPr>
            <p:spPr>
              <a:xfrm>
                <a:off x="18367561" y="2471145"/>
                <a:ext cx="4009431" cy="141673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900" i="1" smtClean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GB" sz="3900" i="1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sz="3900" i="1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3900" b="0" i="1" smtClean="0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n-GB" sz="3900" i="1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num>
                                <m:den>
                                  <m:r>
                                    <a:rPr lang="en-GB" sz="3900" b="0" i="1" smtClean="0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𝑑𝑥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GB" sz="3900" i="1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3900" i="1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GB" sz="3900" b="0" i="1" smtClean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3900" i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kumimoji="0" lang="en-GB" sz="39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Neue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</m:ctrlPr>
                            </m:sSubPr>
                            <m:e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𝑐</m:t>
                              </m:r>
                            </m:e>
                            <m:sub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0" lang="en-GB" sz="39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Neue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</m:ctrlPr>
                            </m:sSubPr>
                            <m:e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𝑐</m:t>
                              </m:r>
                            </m:e>
                            <m:sub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𝑖</m:t>
                              </m:r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−1</m:t>
                              </m:r>
                            </m:sub>
                          </m:sSub>
                        </m:num>
                        <m:den>
                          <m:r>
                            <a:rPr kumimoji="0" lang="en-GB" sz="39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Helvetica Neue"/>
                            </a:rPr>
                            <m:t>∆</m:t>
                          </m:r>
                          <m:r>
                            <a:rPr kumimoji="0" lang="en-GB" sz="39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Helvetica Neue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kumimoji="0" lang="en-GB" sz="39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sym typeface="Helvetica Neue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6C170A9-704F-4244-3430-2D71CBF1BC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67561" y="2471145"/>
                <a:ext cx="4009431" cy="141673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12AF34F3-1E43-A581-6399-6178F629BB24}"/>
              </a:ext>
            </a:extLst>
          </p:cNvPr>
          <p:cNvSpPr txBox="1"/>
          <p:nvPr/>
        </p:nvSpPr>
        <p:spPr>
          <a:xfrm>
            <a:off x="18716818" y="1586097"/>
            <a:ext cx="3815148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3200">
                <a:solidFill>
                  <a:srgbClr val="7030A0"/>
                </a:solidFill>
              </a:rPr>
              <a:t>Backward difference</a:t>
            </a:r>
            <a:endParaRPr kumimoji="0" lang="en-GB" sz="3200" b="0" i="0" u="none" strike="noStrike" cap="none" spc="0" normalizeH="0" baseline="0">
              <a:ln>
                <a:noFill/>
              </a:ln>
              <a:solidFill>
                <a:srgbClr val="7030A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6A6A70-A8D4-3D8E-4AE2-09C55DA39C6D}"/>
              </a:ext>
            </a:extLst>
          </p:cNvPr>
          <p:cNvSpPr txBox="1"/>
          <p:nvPr/>
        </p:nvSpPr>
        <p:spPr>
          <a:xfrm>
            <a:off x="12450197" y="1586096"/>
            <a:ext cx="3335849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3200">
                <a:solidFill>
                  <a:schemeClr val="accent6">
                    <a:lumMod val="75000"/>
                  </a:schemeClr>
                </a:solidFill>
              </a:rPr>
              <a:t>Central difference</a:t>
            </a:r>
            <a:endParaRPr kumimoji="0" lang="en-GB" sz="3200" b="0" i="0" u="none" strike="noStrike" cap="none" spc="0" normalizeH="0" baseline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8AE6ADF-B299-FE28-032C-C2CAAB8A273E}"/>
                  </a:ext>
                </a:extLst>
              </p:cNvPr>
              <p:cNvSpPr txBox="1"/>
              <p:nvPr/>
            </p:nvSpPr>
            <p:spPr>
              <a:xfrm>
                <a:off x="11773274" y="2471145"/>
                <a:ext cx="4487126" cy="141673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900" i="1" smtClean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GB" sz="3900" i="1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sz="3900" i="1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3900" b="0" i="1" smtClean="0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n-GB" sz="3900" i="1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num>
                                <m:den>
                                  <m:r>
                                    <a:rPr lang="en-GB" sz="3900" b="0" i="1" smtClean="0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𝑑𝑥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GB" sz="3900" i="1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3900" i="1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GB" sz="3900" b="0" i="1" smtClean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3900" i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kumimoji="0" lang="en-GB" sz="39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Neue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</m:ctrlPr>
                            </m:sSubPr>
                            <m:e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𝑐</m:t>
                              </m:r>
                            </m:e>
                            <m:sub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𝑖</m:t>
                              </m:r>
                              <m:r>
                                <a:rPr kumimoji="0" lang="en-US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+</m:t>
                              </m:r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1</m:t>
                              </m:r>
                            </m:sub>
                          </m:sSub>
                          <m:r>
                            <a:rPr kumimoji="0" lang="en-GB" sz="39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Neue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</m:ctrlPr>
                            </m:sSubPr>
                            <m:e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𝑐</m:t>
                              </m:r>
                            </m:e>
                            <m:sub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𝑖</m:t>
                              </m:r>
                              <m:r>
                                <a:rPr kumimoji="0" lang="en-US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−</m:t>
                              </m:r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kumimoji="0" lang="en-GB" sz="39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Neue"/>
                            </a:rPr>
                            <m:t>2</m:t>
                          </m:r>
                          <m:r>
                            <a:rPr kumimoji="0" lang="en-GB" sz="39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Helvetica Neue"/>
                            </a:rPr>
                            <m:t>∆</m:t>
                          </m:r>
                          <m:r>
                            <a:rPr kumimoji="0" lang="en-GB" sz="39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Helvetica Neue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kumimoji="0" lang="en-GB" sz="39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sym typeface="Helvetica Neue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8AE6ADF-B299-FE28-032C-C2CAAB8A27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73274" y="2471145"/>
                <a:ext cx="4487126" cy="141673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C1586C70-20FF-69CA-0D6A-A7FAC6A47934}"/>
              </a:ext>
            </a:extLst>
          </p:cNvPr>
          <p:cNvSpPr txBox="1"/>
          <p:nvPr/>
        </p:nvSpPr>
        <p:spPr>
          <a:xfrm>
            <a:off x="11336890" y="4788349"/>
            <a:ext cx="12739467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GB" sz="3200" b="1">
                <a:solidFill>
                  <a:schemeClr val="tx1"/>
                </a:solidFill>
              </a:rPr>
              <a:t>Discretize</a:t>
            </a:r>
            <a:r>
              <a:rPr lang="en-GB" sz="3200">
                <a:solidFill>
                  <a:schemeClr val="tx1">
                    <a:lumMod val="50000"/>
                  </a:schemeClr>
                </a:solidFill>
              </a:rPr>
              <a:t> the </a:t>
            </a:r>
            <a:r>
              <a:rPr lang="en-GB" sz="3200" b="1">
                <a:solidFill>
                  <a:schemeClr val="tx1"/>
                </a:solidFill>
              </a:rPr>
              <a:t>spatial domain</a:t>
            </a:r>
            <a:r>
              <a:rPr lang="en-GB" sz="3200" b="1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GB" sz="3200">
                <a:solidFill>
                  <a:schemeClr val="tx1">
                    <a:lumMod val="50000"/>
                  </a:schemeClr>
                </a:solidFill>
              </a:rPr>
              <a:t>but keep the </a:t>
            </a:r>
            <a:r>
              <a:rPr lang="en-GB" sz="3200" b="1">
                <a:solidFill>
                  <a:schemeClr val="tx1">
                    <a:lumMod val="50000"/>
                  </a:schemeClr>
                </a:solidFill>
              </a:rPr>
              <a:t>time domain </a:t>
            </a:r>
            <a:r>
              <a:rPr lang="en-GB" sz="3200">
                <a:solidFill>
                  <a:schemeClr val="tx1">
                    <a:lumMod val="50000"/>
                  </a:schemeClr>
                </a:solidFill>
              </a:rPr>
              <a:t>continuous</a:t>
            </a:r>
            <a:endParaRPr lang="en-GB" sz="3200" b="1">
              <a:solidFill>
                <a:schemeClr val="tx1">
                  <a:lumMod val="50000"/>
                </a:schemeClr>
              </a:solidFill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DAF76E6D-34E4-01C6-17FE-6C406C5FF458}"/>
              </a:ext>
            </a:extLst>
          </p:cNvPr>
          <p:cNvGrpSpPr/>
          <p:nvPr/>
        </p:nvGrpSpPr>
        <p:grpSpPr>
          <a:xfrm>
            <a:off x="11552722" y="5413262"/>
            <a:ext cx="11931295" cy="5177658"/>
            <a:chOff x="6494858" y="3875429"/>
            <a:chExt cx="11931295" cy="5177658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E7AAEA4-8A8B-4A55-FC6A-E2926ECF41EE}"/>
                </a:ext>
              </a:extLst>
            </p:cNvPr>
            <p:cNvSpPr/>
            <p:nvPr/>
          </p:nvSpPr>
          <p:spPr>
            <a:xfrm>
              <a:off x="6494858" y="4584298"/>
              <a:ext cx="11931295" cy="2737681"/>
            </a:xfrm>
            <a:prstGeom prst="rect">
              <a:avLst/>
            </a:prstGeom>
            <a:noFill/>
            <a:ln w="57150" cap="flat">
              <a:solidFill>
                <a:schemeClr val="bg2">
                  <a:lumMod val="1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E831287B-5F75-22CA-13A6-67D3002277C2}"/>
                </a:ext>
              </a:extLst>
            </p:cNvPr>
            <p:cNvCxnSpPr>
              <a:cxnSpLocks/>
            </p:cNvCxnSpPr>
            <p:nvPr/>
          </p:nvCxnSpPr>
          <p:spPr>
            <a:xfrm>
              <a:off x="6510850" y="4334406"/>
              <a:ext cx="11915303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F06EFB7A-099E-C658-6E76-1A08FED5AB3F}"/>
                    </a:ext>
                  </a:extLst>
                </p:cNvPr>
                <p:cNvSpPr txBox="1"/>
                <p:nvPr/>
              </p:nvSpPr>
              <p:spPr>
                <a:xfrm>
                  <a:off x="12329544" y="3875429"/>
                  <a:ext cx="297517" cy="43088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ctr">
                  <a:spAutoFit/>
                </a:bodyPr>
                <a:lstStyle/>
                <a:p>
                  <a:pPr marL="0" marR="0" indent="0" algn="ctr" defTabSz="2438338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GB" sz="2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5E5E5E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𝐿</m:t>
                        </m:r>
                      </m:oMath>
                    </m:oMathPara>
                  </a14:m>
                  <a:endParaRPr kumimoji="0" lang="en-GB" sz="2800" b="0" i="0" u="none" strike="noStrike" cap="none" spc="0" normalizeH="0" baseline="0">
                    <a:ln>
                      <a:noFill/>
                    </a:ln>
                    <a:solidFill>
                      <a:srgbClr val="5E5E5E"/>
                    </a:solidFill>
                    <a:effectLst/>
                    <a:uFillTx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F06EFB7A-099E-C658-6E76-1A08FED5AB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329544" y="3875429"/>
                  <a:ext cx="297517" cy="43088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05AFD7B-1BCC-A1C8-5A9E-42BF474B1250}"/>
                </a:ext>
              </a:extLst>
            </p:cNvPr>
            <p:cNvSpPr/>
            <p:nvPr/>
          </p:nvSpPr>
          <p:spPr>
            <a:xfrm>
              <a:off x="8515903" y="4584298"/>
              <a:ext cx="1985450" cy="2737681"/>
            </a:xfrm>
            <a:prstGeom prst="rect">
              <a:avLst/>
            </a:prstGeom>
            <a:noFill/>
            <a:ln w="12700" cap="flat">
              <a:solidFill>
                <a:schemeClr val="tx2">
                  <a:lumMod val="75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562AB94-4AF8-A78D-D78D-B32EA05BFDBF}"/>
                </a:ext>
              </a:extLst>
            </p:cNvPr>
            <p:cNvSpPr/>
            <p:nvPr/>
          </p:nvSpPr>
          <p:spPr>
            <a:xfrm>
              <a:off x="6501813" y="4590270"/>
              <a:ext cx="2021735" cy="2737681"/>
            </a:xfrm>
            <a:prstGeom prst="rect">
              <a:avLst/>
            </a:prstGeom>
            <a:noFill/>
            <a:ln w="12700" cap="flat">
              <a:solidFill>
                <a:schemeClr val="tx2">
                  <a:lumMod val="75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9E200CF-23BF-FAC3-8DB2-8AB9ACAE15E4}"/>
                </a:ext>
              </a:extLst>
            </p:cNvPr>
            <p:cNvSpPr/>
            <p:nvPr/>
          </p:nvSpPr>
          <p:spPr>
            <a:xfrm>
              <a:off x="10497103" y="4603348"/>
              <a:ext cx="1985450" cy="2737681"/>
            </a:xfrm>
            <a:prstGeom prst="rect">
              <a:avLst/>
            </a:prstGeom>
            <a:noFill/>
            <a:ln w="12700" cap="flat">
              <a:solidFill>
                <a:schemeClr val="tx2">
                  <a:lumMod val="75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795BAAB-A957-1CD4-8091-3EB56A92C9E8}"/>
                </a:ext>
              </a:extLst>
            </p:cNvPr>
            <p:cNvSpPr/>
            <p:nvPr/>
          </p:nvSpPr>
          <p:spPr>
            <a:xfrm>
              <a:off x="12478303" y="4584298"/>
              <a:ext cx="1985450" cy="2737681"/>
            </a:xfrm>
            <a:prstGeom prst="rect">
              <a:avLst/>
            </a:prstGeom>
            <a:noFill/>
            <a:ln w="12700" cap="flat">
              <a:solidFill>
                <a:schemeClr val="tx2">
                  <a:lumMod val="75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4A381AE-8076-3BB1-2E85-0B7EB11D1AB2}"/>
                </a:ext>
              </a:extLst>
            </p:cNvPr>
            <p:cNvSpPr/>
            <p:nvPr/>
          </p:nvSpPr>
          <p:spPr>
            <a:xfrm>
              <a:off x="14459503" y="4601364"/>
              <a:ext cx="1985450" cy="2737681"/>
            </a:xfrm>
            <a:prstGeom prst="rect">
              <a:avLst/>
            </a:prstGeom>
            <a:noFill/>
            <a:ln w="12700" cap="flat">
              <a:solidFill>
                <a:schemeClr val="tx2">
                  <a:lumMod val="75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196396C8-0464-F08C-CFC8-558C44B035A3}"/>
                </a:ext>
              </a:extLst>
            </p:cNvPr>
            <p:cNvSpPr/>
            <p:nvPr/>
          </p:nvSpPr>
          <p:spPr>
            <a:xfrm>
              <a:off x="16440703" y="4565248"/>
              <a:ext cx="1985450" cy="2737681"/>
            </a:xfrm>
            <a:prstGeom prst="rect">
              <a:avLst/>
            </a:prstGeom>
            <a:noFill/>
            <a:ln w="12700" cap="flat">
              <a:solidFill>
                <a:schemeClr val="tx2">
                  <a:lumMod val="75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32" name="Flowchart: Connector 31">
              <a:extLst>
                <a:ext uri="{FF2B5EF4-FFF2-40B4-BE49-F238E27FC236}">
                  <a16:creationId xmlns:a16="http://schemas.microsoft.com/office/drawing/2014/main" id="{73ABC56B-DBFD-3E44-88E5-A61AD397180F}"/>
                </a:ext>
              </a:extLst>
            </p:cNvPr>
            <p:cNvSpPr/>
            <p:nvPr/>
          </p:nvSpPr>
          <p:spPr>
            <a:xfrm>
              <a:off x="7392333" y="5842429"/>
              <a:ext cx="228600" cy="233363"/>
            </a:xfrm>
            <a:prstGeom prst="flowChartConnector">
              <a:avLst/>
            </a:prstGeom>
            <a:solidFill>
              <a:srgbClr val="FF0000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33" name="Flowchart: Connector 32">
              <a:extLst>
                <a:ext uri="{FF2B5EF4-FFF2-40B4-BE49-F238E27FC236}">
                  <a16:creationId xmlns:a16="http://schemas.microsoft.com/office/drawing/2014/main" id="{1A19E588-051E-64C9-3689-B0FAD2C732E9}"/>
                </a:ext>
              </a:extLst>
            </p:cNvPr>
            <p:cNvSpPr/>
            <p:nvPr/>
          </p:nvSpPr>
          <p:spPr>
            <a:xfrm>
              <a:off x="9394328" y="5836457"/>
              <a:ext cx="228600" cy="233363"/>
            </a:xfrm>
            <a:prstGeom prst="flowChartConnector">
              <a:avLst/>
            </a:prstGeom>
            <a:solidFill>
              <a:srgbClr val="FF0000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34" name="Flowchart: Connector 33">
              <a:extLst>
                <a:ext uri="{FF2B5EF4-FFF2-40B4-BE49-F238E27FC236}">
                  <a16:creationId xmlns:a16="http://schemas.microsoft.com/office/drawing/2014/main" id="{EBB23A87-F179-FAE4-8468-EBFCFA8A59B4}"/>
                </a:ext>
              </a:extLst>
            </p:cNvPr>
            <p:cNvSpPr/>
            <p:nvPr/>
          </p:nvSpPr>
          <p:spPr>
            <a:xfrm>
              <a:off x="11375528" y="5836457"/>
              <a:ext cx="228600" cy="233363"/>
            </a:xfrm>
            <a:prstGeom prst="flowChartConnector">
              <a:avLst/>
            </a:prstGeom>
            <a:solidFill>
              <a:srgbClr val="FF0000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35" name="Flowchart: Connector 34">
              <a:extLst>
                <a:ext uri="{FF2B5EF4-FFF2-40B4-BE49-F238E27FC236}">
                  <a16:creationId xmlns:a16="http://schemas.microsoft.com/office/drawing/2014/main" id="{30A6C05F-599E-C15F-F31C-7F3010BF18B9}"/>
                </a:ext>
              </a:extLst>
            </p:cNvPr>
            <p:cNvSpPr/>
            <p:nvPr/>
          </p:nvSpPr>
          <p:spPr>
            <a:xfrm>
              <a:off x="13356728" y="5836457"/>
              <a:ext cx="228600" cy="233363"/>
            </a:xfrm>
            <a:prstGeom prst="flowChartConnector">
              <a:avLst/>
            </a:prstGeom>
            <a:solidFill>
              <a:srgbClr val="FF0000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36" name="Flowchart: Connector 35">
              <a:extLst>
                <a:ext uri="{FF2B5EF4-FFF2-40B4-BE49-F238E27FC236}">
                  <a16:creationId xmlns:a16="http://schemas.microsoft.com/office/drawing/2014/main" id="{50C5D3B1-8E69-111C-5C5B-A47810F7ED44}"/>
                </a:ext>
              </a:extLst>
            </p:cNvPr>
            <p:cNvSpPr/>
            <p:nvPr/>
          </p:nvSpPr>
          <p:spPr>
            <a:xfrm>
              <a:off x="15337928" y="5853523"/>
              <a:ext cx="228600" cy="233363"/>
            </a:xfrm>
            <a:prstGeom prst="flowChartConnector">
              <a:avLst/>
            </a:prstGeom>
            <a:solidFill>
              <a:srgbClr val="FF0000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37" name="Flowchart: Connector 36">
              <a:extLst>
                <a:ext uri="{FF2B5EF4-FFF2-40B4-BE49-F238E27FC236}">
                  <a16:creationId xmlns:a16="http://schemas.microsoft.com/office/drawing/2014/main" id="{905FA004-6E5A-BADD-D241-1E02231A505D}"/>
                </a:ext>
              </a:extLst>
            </p:cNvPr>
            <p:cNvSpPr/>
            <p:nvPr/>
          </p:nvSpPr>
          <p:spPr>
            <a:xfrm>
              <a:off x="17319128" y="5853523"/>
              <a:ext cx="228600" cy="233363"/>
            </a:xfrm>
            <a:prstGeom prst="flowChartConnector">
              <a:avLst/>
            </a:prstGeom>
            <a:solidFill>
              <a:srgbClr val="FF0000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45A02122-CCFA-56D1-073D-32CDDA0B5377}"/>
                </a:ext>
              </a:extLst>
            </p:cNvPr>
            <p:cNvCxnSpPr>
              <a:cxnSpLocks/>
            </p:cNvCxnSpPr>
            <p:nvPr/>
          </p:nvCxnSpPr>
          <p:spPr>
            <a:xfrm>
              <a:off x="7506633" y="8610600"/>
              <a:ext cx="2001995" cy="0"/>
            </a:xfrm>
            <a:prstGeom prst="straightConnector1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headEnd type="triangle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9A64C81E-5D80-B8BA-EFF4-575FC52624F3}"/>
                </a:ext>
              </a:extLst>
            </p:cNvPr>
            <p:cNvCxnSpPr>
              <a:cxnSpLocks/>
              <a:stCxn id="27" idx="4"/>
            </p:cNvCxnSpPr>
            <p:nvPr/>
          </p:nvCxnSpPr>
          <p:spPr>
            <a:xfrm>
              <a:off x="7506633" y="6075792"/>
              <a:ext cx="0" cy="2534808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ysDot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1E9386B3-EC14-341F-CAB0-0EE682CFE7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508627" y="6069820"/>
              <a:ext cx="1" cy="254078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ysDot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AE4E8548-2E6D-0857-35AA-1C7A62281205}"/>
                    </a:ext>
                  </a:extLst>
                </p:cNvPr>
                <p:cNvSpPr txBox="1"/>
                <p:nvPr/>
              </p:nvSpPr>
              <p:spPr>
                <a:xfrm>
                  <a:off x="8204598" y="8560644"/>
                  <a:ext cx="589520" cy="49244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ctr">
                  <a:spAutoFit/>
                </a:bodyPr>
                <a:lstStyle/>
                <a:p>
                  <a:pPr marL="0" marR="0" indent="0" algn="ctr" defTabSz="2438338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GB" sz="32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5E5E5E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Helvetica Neue"/>
                          </a:rPr>
                          <m:t>∆</m:t>
                        </m:r>
                        <m:r>
                          <a:rPr kumimoji="0" lang="en-GB" sz="32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5E5E5E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Helvetica Neue"/>
                          </a:rPr>
                          <m:t>𝑥</m:t>
                        </m:r>
                      </m:oMath>
                    </m:oMathPara>
                  </a14:m>
                  <a:endParaRPr kumimoji="0" lang="en-GB" sz="3200" b="0" i="0" u="none" strike="noStrike" cap="none" spc="0" normalizeH="0" baseline="0">
                    <a:ln>
                      <a:noFill/>
                    </a:ln>
                    <a:solidFill>
                      <a:srgbClr val="5E5E5E"/>
                    </a:solidFill>
                    <a:effectLst/>
                    <a:uFillTx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AE4E8548-2E6D-0857-35AA-1C7A622812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04598" y="8560644"/>
                  <a:ext cx="589520" cy="492443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9090357-84F1-C3C6-DD42-5688853A18D0}"/>
                </a:ext>
              </a:extLst>
            </p:cNvPr>
            <p:cNvSpPr txBox="1"/>
            <p:nvPr/>
          </p:nvSpPr>
          <p:spPr>
            <a:xfrm>
              <a:off x="7294947" y="5232270"/>
              <a:ext cx="522579" cy="4719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GB" sz="2400" b="0" i="0" u="none" strike="noStrike" cap="none" spc="0" normalizeH="0" baseline="0" err="1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i</a:t>
              </a:r>
              <a:r>
                <a:rPr kumimoji="0" lang="en-GB" sz="24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=0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66F70BF0-F152-8815-3708-EA840FB0F4A7}"/>
                </a:ext>
              </a:extLst>
            </p:cNvPr>
            <p:cNvSpPr txBox="1"/>
            <p:nvPr/>
          </p:nvSpPr>
          <p:spPr>
            <a:xfrm>
              <a:off x="9247338" y="5232270"/>
              <a:ext cx="522579" cy="4719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GB" sz="2400" b="0" i="0" u="none" strike="noStrike" cap="none" spc="0" normalizeH="0" baseline="0" err="1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i</a:t>
              </a:r>
              <a:r>
                <a:rPr kumimoji="0" lang="en-GB" sz="24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=1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F75F361E-DCF4-E105-3170-D47BC283EFE1}"/>
                </a:ext>
              </a:extLst>
            </p:cNvPr>
            <p:cNvSpPr txBox="1"/>
            <p:nvPr/>
          </p:nvSpPr>
          <p:spPr>
            <a:xfrm>
              <a:off x="11277810" y="5232270"/>
              <a:ext cx="522579" cy="4719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GB" sz="2400" b="0" i="0" u="none" strike="noStrike" cap="none" spc="0" normalizeH="0" baseline="0" err="1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i</a:t>
              </a:r>
              <a:r>
                <a:rPr kumimoji="0" lang="en-GB" sz="24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=2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7553DBEA-818B-7D3E-C824-2032FFD75EDF}"/>
                </a:ext>
              </a:extLst>
            </p:cNvPr>
            <p:cNvSpPr txBox="1"/>
            <p:nvPr/>
          </p:nvSpPr>
          <p:spPr>
            <a:xfrm>
              <a:off x="13070557" y="5232270"/>
              <a:ext cx="796693" cy="4719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GB" sz="2400" b="0" i="0" u="none" strike="noStrike" cap="none" spc="0" normalizeH="0" baseline="0" err="1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i</a:t>
              </a:r>
              <a:r>
                <a:rPr kumimoji="0" lang="en-GB" sz="24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=n-2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0743A717-6A2D-5603-C97C-CCFBD9D8EEDB}"/>
                </a:ext>
              </a:extLst>
            </p:cNvPr>
            <p:cNvSpPr txBox="1"/>
            <p:nvPr/>
          </p:nvSpPr>
          <p:spPr>
            <a:xfrm>
              <a:off x="15051757" y="5223951"/>
              <a:ext cx="796693" cy="4719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GB" sz="2400" b="0" i="0" u="none" strike="noStrike" cap="none" spc="0" normalizeH="0" baseline="0" err="1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i</a:t>
              </a:r>
              <a:r>
                <a:rPr kumimoji="0" lang="en-GB" sz="24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=n-1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569156EA-A039-669C-C5BA-B1FB0DAFA7D7}"/>
                    </a:ext>
                  </a:extLst>
                </p:cNvPr>
                <p:cNvSpPr txBox="1"/>
                <p:nvPr/>
              </p:nvSpPr>
              <p:spPr>
                <a:xfrm rot="5400000">
                  <a:off x="12243661" y="4354104"/>
                  <a:ext cx="519373" cy="61555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ctr">
                  <a:spAutoFit/>
                </a:bodyPr>
                <a:lstStyle/>
                <a:p>
                  <a:pPr marL="0" marR="0" indent="0" algn="ctr" defTabSz="2438338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GB" sz="4000" b="1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tx1">
                                <a:lumMod val="75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Helvetica Neue"/>
                          </a:rPr>
                          <m:t>≈</m:t>
                        </m:r>
                      </m:oMath>
                    </m:oMathPara>
                  </a14:m>
                  <a:endParaRPr kumimoji="0" lang="en-GB" sz="3200" b="1" i="0" u="none" strike="noStrike" cap="none" spc="0" normalizeH="0" baseline="0">
                    <a:ln>
                      <a:noFill/>
                    </a:ln>
                    <a:solidFill>
                      <a:schemeClr val="tx1">
                        <a:lumMod val="75000"/>
                      </a:schemeClr>
                    </a:solidFill>
                    <a:effectLst/>
                    <a:uFillTx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569156EA-A039-669C-C5BA-B1FB0DAFA7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12243661" y="4354104"/>
                  <a:ext cx="519373" cy="615553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7E0574E9-2E6E-FD0C-B466-3718D83E99D3}"/>
                    </a:ext>
                  </a:extLst>
                </p:cNvPr>
                <p:cNvSpPr txBox="1"/>
                <p:nvPr/>
              </p:nvSpPr>
              <p:spPr>
                <a:xfrm rot="5400000">
                  <a:off x="12243659" y="7118910"/>
                  <a:ext cx="519373" cy="61555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ctr">
                  <a:spAutoFit/>
                </a:bodyPr>
                <a:lstStyle/>
                <a:p>
                  <a:pPr marL="0" marR="0" indent="0" algn="ctr" defTabSz="2438338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GB" sz="4000" b="1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tx1">
                                <a:lumMod val="75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Helvetica Neue"/>
                          </a:rPr>
                          <m:t>≈</m:t>
                        </m:r>
                      </m:oMath>
                    </m:oMathPara>
                  </a14:m>
                  <a:endParaRPr kumimoji="0" lang="en-GB" sz="3200" b="1" i="0" u="none" strike="noStrike" cap="none" spc="0" normalizeH="0" baseline="0">
                    <a:ln>
                      <a:noFill/>
                    </a:ln>
                    <a:solidFill>
                      <a:schemeClr val="tx1">
                        <a:lumMod val="75000"/>
                      </a:schemeClr>
                    </a:solidFill>
                    <a:effectLst/>
                    <a:uFillTx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7E0574E9-2E6E-FD0C-B466-3718D83E99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12243659" y="7118910"/>
                  <a:ext cx="519373" cy="615553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1C9DBBBD-6CD3-7846-E664-6FFC5B083847}"/>
                </a:ext>
              </a:extLst>
            </p:cNvPr>
            <p:cNvSpPr txBox="1"/>
            <p:nvPr/>
          </p:nvSpPr>
          <p:spPr>
            <a:xfrm>
              <a:off x="17170014" y="5185933"/>
              <a:ext cx="522579" cy="4719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GB" sz="2400" b="0" i="0" u="none" strike="noStrike" cap="none" spc="0" normalizeH="0" baseline="0" err="1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i</a:t>
              </a:r>
              <a:r>
                <a:rPr kumimoji="0" lang="en-GB" sz="24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=n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FB2CC234-3021-554E-B157-B1A45160FB26}"/>
                    </a:ext>
                  </a:extLst>
                </p:cNvPr>
                <p:cNvSpPr txBox="1"/>
                <p:nvPr/>
              </p:nvSpPr>
              <p:spPr>
                <a:xfrm>
                  <a:off x="8230504" y="7426687"/>
                  <a:ext cx="728469" cy="69147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ctr">
                  <a:spAutoFit/>
                </a:bodyPr>
                <a:lstStyle/>
                <a:p>
                  <a:pPr marL="0" marR="0" indent="0" algn="ctr" defTabSz="2438338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GB" sz="24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5E5E5E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  <m:r>
                          <a:rPr kumimoji="0" lang="en-GB" sz="24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5E5E5E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+</m:t>
                        </m:r>
                        <m:f>
                          <m:fPr>
                            <m:ctrlPr>
                              <a:rPr kumimoji="0" lang="en-GB" sz="24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5E5E5E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Helvetica Neue"/>
                              </a:rPr>
                            </m:ctrlPr>
                          </m:fPr>
                          <m:num>
                            <m:r>
                              <a:rPr kumimoji="0" lang="en-GB" sz="24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5E5E5E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Helvetica Neue"/>
                              </a:rPr>
                              <m:t>1</m:t>
                            </m:r>
                          </m:num>
                          <m:den>
                            <m:r>
                              <a:rPr kumimoji="0" lang="en-GB" sz="24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5E5E5E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Helvetica Neue"/>
                              </a:rPr>
                              <m:t>2</m:t>
                            </m:r>
                          </m:den>
                        </m:f>
                      </m:oMath>
                    </m:oMathPara>
                  </a14:m>
                  <a:endParaRPr kumimoji="0" lang="en-GB" sz="2400" b="0" i="0" u="none" strike="noStrike" cap="none" spc="0" normalizeH="0" baseline="0">
                    <a:ln>
                      <a:noFill/>
                    </a:ln>
                    <a:solidFill>
                      <a:srgbClr val="5E5E5E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FB2CC234-3021-554E-B157-B1A45160FB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0504" y="7426687"/>
                  <a:ext cx="728469" cy="691471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ECFCA6F5-2946-D203-C369-D508A901440B}"/>
              </a:ext>
            </a:extLst>
          </p:cNvPr>
          <p:cNvGrpSpPr/>
          <p:nvPr/>
        </p:nvGrpSpPr>
        <p:grpSpPr>
          <a:xfrm>
            <a:off x="7800688" y="10005147"/>
            <a:ext cx="9947879" cy="1232427"/>
            <a:chOff x="3455435" y="9311003"/>
            <a:chExt cx="9947879" cy="123242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8BBD55D-FE6C-D2FA-7DD1-916642E2D5C5}"/>
                </a:ext>
              </a:extLst>
            </p:cNvPr>
            <p:cNvSpPr txBox="1"/>
            <p:nvPr/>
          </p:nvSpPr>
          <p:spPr>
            <a:xfrm>
              <a:off x="3455435" y="9868553"/>
              <a:ext cx="3571743" cy="674877"/>
            </a:xfrm>
            <a:prstGeom prst="rect">
              <a:avLst/>
            </a:prstGeom>
            <a:solidFill>
              <a:schemeClr val="accent5">
                <a:lumMod val="75000"/>
                <a:alpha val="32157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1C64DBE-3DBB-726A-E7A8-E8AE9E87D198}"/>
                </a:ext>
              </a:extLst>
            </p:cNvPr>
            <p:cNvSpPr txBox="1"/>
            <p:nvPr/>
          </p:nvSpPr>
          <p:spPr>
            <a:xfrm>
              <a:off x="3480621" y="9892806"/>
              <a:ext cx="3546558" cy="59503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GB" sz="3200" b="0" i="0" u="none" strike="noStrike" cap="none" spc="0" normalizeH="0" baseline="0">
                  <a:ln>
                    <a:noFill/>
                  </a:ln>
                  <a:solidFill>
                    <a:schemeClr val="tx1">
                      <a:lumMod val="50000"/>
                    </a:schemeClr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Initial condition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DB694EB-E1B9-1085-D740-0521A6308610}"/>
                </a:ext>
              </a:extLst>
            </p:cNvPr>
            <p:cNvSpPr txBox="1"/>
            <p:nvPr/>
          </p:nvSpPr>
          <p:spPr>
            <a:xfrm>
              <a:off x="4539565" y="9311003"/>
              <a:ext cx="102656" cy="8412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D7F3B7C-04F9-03A2-6028-CCE42C2CF8BD}"/>
                </a:ext>
              </a:extLst>
            </p:cNvPr>
            <p:cNvCxnSpPr>
              <a:cxnSpLocks/>
            </p:cNvCxnSpPr>
            <p:nvPr/>
          </p:nvCxnSpPr>
          <p:spPr>
            <a:xfrm>
              <a:off x="7341243" y="10210471"/>
              <a:ext cx="1085850" cy="0"/>
            </a:xfrm>
            <a:prstGeom prst="straightConnector1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E591DB38-1B89-32D9-C9F4-DEE22A2E4868}"/>
                    </a:ext>
                  </a:extLst>
                </p:cNvPr>
                <p:cNvSpPr txBox="1"/>
                <p:nvPr/>
              </p:nvSpPr>
              <p:spPr>
                <a:xfrm>
                  <a:off x="8774546" y="9964250"/>
                  <a:ext cx="4628768" cy="49244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GB" sz="32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Helvetica Neue"/>
                              </a:rPr>
                            </m:ctrlPr>
                          </m:sSubPr>
                          <m:e>
                            <m:r>
                              <a:rPr kumimoji="0" lang="en-GB" sz="32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Helvetica Neue"/>
                              </a:rPr>
                              <m:t>𝑐</m:t>
                            </m:r>
                            <m:r>
                              <a:rPr kumimoji="0" lang="en-GB" sz="32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Helvetica Neue"/>
                              </a:rPr>
                              <m:t>(</m:t>
                            </m:r>
                            <m:r>
                              <a:rPr kumimoji="0" lang="en-GB" sz="32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Helvetica Neue"/>
                              </a:rPr>
                              <m:t>𝑡</m:t>
                            </m:r>
                            <m:r>
                              <a:rPr kumimoji="0" lang="en-GB" sz="32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Helvetica Neue"/>
                              </a:rPr>
                              <m:t>=0,</m:t>
                            </m:r>
                            <m:r>
                              <a:rPr kumimoji="0" lang="en-GB" sz="32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Helvetica Neue"/>
                              </a:rPr>
                              <m:t>𝑥</m:t>
                            </m:r>
                            <m:r>
                              <a:rPr kumimoji="0" lang="en-GB" sz="32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Helvetica Neue"/>
                              </a:rPr>
                              <m:t>)</m:t>
                            </m:r>
                          </m:e>
                          <m:sub/>
                        </m:sSub>
                        <m:r>
                          <a:rPr kumimoji="0" lang="en-GB" sz="32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tx1">
                                <a:lumMod val="5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=0</m:t>
                        </m:r>
                        <m:r>
                          <a:rPr kumimoji="0" lang="en-US" sz="32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tx1">
                                <a:lumMod val="5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320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mol</m:t>
                        </m:r>
                        <m:r>
                          <a:rPr lang="en-US" sz="320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3200" i="1"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3200"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  <m:sup>
                            <m:r>
                              <a:rPr lang="en-US" sz="3200"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−3</m:t>
                            </m:r>
                          </m:sup>
                        </m:sSup>
                      </m:oMath>
                    </m:oMathPara>
                  </a14:m>
                  <a:endParaRPr kumimoji="0" lang="en-GB" sz="3200" b="0" i="0" u="none" strike="noStrike" cap="none" spc="0" normalizeH="0" baseline="0">
                    <a:ln>
                      <a:noFill/>
                    </a:ln>
                    <a:solidFill>
                      <a:schemeClr val="tx1">
                        <a:lumMod val="50000"/>
                      </a:schemeClr>
                    </a:solidFill>
                    <a:effectLst/>
                    <a:uFillTx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E591DB38-1B89-32D9-C9F4-DEE22A2E48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74546" y="9964250"/>
                  <a:ext cx="4628768" cy="492443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6" name="Rectangle 75">
            <a:extLst>
              <a:ext uri="{FF2B5EF4-FFF2-40B4-BE49-F238E27FC236}">
                <a16:creationId xmlns:a16="http://schemas.microsoft.com/office/drawing/2014/main" id="{AA810523-BAA5-98EA-F729-6903BFAAA514}"/>
              </a:ext>
            </a:extLst>
          </p:cNvPr>
          <p:cNvSpPr/>
          <p:nvPr/>
        </p:nvSpPr>
        <p:spPr>
          <a:xfrm>
            <a:off x="9557139" y="6128166"/>
            <a:ext cx="1985450" cy="2737681"/>
          </a:xfrm>
          <a:prstGeom prst="rect">
            <a:avLst/>
          </a:prstGeom>
          <a:noFill/>
          <a:ln w="57150" cap="flat">
            <a:solidFill>
              <a:schemeClr val="tx2">
                <a:lumMod val="75000"/>
              </a:schemeClr>
            </a:solidFill>
            <a:prstDash val="sysDot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7" name="Flowchart: Connector 76">
            <a:extLst>
              <a:ext uri="{FF2B5EF4-FFF2-40B4-BE49-F238E27FC236}">
                <a16:creationId xmlns:a16="http://schemas.microsoft.com/office/drawing/2014/main" id="{E5CB7417-82DF-476A-FAF7-4DD79968D34A}"/>
              </a:ext>
            </a:extLst>
          </p:cNvPr>
          <p:cNvSpPr/>
          <p:nvPr/>
        </p:nvSpPr>
        <p:spPr>
          <a:xfrm>
            <a:off x="10435564" y="7380325"/>
            <a:ext cx="228600" cy="233363"/>
          </a:xfrm>
          <a:prstGeom prst="flowChartConnector">
            <a:avLst/>
          </a:prstGeom>
          <a:solidFill>
            <a:schemeClr val="accent3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B3EF84F-D2A8-1AC3-8DD3-85131D817CF4}"/>
              </a:ext>
            </a:extLst>
          </p:cNvPr>
          <p:cNvSpPr txBox="1"/>
          <p:nvPr/>
        </p:nvSpPr>
        <p:spPr>
          <a:xfrm>
            <a:off x="10303827" y="6764816"/>
            <a:ext cx="668453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2400" b="0" i="0" u="none" strike="noStrike" cap="none" spc="0" normalizeH="0" baseline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inlet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19DF28F-20A7-5A97-FDC8-65C7A6ACD672}"/>
              </a:ext>
            </a:extLst>
          </p:cNvPr>
          <p:cNvSpPr txBox="1"/>
          <p:nvPr/>
        </p:nvSpPr>
        <p:spPr>
          <a:xfrm flipH="1">
            <a:off x="19297583" y="10148433"/>
            <a:ext cx="3884694" cy="1194507"/>
          </a:xfrm>
          <a:prstGeom prst="rect">
            <a:avLst/>
          </a:prstGeom>
          <a:solidFill>
            <a:schemeClr val="accent4">
              <a:lumMod val="40000"/>
              <a:lumOff val="60000"/>
              <a:alpha val="5019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B72FA92-85BF-9ADA-FBC4-2D1A46904C8A}"/>
              </a:ext>
            </a:extLst>
          </p:cNvPr>
          <p:cNvSpPr txBox="1"/>
          <p:nvPr/>
        </p:nvSpPr>
        <p:spPr>
          <a:xfrm>
            <a:off x="18446531" y="10201947"/>
            <a:ext cx="5418828" cy="10874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3200" b="1" i="0" u="none" strike="noStrike" cap="none" spc="0" normalizeH="0" baseline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ODE</a:t>
            </a: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3200" b="0" i="0" u="none" strike="noStrike" cap="none" spc="0" normalizeH="0" baseline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 solved by ode solver</a:t>
            </a: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EB8F9784-8D9D-8AB8-C5AE-D40BB447F2C6}"/>
              </a:ext>
            </a:extLst>
          </p:cNvPr>
          <p:cNvGrpSpPr/>
          <p:nvPr/>
        </p:nvGrpSpPr>
        <p:grpSpPr>
          <a:xfrm>
            <a:off x="18190985" y="11553366"/>
            <a:ext cx="5823394" cy="1555041"/>
            <a:chOff x="18190985" y="11452338"/>
            <a:chExt cx="5823394" cy="1555041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E90653E-C7AB-76C4-D9BE-F402642B8E6C}"/>
                </a:ext>
              </a:extLst>
            </p:cNvPr>
            <p:cNvSpPr txBox="1"/>
            <p:nvPr/>
          </p:nvSpPr>
          <p:spPr>
            <a:xfrm flipH="1">
              <a:off x="18190985" y="11598028"/>
              <a:ext cx="632311" cy="1194507"/>
            </a:xfrm>
            <a:prstGeom prst="rect">
              <a:avLst/>
            </a:prstGeom>
            <a:solidFill>
              <a:schemeClr val="accent4">
                <a:lumMod val="40000"/>
                <a:lumOff val="60000"/>
                <a:alpha val="50196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88812500-C7AA-6194-C6E7-A3AC50658CE0}"/>
                </a:ext>
              </a:extLst>
            </p:cNvPr>
            <p:cNvSpPr txBox="1"/>
            <p:nvPr/>
          </p:nvSpPr>
          <p:spPr>
            <a:xfrm flipH="1">
              <a:off x="21128454" y="11452338"/>
              <a:ext cx="2885925" cy="1485888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50196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Rectangle 74">
                  <a:extLst>
                    <a:ext uri="{FF2B5EF4-FFF2-40B4-BE49-F238E27FC236}">
                      <a16:creationId xmlns:a16="http://schemas.microsoft.com/office/drawing/2014/main" id="{A1C90AA7-7E4A-DD82-A73D-4A585CAB32CA}"/>
                    </a:ext>
                  </a:extLst>
                </p:cNvPr>
                <p:cNvSpPr/>
                <p:nvPr/>
              </p:nvSpPr>
              <p:spPr>
                <a:xfrm>
                  <a:off x="18308451" y="11452338"/>
                  <a:ext cx="5640006" cy="155504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900" i="1" smtClean="0"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"/>
                                <m:endChr m:val="|"/>
                                <m:ctrlPr>
                                  <a:rPr lang="en-GB" sz="3900" i="1">
                                    <a:solidFill>
                                      <a:schemeClr val="tx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GB" sz="3900" i="1">
                                        <a:solidFill>
                                          <a:schemeClr val="tx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900" i="1">
                                        <a:solidFill>
                                          <a:schemeClr val="tx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𝑑𝑐</m:t>
                                    </m:r>
                                  </m:num>
                                  <m:den>
                                    <m:r>
                                      <a:rPr lang="en-GB" sz="3900" i="1">
                                        <a:solidFill>
                                          <a:schemeClr val="tx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r>
                                      <a:rPr lang="en-US" sz="3900" b="0" i="1" smtClean="0">
                                        <a:solidFill>
                                          <a:schemeClr val="tx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GB" sz="3900" i="1"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sz="3900" i="1"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GB" sz="3900" i="1"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3900" b="0" i="1" smtClean="0"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sz="3900" b="0" i="1" smtClean="0"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GB" sz="3900" i="1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≈</m:t>
                        </m:r>
                        <m:r>
                          <a:rPr lang="en-US" sz="3900" b="0" i="1" smtClean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3900" b="0" i="1" smtClean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  <m:f>
                          <m:fPr>
                            <m:ctrlPr>
                              <a:rPr lang="en-GB" sz="3900" i="1"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GB" sz="3900" i="1">
                                    <a:solidFill>
                                      <a:schemeClr val="tx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3900" i="1">
                                    <a:solidFill>
                                      <a:schemeClr val="tx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GB" sz="3900" b="0" i="1" smtClean="0">
                                    <a:solidFill>
                                      <a:schemeClr val="tx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3900" b="0" i="1" smtClean="0">
                                    <a:solidFill>
                                      <a:schemeClr val="tx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3900" b="0" i="1" smtClean="0">
                                    <a:solidFill>
                                      <a:schemeClr val="tx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GB" sz="3900" i="1"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GB" sz="3900" i="1">
                                    <a:solidFill>
                                      <a:schemeClr val="tx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3900" i="1">
                                    <a:solidFill>
                                      <a:schemeClr val="tx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GB" sz="3900" i="1">
                                    <a:solidFill>
                                      <a:schemeClr val="tx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3900" i="1">
                                    <a:solidFill>
                                      <a:schemeClr val="tx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3900" i="1">
                                    <a:solidFill>
                                      <a:schemeClr val="tx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3900" b="0" i="1" smtClean="0">
                                    <a:solidFill>
                                      <a:schemeClr val="tx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3900" b="0" i="1" smtClean="0">
                                    <a:solidFill>
                                      <a:schemeClr val="tx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num>
                          <m:den>
                            <m:r>
                              <a:rPr lang="en-GB" sz="3900" i="1"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GB" sz="3900" i="1"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oMath>
                    </m:oMathPara>
                  </a14:m>
                  <a:endParaRPr lang="en-US" sz="3900"/>
                </a:p>
              </p:txBody>
            </p:sp>
          </mc:Choice>
          <mc:Fallback xmlns="">
            <p:sp>
              <p:nvSpPr>
                <p:cNvPr id="75" name="Rectangle 74">
                  <a:extLst>
                    <a:ext uri="{FF2B5EF4-FFF2-40B4-BE49-F238E27FC236}">
                      <a16:creationId xmlns:a16="http://schemas.microsoft.com/office/drawing/2014/main" id="{A1C90AA7-7E4A-DD82-A73D-4A585CAB32C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308451" y="11452338"/>
                  <a:ext cx="5640006" cy="1555041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773C1D59-BE2D-46AC-68F0-83ED81F31070}"/>
              </a:ext>
            </a:extLst>
          </p:cNvPr>
          <p:cNvGrpSpPr/>
          <p:nvPr/>
        </p:nvGrpSpPr>
        <p:grpSpPr>
          <a:xfrm>
            <a:off x="7695233" y="11622231"/>
            <a:ext cx="9581077" cy="1417311"/>
            <a:chOff x="7695233" y="11639723"/>
            <a:chExt cx="9581077" cy="1417311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369CB90-354A-FC37-C1F3-06416905943E}"/>
                </a:ext>
              </a:extLst>
            </p:cNvPr>
            <p:cNvSpPr txBox="1"/>
            <p:nvPr/>
          </p:nvSpPr>
          <p:spPr>
            <a:xfrm>
              <a:off x="7735343" y="11986750"/>
              <a:ext cx="3856584" cy="674877"/>
            </a:xfrm>
            <a:prstGeom prst="rect">
              <a:avLst/>
            </a:prstGeom>
            <a:solidFill>
              <a:srgbClr val="92D050">
                <a:alpha val="32157"/>
              </a:srgb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B55A6B9C-D45F-31EE-B53D-74B636D9E05F}"/>
                </a:ext>
              </a:extLst>
            </p:cNvPr>
            <p:cNvGrpSpPr/>
            <p:nvPr/>
          </p:nvGrpSpPr>
          <p:grpSpPr>
            <a:xfrm>
              <a:off x="7695233" y="11639723"/>
              <a:ext cx="9581077" cy="1417311"/>
              <a:chOff x="7447325" y="11432616"/>
              <a:chExt cx="9581077" cy="1417311"/>
            </a:xfrm>
          </p:grpSpPr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5C0ADD5B-2060-6598-93D7-5F87BEF2E25A}"/>
                  </a:ext>
                </a:extLst>
              </p:cNvPr>
              <p:cNvSpPr txBox="1"/>
              <p:nvPr/>
            </p:nvSpPr>
            <p:spPr>
              <a:xfrm>
                <a:off x="15780353" y="11647506"/>
                <a:ext cx="1097280" cy="457200"/>
              </a:xfrm>
              <a:prstGeom prst="rect">
                <a:avLst/>
              </a:prstGeom>
              <a:solidFill>
                <a:srgbClr val="92D050">
                  <a:alpha val="32157"/>
                </a:srgbClr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DF1D34B1-9736-853E-E5C0-061B6D0C310B}"/>
                      </a:ext>
                    </a:extLst>
                  </p:cNvPr>
                  <p:cNvSpPr txBox="1"/>
                  <p:nvPr/>
                </p:nvSpPr>
                <p:spPr>
                  <a:xfrm>
                    <a:off x="12632903" y="11432616"/>
                    <a:ext cx="4395499" cy="1417311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none" lIns="0" tIns="0" rIns="0" bIns="0" numCol="1" spcCol="38100" rtlCol="0" anchor="ctr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GB" sz="3900" i="1" smtClean="0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"/>
                                  <m:endChr m:val="|"/>
                                  <m:ctrlPr>
                                    <a:rPr lang="en-GB" sz="3900" i="1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GB" sz="3900" i="1">
                                          <a:solidFill>
                                            <a:schemeClr val="tx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3900" b="0" i="1" smtClean="0">
                                          <a:solidFill>
                                            <a:schemeClr val="tx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  <m:r>
                                        <a:rPr lang="en-GB" sz="3900" i="1">
                                          <a:solidFill>
                                            <a:schemeClr val="tx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num>
                                    <m:den>
                                      <m:r>
                                        <a:rPr lang="en-GB" sz="3900" b="0" i="1" smtClean="0">
                                          <a:solidFill>
                                            <a:schemeClr val="tx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𝑑𝑥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b>
                              <m:r>
                                <a:rPr lang="en-GB" sz="3900" i="1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3900" i="1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</m:sSub>
                          <m:r>
                            <a:rPr lang="en-GB" sz="3900" i="1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≈</m:t>
                          </m:r>
                          <m:f>
                            <m:fPr>
                              <m:ctrlP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kumimoji="0" lang="en-GB" sz="3900" b="0" i="1" u="none" strike="noStrike" cap="none" spc="0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sym typeface="Helvetica Neue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GB" sz="3900" b="0" i="1" u="none" strike="noStrike" cap="none" spc="0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sym typeface="Helvetica Neue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kumimoji="0" lang="en-GB" sz="3900" b="0" i="1" u="none" strike="noStrike" cap="none" spc="0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sym typeface="Helvetica Neue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kumimoji="0" lang="en-GB" sz="3900" b="0" i="1" u="none" strike="noStrike" cap="none" spc="0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sym typeface="Helvetica Neue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GB" sz="3900" b="0" i="1" u="none" strike="noStrike" cap="none" spc="0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sym typeface="Helvetica Neue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kumimoji="0" lang="en-US" sz="3900" b="0" i="0" u="none" strike="noStrike" cap="none" spc="0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sym typeface="Helvetica Neue"/>
                                    </a:rPr>
                                    <m:t>inlet</m:t>
                                  </m:r>
                                </m:sub>
                              </m:sSub>
                            </m:num>
                            <m:den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Helvetica Neue"/>
                                </a:rPr>
                                <m:t>∆</m:t>
                              </m:r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Helvetica Neue"/>
                                </a:rPr>
                                <m:t>𝑥</m:t>
                              </m:r>
                            </m:den>
                          </m:f>
                        </m:oMath>
                      </m:oMathPara>
                    </a14:m>
                    <a:endParaRPr kumimoji="0" lang="en-GB" sz="3900" b="0" i="0" u="none" strike="noStrike" cap="none" spc="0" normalizeH="0" baseline="0">
                      <a:ln>
                        <a:noFill/>
                      </a:ln>
                      <a:solidFill>
                        <a:srgbClr val="5E5E5E"/>
                      </a:solidFill>
                      <a:effectLst/>
                      <a:uFillTx/>
                      <a:sym typeface="Helvetica Neue"/>
                    </a:endParaRPr>
                  </a:p>
                </p:txBody>
              </p:sp>
            </mc:Choice>
            <mc:Fallback xmlns="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DF1D34B1-9736-853E-E5C0-061B6D0C310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632903" y="11432616"/>
                    <a:ext cx="4395499" cy="1417311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A06F0AC-E027-729E-8E95-3B5A0E84EF02}"/>
                  </a:ext>
                </a:extLst>
              </p:cNvPr>
              <p:cNvSpPr txBox="1"/>
              <p:nvPr/>
            </p:nvSpPr>
            <p:spPr>
              <a:xfrm>
                <a:off x="7447325" y="11878888"/>
                <a:ext cx="3924151" cy="53347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GB" sz="2800" i="0" u="none" strike="noStrike" cap="none" spc="0" normalizeH="0" baseline="0">
                    <a:ln>
                      <a:noFill/>
                    </a:ln>
                    <a:solidFill>
                      <a:schemeClr val="tx1">
                        <a:lumMod val="50000"/>
                      </a:schemeClr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rPr>
                  <a:t>Inlet boundary condition</a:t>
                </a:r>
              </a:p>
            </p:txBody>
          </p:sp>
        </p:grp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2A479694-C51D-9B7A-9E18-1A69B4190032}"/>
                </a:ext>
              </a:extLst>
            </p:cNvPr>
            <p:cNvCxnSpPr>
              <a:cxnSpLocks/>
            </p:cNvCxnSpPr>
            <p:nvPr/>
          </p:nvCxnSpPr>
          <p:spPr>
            <a:xfrm>
              <a:off x="11819846" y="12371465"/>
              <a:ext cx="900000" cy="0"/>
            </a:xfrm>
            <a:prstGeom prst="straightConnector1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56" name="Rectangle 55">
            <a:extLst>
              <a:ext uri="{FF2B5EF4-FFF2-40B4-BE49-F238E27FC236}">
                <a16:creationId xmlns:a16="http://schemas.microsoft.com/office/drawing/2014/main" id="{C6D7A2A3-D94D-AFDC-3A56-FF9C0EE3DC2E}"/>
              </a:ext>
            </a:extLst>
          </p:cNvPr>
          <p:cNvSpPr/>
          <p:nvPr/>
        </p:nvSpPr>
        <p:spPr>
          <a:xfrm>
            <a:off x="17805400" y="9898515"/>
            <a:ext cx="6270957" cy="3241015"/>
          </a:xfrm>
          <a:prstGeom prst="rect">
            <a:avLst/>
          </a:prstGeom>
          <a:noFill/>
          <a:ln w="57150" cap="flat">
            <a:solidFill>
              <a:srgbClr val="9E2D28"/>
            </a:solidFill>
            <a:prstDash val="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D8BD343-0952-6C4F-8BCA-4B200F7072F9}"/>
              </a:ext>
            </a:extLst>
          </p:cNvPr>
          <p:cNvSpPr txBox="1"/>
          <p:nvPr/>
        </p:nvSpPr>
        <p:spPr>
          <a:xfrm>
            <a:off x="17805400" y="9030502"/>
            <a:ext cx="6270957" cy="8412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solidFill>
                  <a:schemeClr val="bg2">
                    <a:lumMod val="10000"/>
                  </a:schemeClr>
                </a:solidFill>
              </a:rPr>
              <a:t>Import </a:t>
            </a:r>
            <a:r>
              <a:rPr lang="en-GB" err="1">
                <a:solidFill>
                  <a:schemeClr val="bg2">
                    <a:lumMod val="10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solve_ivp</a:t>
            </a:r>
            <a:r>
              <a:rPr lang="en-GB">
                <a:solidFill>
                  <a:schemeClr val="bg2">
                    <a:lumMod val="1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GB">
                <a:solidFill>
                  <a:schemeClr val="bg2">
                    <a:lumMod val="10000"/>
                  </a:schemeClr>
                </a:solidFill>
              </a:rPr>
              <a:t>from </a:t>
            </a:r>
            <a:r>
              <a:rPr lang="en-GB" err="1">
                <a:solidFill>
                  <a:schemeClr val="bg2">
                    <a:lumMod val="10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scipy.integrate</a:t>
            </a:r>
            <a:r>
              <a:rPr lang="en-GB">
                <a:solidFill>
                  <a:schemeClr val="bg2">
                    <a:lumMod val="10000"/>
                  </a:schemeClr>
                </a:solidFill>
                <a:highlight>
                  <a:srgbClr val="FFFF00"/>
                </a:highlight>
              </a:rPr>
              <a:t> </a:t>
            </a:r>
            <a:r>
              <a:rPr lang="en-GB">
                <a:solidFill>
                  <a:schemeClr val="bg2">
                    <a:lumMod val="10000"/>
                  </a:schemeClr>
                </a:solidFill>
              </a:rPr>
              <a:t>and choose a method to solve the ode</a:t>
            </a:r>
            <a:endParaRPr kumimoji="0" lang="en-GB" sz="2400" b="0" i="0" u="none" strike="noStrike" cap="none" spc="0" normalizeH="0" baseline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D2F52A6-C041-1278-F79E-15295021FBD2}"/>
              </a:ext>
            </a:extLst>
          </p:cNvPr>
          <p:cNvSpPr txBox="1"/>
          <p:nvPr/>
        </p:nvSpPr>
        <p:spPr>
          <a:xfrm>
            <a:off x="8283043" y="7141764"/>
            <a:ext cx="274114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2400" b="1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1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7FC0E30-6724-5D0B-0292-79B96C22533E}"/>
              </a:ext>
            </a:extLst>
          </p:cNvPr>
          <p:cNvSpPr txBox="1"/>
          <p:nvPr/>
        </p:nvSpPr>
        <p:spPr>
          <a:xfrm>
            <a:off x="7005959" y="10634264"/>
            <a:ext cx="274114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2400" b="1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6B633FF-C03E-5A0D-D0DB-7407DAB7E135}"/>
              </a:ext>
            </a:extLst>
          </p:cNvPr>
          <p:cNvSpPr txBox="1"/>
          <p:nvPr/>
        </p:nvSpPr>
        <p:spPr>
          <a:xfrm>
            <a:off x="7005959" y="12000707"/>
            <a:ext cx="274114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2400" b="1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3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34C4291-11C8-49EA-1EB2-22A7F74FFCBB}"/>
              </a:ext>
            </a:extLst>
          </p:cNvPr>
          <p:cNvSpPr txBox="1"/>
          <p:nvPr/>
        </p:nvSpPr>
        <p:spPr>
          <a:xfrm>
            <a:off x="17646096" y="9197681"/>
            <a:ext cx="274114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2400" b="1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4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536208E-565F-245A-8512-3B16912EE9AB}"/>
              </a:ext>
            </a:extLst>
          </p:cNvPr>
          <p:cNvGrpSpPr/>
          <p:nvPr/>
        </p:nvGrpSpPr>
        <p:grpSpPr>
          <a:xfrm>
            <a:off x="160623" y="3820967"/>
            <a:ext cx="7125496" cy="6852921"/>
            <a:chOff x="160623" y="3820967"/>
            <a:chExt cx="7125496" cy="6852921"/>
          </a:xfrm>
        </p:grpSpPr>
        <p:pic>
          <p:nvPicPr>
            <p:cNvPr id="8" name="Picture 7" descr="A graph of a function&#10;&#10;AI-generated content may be incorrect.">
              <a:extLst>
                <a:ext uri="{FF2B5EF4-FFF2-40B4-BE49-F238E27FC236}">
                  <a16:creationId xmlns:a16="http://schemas.microsoft.com/office/drawing/2014/main" id="{18923A6C-D121-539E-AC76-2C56F5F780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60623" y="3820967"/>
              <a:ext cx="6842119" cy="6842119"/>
            </a:xfrm>
            <a:prstGeom prst="rect">
              <a:avLst/>
            </a:prstGeom>
          </p:spPr>
        </p:pic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56C8E3D4-5A4E-3948-B859-B0E9A7FBCE9C}"/>
                </a:ext>
              </a:extLst>
            </p:cNvPr>
            <p:cNvGrpSpPr/>
            <p:nvPr/>
          </p:nvGrpSpPr>
          <p:grpSpPr>
            <a:xfrm>
              <a:off x="398526" y="4465806"/>
              <a:ext cx="6887593" cy="5918886"/>
              <a:chOff x="407453" y="5433188"/>
              <a:chExt cx="6887593" cy="5918886"/>
            </a:xfrm>
          </p:grpSpPr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DE89A4C5-EA88-50F8-59A8-2F4702F82F4D}"/>
                  </a:ext>
                </a:extLst>
              </p:cNvPr>
              <p:cNvSpPr txBox="1"/>
              <p:nvPr/>
            </p:nvSpPr>
            <p:spPr>
              <a:xfrm>
                <a:off x="899983" y="5433188"/>
                <a:ext cx="1337891" cy="859327"/>
              </a:xfrm>
              <a:prstGeom prst="rect">
                <a:avLst/>
              </a:prstGeom>
              <a:solidFill>
                <a:schemeClr val="bg1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GB" sz="24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60994005-3E12-7FC1-6DB6-96B7C28BB49F}"/>
                  </a:ext>
                </a:extLst>
              </p:cNvPr>
              <p:cNvSpPr txBox="1"/>
              <p:nvPr/>
            </p:nvSpPr>
            <p:spPr>
              <a:xfrm>
                <a:off x="5673778" y="10492747"/>
                <a:ext cx="1337891" cy="859327"/>
              </a:xfrm>
              <a:prstGeom prst="rect">
                <a:avLst/>
              </a:prstGeom>
              <a:solidFill>
                <a:schemeClr val="bg1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GB" sz="24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55F626BF-7B65-8AEC-90E2-7497D7D26121}"/>
                  </a:ext>
                </a:extLst>
              </p:cNvPr>
              <p:cNvSpPr/>
              <p:nvPr/>
            </p:nvSpPr>
            <p:spPr>
              <a:xfrm>
                <a:off x="3830641" y="8588501"/>
                <a:ext cx="163244" cy="172045"/>
              </a:xfrm>
              <a:prstGeom prst="ellipse">
                <a:avLst/>
              </a:prstGeom>
              <a:solidFill>
                <a:srgbClr val="7030A0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GB" sz="3200" b="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0595DED1-F7CE-CA0B-E6CA-E3FAD0869628}"/>
                  </a:ext>
                </a:extLst>
              </p:cNvPr>
              <p:cNvSpPr/>
              <p:nvPr/>
            </p:nvSpPr>
            <p:spPr>
              <a:xfrm>
                <a:off x="2614199" y="9114146"/>
                <a:ext cx="163244" cy="172045"/>
              </a:xfrm>
              <a:prstGeom prst="ellipse">
                <a:avLst/>
              </a:prstGeom>
              <a:solidFill>
                <a:srgbClr val="7030A0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GB" sz="3200" b="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BDEA03DC-9938-0CDC-85C5-37A5FED9677A}"/>
                  </a:ext>
                </a:extLst>
              </p:cNvPr>
              <p:cNvSpPr/>
              <p:nvPr/>
            </p:nvSpPr>
            <p:spPr>
              <a:xfrm>
                <a:off x="5004045" y="7782815"/>
                <a:ext cx="163244" cy="172045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GB" sz="3200" b="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A3D6344C-293D-B7F3-3DBC-A955E0ACB15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96568" y="9274159"/>
                <a:ext cx="0" cy="940650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dash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9EEA80B0-C15F-69C7-2144-25F375CA843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888795" y="8760546"/>
                <a:ext cx="23468" cy="1454263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dash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D4105B98-1411-2EDC-6C60-673EC809FFC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85667" y="7958547"/>
                <a:ext cx="0" cy="2256262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dash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206A5001-2B13-5416-2EA9-33A94279F67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813047" y="7517693"/>
                <a:ext cx="4361676" cy="2256669"/>
              </a:xfrm>
              <a:prstGeom prst="line">
                <a:avLst/>
              </a:prstGeom>
              <a:noFill/>
              <a:ln w="57150" cap="flat">
                <a:solidFill>
                  <a:schemeClr val="accent1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FBED109E-2A2D-5DEB-EE52-6D7FDEB1E30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552161" y="7830479"/>
                <a:ext cx="4410385" cy="1857803"/>
              </a:xfrm>
              <a:prstGeom prst="line">
                <a:avLst/>
              </a:prstGeom>
              <a:noFill/>
              <a:ln w="57150" cap="flat">
                <a:solidFill>
                  <a:srgbClr val="7030A0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2" name="TextBox 91">
                    <a:extLst>
                      <a:ext uri="{FF2B5EF4-FFF2-40B4-BE49-F238E27FC236}">
                        <a16:creationId xmlns:a16="http://schemas.microsoft.com/office/drawing/2014/main" id="{D6EB1DD5-0CB8-0C37-D30C-2CCBE2822D25}"/>
                      </a:ext>
                    </a:extLst>
                  </p:cNvPr>
                  <p:cNvSpPr txBox="1"/>
                  <p:nvPr/>
                </p:nvSpPr>
                <p:spPr>
                  <a:xfrm>
                    <a:off x="407453" y="6231323"/>
                    <a:ext cx="886268" cy="492443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none" lIns="0" tIns="0" rIns="0" bIns="0" numCol="1" spcCol="38100" rtlCol="0" anchor="ctr">
                    <a:spAutoFit/>
                  </a:bodyPr>
                  <a:lstStyle/>
                  <a:p>
                    <a:pPr marL="0" marR="0" indent="0" algn="ctr" defTabSz="2438338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GB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𝑐</m:t>
                          </m:r>
                          <m:r>
                            <a:rPr kumimoji="0" lang="en-GB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(</m:t>
                          </m:r>
                          <m:r>
                            <a:rPr kumimoji="0" lang="en-GB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𝑥</m:t>
                          </m:r>
                          <m:r>
                            <a:rPr kumimoji="0" lang="en-GB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)</m:t>
                          </m:r>
                        </m:oMath>
                      </m:oMathPara>
                    </a14:m>
                    <a:endParaRPr kumimoji="0" lang="en-GB" sz="3200" b="0" i="0" u="none" strike="noStrike" cap="none" spc="0" normalizeH="0" baseline="0">
                      <a:ln>
                        <a:noFill/>
                      </a:ln>
                      <a:solidFill>
                        <a:schemeClr val="bg2">
                          <a:lumMod val="10000"/>
                        </a:schemeClr>
                      </a:solidFill>
                      <a:effectLst/>
                      <a:uFillTx/>
                      <a:ea typeface="+mn-ea"/>
                      <a:cs typeface="+mn-cs"/>
                      <a:sym typeface="Helvetica Neue"/>
                    </a:endParaRPr>
                  </a:p>
                </p:txBody>
              </p:sp>
            </mc:Choice>
            <mc:Fallback xmlns="">
              <p:sp>
                <p:nvSpPr>
                  <p:cNvPr id="92" name="TextBox 91">
                    <a:extLst>
                      <a:ext uri="{FF2B5EF4-FFF2-40B4-BE49-F238E27FC236}">
                        <a16:creationId xmlns:a16="http://schemas.microsoft.com/office/drawing/2014/main" id="{D6EB1DD5-0CB8-0C37-D30C-2CCBE2822D2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7453" y="6231323"/>
                    <a:ext cx="886268" cy="492443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3" name="TextBox 92">
                    <a:extLst>
                      <a:ext uri="{FF2B5EF4-FFF2-40B4-BE49-F238E27FC236}">
                        <a16:creationId xmlns:a16="http://schemas.microsoft.com/office/drawing/2014/main" id="{877F1A26-1751-8EC4-1733-D1111A1DAD90}"/>
                      </a:ext>
                    </a:extLst>
                  </p:cNvPr>
                  <p:cNvSpPr txBox="1"/>
                  <p:nvPr/>
                </p:nvSpPr>
                <p:spPr>
                  <a:xfrm>
                    <a:off x="6005114" y="10292644"/>
                    <a:ext cx="344261" cy="492443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none" lIns="0" tIns="0" rIns="0" bIns="0" numCol="1" spcCol="38100" rtlCol="0" anchor="ctr">
                    <a:spAutoFit/>
                  </a:bodyPr>
                  <a:lstStyle/>
                  <a:p>
                    <a:pPr marL="0" marR="0" indent="0" algn="ctr" defTabSz="2438338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GB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𝑥</m:t>
                          </m:r>
                        </m:oMath>
                      </m:oMathPara>
                    </a14:m>
                    <a:endParaRPr kumimoji="0" lang="en-GB" sz="3200" b="0" i="0" u="none" strike="noStrike" cap="none" spc="0" normalizeH="0" baseline="0">
                      <a:ln>
                        <a:noFill/>
                      </a:ln>
                      <a:solidFill>
                        <a:schemeClr val="bg2">
                          <a:lumMod val="10000"/>
                        </a:schemeClr>
                      </a:solidFill>
                      <a:effectLst/>
                      <a:uFillTx/>
                      <a:ea typeface="+mn-ea"/>
                      <a:cs typeface="+mn-cs"/>
                      <a:sym typeface="Helvetica Neue"/>
                    </a:endParaRPr>
                  </a:p>
                </p:txBody>
              </p:sp>
            </mc:Choice>
            <mc:Fallback xmlns="">
              <p:sp>
                <p:nvSpPr>
                  <p:cNvPr id="93" name="TextBox 92">
                    <a:extLst>
                      <a:ext uri="{FF2B5EF4-FFF2-40B4-BE49-F238E27FC236}">
                        <a16:creationId xmlns:a16="http://schemas.microsoft.com/office/drawing/2014/main" id="{877F1A26-1751-8EC4-1733-D1111A1DAD9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05114" y="10292644"/>
                    <a:ext cx="344261" cy="492443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4" name="TextBox 93">
                    <a:extLst>
                      <a:ext uri="{FF2B5EF4-FFF2-40B4-BE49-F238E27FC236}">
                        <a16:creationId xmlns:a16="http://schemas.microsoft.com/office/drawing/2014/main" id="{8D656CE9-52F2-88BF-AA8B-98A88BA2AB02}"/>
                      </a:ext>
                    </a:extLst>
                  </p:cNvPr>
                  <p:cNvSpPr txBox="1"/>
                  <p:nvPr/>
                </p:nvSpPr>
                <p:spPr>
                  <a:xfrm>
                    <a:off x="3712268" y="10292644"/>
                    <a:ext cx="460960" cy="492443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none" lIns="0" tIns="0" rIns="0" bIns="0" numCol="1" spcCol="38100" rtlCol="0" anchor="ctr">
                    <a:spAutoFit/>
                  </a:bodyPr>
                  <a:lstStyle/>
                  <a:p>
                    <a:pPr marL="0" marR="0" indent="0" algn="ctr" defTabSz="2438338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en-GB" sz="3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7030A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</m:ctrlPr>
                            </m:sSubPr>
                            <m:e>
                              <m:r>
                                <a:rPr kumimoji="0" lang="en-GB" sz="3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7030A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GB" sz="3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7030A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  <m:t>𝑖</m:t>
                              </m:r>
                            </m:sub>
                          </m:sSub>
                        </m:oMath>
                      </m:oMathPara>
                    </a14:m>
                    <a:endParaRPr kumimoji="0" lang="en-GB" sz="3200" b="0" i="0" u="none" strike="noStrike" cap="none" spc="0" normalizeH="0" baseline="0">
                      <a:ln>
                        <a:noFill/>
                      </a:ln>
                      <a:solidFill>
                        <a:srgbClr val="7030A0"/>
                      </a:solidFill>
                      <a:effectLst/>
                      <a:uFillTx/>
                      <a:ea typeface="+mn-ea"/>
                      <a:cs typeface="+mn-cs"/>
                      <a:sym typeface="Helvetica Neue"/>
                    </a:endParaRPr>
                  </a:p>
                </p:txBody>
              </p:sp>
            </mc:Choice>
            <mc:Fallback xmlns="">
              <p:sp>
                <p:nvSpPr>
                  <p:cNvPr id="94" name="TextBox 93">
                    <a:extLst>
                      <a:ext uri="{FF2B5EF4-FFF2-40B4-BE49-F238E27FC236}">
                        <a16:creationId xmlns:a16="http://schemas.microsoft.com/office/drawing/2014/main" id="{8D656CE9-52F2-88BF-AA8B-98A88BA2AB0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12268" y="10292644"/>
                    <a:ext cx="460960" cy="492443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1" name="TextBox 100">
                    <a:extLst>
                      <a:ext uri="{FF2B5EF4-FFF2-40B4-BE49-F238E27FC236}">
                        <a16:creationId xmlns:a16="http://schemas.microsoft.com/office/drawing/2014/main" id="{1CA14D33-B1A5-70D7-BB1A-A26436248838}"/>
                      </a:ext>
                    </a:extLst>
                  </p:cNvPr>
                  <p:cNvSpPr txBox="1"/>
                  <p:nvPr/>
                </p:nvSpPr>
                <p:spPr>
                  <a:xfrm>
                    <a:off x="4661863" y="10292644"/>
                    <a:ext cx="852093" cy="492443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none" lIns="0" tIns="0" rIns="0" bIns="0" numCol="1" spcCol="38100" rtlCol="0" anchor="ctr">
                    <a:spAutoFit/>
                  </a:bodyPr>
                  <a:lstStyle/>
                  <a:p>
                    <a:pPr marL="0" marR="0" indent="0" algn="ctr" defTabSz="2438338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en-GB" sz="3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</m:ctrlPr>
                            </m:sSubPr>
                            <m:e>
                              <m:r>
                                <a:rPr kumimoji="0" lang="en-GB" sz="3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GB" sz="3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  <m:t>𝑖</m:t>
                              </m:r>
                              <m:r>
                                <a:rPr kumimoji="0" lang="en-GB" sz="3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  <m:t>+1</m:t>
                              </m:r>
                            </m:sub>
                          </m:sSub>
                        </m:oMath>
                      </m:oMathPara>
                    </a14:m>
                    <a:endParaRPr kumimoji="0" lang="en-GB" sz="3200" b="0" i="0" u="none" strike="noStrike" cap="none" spc="0" normalizeH="0" baseline="0">
                      <a:ln>
                        <a:noFill/>
                      </a:ln>
                      <a:solidFill>
                        <a:schemeClr val="bg2">
                          <a:lumMod val="10000"/>
                        </a:schemeClr>
                      </a:solidFill>
                      <a:effectLst/>
                      <a:uFillTx/>
                      <a:ea typeface="+mn-ea"/>
                      <a:cs typeface="+mn-cs"/>
                      <a:sym typeface="Helvetica Neue"/>
                    </a:endParaRPr>
                  </a:p>
                </p:txBody>
              </p:sp>
            </mc:Choice>
            <mc:Fallback xmlns="">
              <p:sp>
                <p:nvSpPr>
                  <p:cNvPr id="101" name="TextBox 100">
                    <a:extLst>
                      <a:ext uri="{FF2B5EF4-FFF2-40B4-BE49-F238E27FC236}">
                        <a16:creationId xmlns:a16="http://schemas.microsoft.com/office/drawing/2014/main" id="{1CA14D33-B1A5-70D7-BB1A-A2643624883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61863" y="10292644"/>
                    <a:ext cx="852093" cy="492443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3" name="TextBox 102">
                    <a:extLst>
                      <a:ext uri="{FF2B5EF4-FFF2-40B4-BE49-F238E27FC236}">
                        <a16:creationId xmlns:a16="http://schemas.microsoft.com/office/drawing/2014/main" id="{87A6CF71-C5D6-B6BE-1B36-B6E8CC9691AC}"/>
                      </a:ext>
                    </a:extLst>
                  </p:cNvPr>
                  <p:cNvSpPr txBox="1"/>
                  <p:nvPr/>
                </p:nvSpPr>
                <p:spPr>
                  <a:xfrm>
                    <a:off x="2274822" y="10292644"/>
                    <a:ext cx="852093" cy="492443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none" lIns="0" tIns="0" rIns="0" bIns="0" numCol="1" spcCol="38100" rtlCol="0" anchor="ctr">
                    <a:spAutoFit/>
                  </a:bodyPr>
                  <a:lstStyle/>
                  <a:p>
                    <a:pPr marL="0" marR="0" indent="0" algn="ctr" defTabSz="2438338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en-GB" sz="3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7030A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</m:ctrlPr>
                            </m:sSubPr>
                            <m:e>
                              <m:r>
                                <a:rPr kumimoji="0" lang="en-GB" sz="3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7030A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GB" sz="3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7030A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  <m:t>𝑖</m:t>
                              </m:r>
                              <m:r>
                                <a:rPr kumimoji="0" lang="en-GB" sz="32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7030A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kumimoji="0" lang="en-GB" sz="3200" b="0" i="0" u="none" strike="noStrike" cap="none" spc="0" normalizeH="0" baseline="0">
                      <a:ln>
                        <a:noFill/>
                      </a:ln>
                      <a:solidFill>
                        <a:srgbClr val="7030A0"/>
                      </a:solidFill>
                      <a:effectLst/>
                      <a:uFillTx/>
                      <a:ea typeface="+mn-ea"/>
                      <a:cs typeface="+mn-cs"/>
                      <a:sym typeface="Helvetica Neue"/>
                    </a:endParaRPr>
                  </a:p>
                </p:txBody>
              </p:sp>
            </mc:Choice>
            <mc:Fallback xmlns="">
              <p:sp>
                <p:nvSpPr>
                  <p:cNvPr id="103" name="TextBox 102">
                    <a:extLst>
                      <a:ext uri="{FF2B5EF4-FFF2-40B4-BE49-F238E27FC236}">
                        <a16:creationId xmlns:a16="http://schemas.microsoft.com/office/drawing/2014/main" id="{87A6CF71-C5D6-B6BE-1B36-B6E8CC9691A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74822" y="10292644"/>
                    <a:ext cx="852093" cy="492443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9EE7EE83-8062-2F56-5F52-EEF7F5101E9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109800" y="7590611"/>
                <a:ext cx="493566" cy="711178"/>
              </a:xfrm>
              <a:prstGeom prst="straightConnector1">
                <a:avLst/>
              </a:prstGeom>
              <a:noFill/>
              <a:ln w="57150" cap="flat">
                <a:solidFill>
                  <a:srgbClr val="00B0F0"/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6065AF2B-1267-B414-D3A3-0A00201C2720}"/>
                  </a:ext>
                </a:extLst>
              </p:cNvPr>
              <p:cNvSpPr txBox="1"/>
              <p:nvPr/>
            </p:nvSpPr>
            <p:spPr>
              <a:xfrm>
                <a:off x="6153708" y="8277196"/>
                <a:ext cx="1141338" cy="96436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GB" sz="2800" b="1" i="0" u="none" strike="noStrike" cap="none" spc="0" normalizeH="0" baseline="0">
                    <a:ln>
                      <a:noFill/>
                    </a:ln>
                    <a:solidFill>
                      <a:srgbClr val="00B0F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rPr>
                  <a:t>True</a:t>
                </a:r>
              </a:p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GB" sz="2800" b="1" i="0" u="none" strike="noStrike" cap="none" spc="0" normalizeH="0" baseline="0">
                    <a:ln>
                      <a:noFill/>
                    </a:ln>
                    <a:solidFill>
                      <a:srgbClr val="00B0F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rPr>
                  <a:t> slope</a:t>
                </a:r>
              </a:p>
            </p:txBody>
          </p: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CAF2D539-AB4A-C8A2-C5DC-5A27920AE1B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667196" y="8443180"/>
                <a:ext cx="518915" cy="756988"/>
              </a:xfrm>
              <a:prstGeom prst="straightConnector1">
                <a:avLst/>
              </a:prstGeom>
              <a:noFill/>
              <a:ln w="57150" cap="flat">
                <a:solidFill>
                  <a:srgbClr val="7030A0"/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0CD0E3BF-088D-D0E7-62DE-AEA6B26D34D2}"/>
                  </a:ext>
                </a:extLst>
              </p:cNvPr>
              <p:cNvSpPr txBox="1"/>
              <p:nvPr/>
            </p:nvSpPr>
            <p:spPr>
              <a:xfrm>
                <a:off x="3991561" y="9232127"/>
                <a:ext cx="2619307" cy="96436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GB" sz="2800" b="1" i="0" u="none" strike="noStrike" cap="none" spc="0" normalizeH="0" baseline="0">
                    <a:ln>
                      <a:noFill/>
                    </a:ln>
                    <a:solidFill>
                      <a:srgbClr val="7030A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rPr>
                  <a:t>Approximated </a:t>
                </a:r>
              </a:p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GB" sz="2800" b="1">
                    <a:solidFill>
                      <a:srgbClr val="7030A0"/>
                    </a:solidFill>
                  </a:rPr>
                  <a:t>slope</a:t>
                </a:r>
                <a:endParaRPr kumimoji="0" lang="en-GB" sz="2800" b="1" i="0" u="none" strike="noStrike" cap="none" spc="0" normalizeH="0" baseline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6C3491BE-A058-0006-AD3D-8D1CD3E5F2E3}"/>
                    </a:ext>
                  </a:extLst>
                </p:cNvPr>
                <p:cNvSpPr txBox="1"/>
                <p:nvPr/>
              </p:nvSpPr>
              <p:spPr>
                <a:xfrm>
                  <a:off x="2715390" y="10181445"/>
                  <a:ext cx="1173405" cy="49244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0" tIns="0" rIns="0" bIns="0" numCol="1" spcCol="3810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3200" i="1" smtClean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GB" sz="3200" b="0" i="1" smtClean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kumimoji="0" lang="en-GB" sz="3200" b="0" i="0" u="none" strike="noStrike" cap="none" spc="0" normalizeH="0" baseline="0">
                    <a:ln>
                      <a:noFill/>
                    </a:ln>
                    <a:solidFill>
                      <a:srgbClr val="5E5E5E"/>
                    </a:solidFill>
                    <a:effectLst/>
                    <a:uFillTx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6C3491BE-A058-0006-AD3D-8D1CD3E5F2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15390" y="10181445"/>
                  <a:ext cx="1173405" cy="492443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71D9E94B-231E-8A35-EA9B-7E2B1934922C}"/>
                </a:ext>
              </a:extLst>
            </p:cNvPr>
            <p:cNvCxnSpPr>
              <a:cxnSpLocks/>
            </p:cNvCxnSpPr>
            <p:nvPr/>
          </p:nvCxnSpPr>
          <p:spPr>
            <a:xfrm>
              <a:off x="2686894" y="10178716"/>
              <a:ext cx="1192974" cy="0"/>
            </a:xfrm>
            <a:prstGeom prst="straightConnector1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headEnd type="triangle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</p:spTree>
    <p:extLst>
      <p:ext uri="{BB962C8B-B14F-4D97-AF65-F5344CB8AC3E}">
        <p14:creationId xmlns:p14="http://schemas.microsoft.com/office/powerpoint/2010/main" val="3975517581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/>
          <p:cNvSpPr/>
          <p:nvPr/>
        </p:nvSpPr>
        <p:spPr>
          <a:xfrm>
            <a:off x="3888795" y="246197"/>
            <a:ext cx="7994496" cy="923330"/>
          </a:xfrm>
          <a:prstGeom prst="rect">
            <a:avLst/>
          </a:prstGeom>
        </p:spPr>
        <p:txBody>
          <a:bodyPr wrap="none">
            <a:spAutoFit/>
          </a:bodyPr>
          <a:lstStyle>
            <a:defPPr marL="0" marR="0" indent="0" algn="l" defTabSz="18288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1pPr>
            <a:lvl2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2pPr>
            <a:lvl3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3pPr>
            <a:lvl4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4pPr>
            <a:lvl5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5pPr>
            <a:lvl6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6pPr>
            <a:lvl7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7pPr>
            <a:lvl8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8pPr>
            <a:lvl9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9pPr>
          </a:lstStyle>
          <a:p>
            <a:r>
              <a:rPr lang="en-US" sz="5400" b="1">
                <a:solidFill>
                  <a:srgbClr val="EAEAEA"/>
                </a:solidFill>
              </a:rPr>
              <a:t>Converting PDE to ODE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FDF30E7-FD0C-CAEB-D54C-83741A9A86D6}"/>
              </a:ext>
            </a:extLst>
          </p:cNvPr>
          <p:cNvSpPr txBox="1"/>
          <p:nvPr/>
        </p:nvSpPr>
        <p:spPr>
          <a:xfrm>
            <a:off x="11693742" y="3476896"/>
            <a:ext cx="947375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3200" b="1" i="0" u="none" strike="noStrike" cap="none" spc="0" normalizeH="0" baseline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PDE</a:t>
            </a:r>
          </a:p>
        </p:txBody>
      </p:sp>
      <p:pic>
        <p:nvPicPr>
          <p:cNvPr id="12" name="Picture 11" descr="\documentclass{article}&#10;\usepackage{amsmath}&#10;\pagestyle{empty}&#10;\begin{document}&#10;\begin{equation}&#10;\frac{\partial c}{\partial t}=-v\frac{\partial c}{\partial x}&#10;\nonumber&#10;\end{equation}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7584" y="2145552"/>
            <a:ext cx="2419693" cy="100772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D745FB8E-079C-5FD5-F2D9-64E5CCA7EFE0}"/>
              </a:ext>
            </a:extLst>
          </p:cNvPr>
          <p:cNvSpPr/>
          <p:nvPr/>
        </p:nvSpPr>
        <p:spPr>
          <a:xfrm rot="-10800000" flipV="1">
            <a:off x="9853404" y="13283356"/>
            <a:ext cx="4628055" cy="379591"/>
          </a:xfrm>
          <a:prstGeom prst="rect">
            <a:avLst/>
          </a:prstGeom>
          <a:solidFill>
            <a:srgbClr val="8B79A6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n-US" sz="1800"/>
              <a:t>Workshop on Numerical Simulation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5E6C2E-C000-B999-264C-69241A7AD13E}"/>
              </a:ext>
            </a:extLst>
          </p:cNvPr>
          <p:cNvSpPr/>
          <p:nvPr/>
        </p:nvSpPr>
        <p:spPr>
          <a:xfrm rot="-10800000" flipV="1">
            <a:off x="457612" y="13283975"/>
            <a:ext cx="4628055" cy="379591"/>
          </a:xfrm>
          <a:prstGeom prst="rect">
            <a:avLst/>
          </a:prstGeom>
          <a:solidFill>
            <a:srgbClr val="5C2A7A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/>
            <a:r>
              <a:rPr lang="en-GB" sz="1800">
                <a:solidFill>
                  <a:srgbClr val="9E79A6"/>
                </a:solidFill>
                <a:latin typeface="Helvetica Neue"/>
              </a:rPr>
              <a:t>KR and MA</a:t>
            </a:r>
            <a:endParaRPr lang="en-US" sz="18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4C1990-66EF-52ED-6D96-DB16B76B2638}"/>
              </a:ext>
            </a:extLst>
          </p:cNvPr>
          <p:cNvSpPr txBox="1"/>
          <p:nvPr/>
        </p:nvSpPr>
        <p:spPr>
          <a:xfrm>
            <a:off x="457612" y="4265620"/>
            <a:ext cx="23535449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GB" sz="3200" b="1">
                <a:solidFill>
                  <a:schemeClr val="tx1"/>
                </a:solidFill>
              </a:rPr>
              <a:t>Discretize</a:t>
            </a:r>
            <a:r>
              <a:rPr lang="en-GB" sz="3200">
                <a:solidFill>
                  <a:schemeClr val="tx1">
                    <a:lumMod val="50000"/>
                  </a:schemeClr>
                </a:solidFill>
              </a:rPr>
              <a:t> the </a:t>
            </a:r>
            <a:r>
              <a:rPr lang="en-GB" sz="3200" b="1">
                <a:solidFill>
                  <a:schemeClr val="tx1"/>
                </a:solidFill>
              </a:rPr>
              <a:t>spatial domain</a:t>
            </a:r>
            <a:r>
              <a:rPr lang="en-GB" sz="3200" b="1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GB" sz="3200">
                <a:solidFill>
                  <a:schemeClr val="tx1">
                    <a:lumMod val="50000"/>
                  </a:schemeClr>
                </a:solidFill>
              </a:rPr>
              <a:t>but keep the </a:t>
            </a:r>
            <a:r>
              <a:rPr lang="en-GB" sz="3200" b="1">
                <a:solidFill>
                  <a:schemeClr val="tx1">
                    <a:lumMod val="50000"/>
                  </a:schemeClr>
                </a:solidFill>
              </a:rPr>
              <a:t>time domain </a:t>
            </a:r>
            <a:r>
              <a:rPr lang="en-GB" sz="3200">
                <a:solidFill>
                  <a:schemeClr val="tx1">
                    <a:lumMod val="50000"/>
                  </a:schemeClr>
                </a:solidFill>
              </a:rPr>
              <a:t>continuous</a:t>
            </a:r>
            <a:endParaRPr lang="en-GB" sz="3200" b="1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 flipH="1">
            <a:off x="12762058" y="2077764"/>
            <a:ext cx="632311" cy="1194507"/>
          </a:xfrm>
          <a:prstGeom prst="rect">
            <a:avLst/>
          </a:prstGeom>
          <a:solidFill>
            <a:srgbClr val="CCECFF">
              <a:alpha val="50196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6EC5502-AFDD-ACD3-55A0-58E496FECDEA}"/>
              </a:ext>
            </a:extLst>
          </p:cNvPr>
          <p:cNvSpPr txBox="1"/>
          <p:nvPr/>
        </p:nvSpPr>
        <p:spPr>
          <a:xfrm>
            <a:off x="457612" y="9898515"/>
            <a:ext cx="6317435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r>
              <a:rPr lang="en-GB" sz="3200" b="1">
                <a:solidFill>
                  <a:schemeClr val="tx1">
                    <a:lumMod val="75000"/>
                  </a:schemeClr>
                </a:solidFill>
              </a:rPr>
              <a:t>Finite Difference Approximation</a:t>
            </a:r>
            <a:endParaRPr kumimoji="0" lang="en-GB" sz="3200" b="1" i="0" u="none" strike="noStrike" cap="none" spc="0" normalizeH="0" baseline="0">
              <a:ln>
                <a:noFill/>
              </a:ln>
              <a:solidFill>
                <a:schemeClr val="tx1">
                  <a:lumMod val="75000"/>
                </a:schemeClr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300F3723-F46B-6733-D6CB-BCA19286ABFD}"/>
                  </a:ext>
                </a:extLst>
              </p:cNvPr>
              <p:cNvSpPr txBox="1"/>
              <p:nvPr/>
            </p:nvSpPr>
            <p:spPr>
              <a:xfrm>
                <a:off x="7427254" y="11432904"/>
                <a:ext cx="4009431" cy="141673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900" i="1" smtClean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GB" sz="3900" i="1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sz="3900" i="1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3900" b="0" i="1" smtClean="0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n-GB" sz="3900" i="1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num>
                                <m:den>
                                  <m:r>
                                    <a:rPr lang="en-GB" sz="3900" b="0" i="1" smtClean="0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𝑑𝑥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GB" sz="3900" i="1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3900" i="1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GB" sz="3900" b="0" i="1" smtClean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3900" i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kumimoji="0" lang="en-GB" sz="39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Neue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</m:ctrlPr>
                            </m:sSubPr>
                            <m:e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𝑐</m:t>
                              </m:r>
                            </m:e>
                            <m:sub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0" lang="en-GB" sz="39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Neue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</m:ctrlPr>
                            </m:sSubPr>
                            <m:e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𝑐</m:t>
                              </m:r>
                            </m:e>
                            <m:sub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𝑖</m:t>
                              </m:r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−1</m:t>
                              </m:r>
                            </m:sub>
                          </m:sSub>
                        </m:num>
                        <m:den>
                          <m:r>
                            <a:rPr kumimoji="0" lang="en-GB" sz="39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Helvetica Neue"/>
                            </a:rPr>
                            <m:t>∆</m:t>
                          </m:r>
                          <m:r>
                            <a:rPr kumimoji="0" lang="en-GB" sz="39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Helvetica Neue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kumimoji="0" lang="en-GB" sz="39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sym typeface="Helvetica Neue"/>
                </a:endParaRPr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300F3723-F46B-6733-D6CB-BCA19286AB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7254" y="11432904"/>
                <a:ext cx="4009431" cy="141673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TextBox 63">
            <a:extLst>
              <a:ext uri="{FF2B5EF4-FFF2-40B4-BE49-F238E27FC236}">
                <a16:creationId xmlns:a16="http://schemas.microsoft.com/office/drawing/2014/main" id="{A1901908-F315-FACD-8026-1CD51CA8E46F}"/>
              </a:ext>
            </a:extLst>
          </p:cNvPr>
          <p:cNvSpPr txBox="1"/>
          <p:nvPr/>
        </p:nvSpPr>
        <p:spPr>
          <a:xfrm>
            <a:off x="7524396" y="10580573"/>
            <a:ext cx="3815148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3200">
                <a:solidFill>
                  <a:schemeClr val="tx1">
                    <a:lumMod val="50000"/>
                  </a:schemeClr>
                </a:solidFill>
              </a:rPr>
              <a:t>Backward difference</a:t>
            </a:r>
            <a:endParaRPr kumimoji="0" lang="en-GB" sz="3200" b="0" i="0" u="none" strike="noStrike" cap="none" spc="0" normalizeH="0" baseline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2EA925F-0361-0C17-66EA-DF1F4D12A38E}"/>
              </a:ext>
            </a:extLst>
          </p:cNvPr>
          <p:cNvSpPr txBox="1"/>
          <p:nvPr/>
        </p:nvSpPr>
        <p:spPr>
          <a:xfrm>
            <a:off x="1537256" y="10580573"/>
            <a:ext cx="3335849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3200">
                <a:solidFill>
                  <a:schemeClr val="tx1">
                    <a:lumMod val="50000"/>
                  </a:schemeClr>
                </a:solidFill>
              </a:rPr>
              <a:t>Central difference</a:t>
            </a:r>
            <a:endParaRPr kumimoji="0" lang="en-GB" sz="3200" b="0" i="0" u="none" strike="noStrike" cap="none" spc="0" normalizeH="0" baseline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BBD614DF-84B3-F776-6437-5F5478709C8F}"/>
                  </a:ext>
                </a:extLst>
              </p:cNvPr>
              <p:cNvSpPr txBox="1"/>
              <p:nvPr/>
            </p:nvSpPr>
            <p:spPr>
              <a:xfrm>
                <a:off x="1269395" y="11432904"/>
                <a:ext cx="4487126" cy="141673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900" i="1" smtClean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GB" sz="3900" i="1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sz="3900" i="1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3900" b="0" i="1" smtClean="0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n-GB" sz="3900" i="1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num>
                                <m:den>
                                  <m:r>
                                    <a:rPr lang="en-GB" sz="3900" b="0" i="1" smtClean="0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𝑑𝑥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GB" sz="3900" i="1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3900" i="1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GB" sz="3900" b="0" i="1" smtClean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3900" i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kumimoji="0" lang="en-GB" sz="39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Neue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</m:ctrlPr>
                            </m:sSubPr>
                            <m:e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𝑐</m:t>
                              </m:r>
                            </m:e>
                            <m:sub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𝑖</m:t>
                              </m:r>
                              <m:r>
                                <a:rPr kumimoji="0" lang="en-US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+</m:t>
                              </m:r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1</m:t>
                              </m:r>
                            </m:sub>
                          </m:sSub>
                          <m:r>
                            <a:rPr kumimoji="0" lang="en-GB" sz="39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Neue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</m:ctrlPr>
                            </m:sSubPr>
                            <m:e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𝑐</m:t>
                              </m:r>
                            </m:e>
                            <m:sub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𝑖</m:t>
                              </m:r>
                              <m:r>
                                <a:rPr kumimoji="0" lang="en-US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−</m:t>
                              </m:r>
                              <m:r>
                                <a:rPr kumimoji="0" lang="en-GB" sz="39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 Neue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kumimoji="0" lang="en-GB" sz="39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Neue"/>
                            </a:rPr>
                            <m:t>2</m:t>
                          </m:r>
                          <m:r>
                            <a:rPr kumimoji="0" lang="en-GB" sz="39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Helvetica Neue"/>
                            </a:rPr>
                            <m:t>∆</m:t>
                          </m:r>
                          <m:r>
                            <a:rPr kumimoji="0" lang="en-GB" sz="39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Helvetica Neue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kumimoji="0" lang="en-GB" sz="39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sym typeface="Helvetica Neue"/>
                </a:endParaRPr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BBD614DF-84B3-F776-6437-5F5478709C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9395" y="11432904"/>
                <a:ext cx="4487126" cy="141673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6" name="Group 45"/>
          <p:cNvGrpSpPr/>
          <p:nvPr/>
        </p:nvGrpSpPr>
        <p:grpSpPr>
          <a:xfrm>
            <a:off x="4547145" y="4893590"/>
            <a:ext cx="13916650" cy="5177658"/>
            <a:chOff x="4547145" y="4893590"/>
            <a:chExt cx="13916650" cy="5177658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9C7F8D6E-E800-8A43-65FF-127E2DC3E709}"/>
                </a:ext>
              </a:extLst>
            </p:cNvPr>
            <p:cNvSpPr/>
            <p:nvPr/>
          </p:nvSpPr>
          <p:spPr>
            <a:xfrm>
              <a:off x="6532500" y="5602459"/>
              <a:ext cx="11931295" cy="2737681"/>
            </a:xfrm>
            <a:prstGeom prst="rect">
              <a:avLst/>
            </a:prstGeom>
            <a:noFill/>
            <a:ln w="57150" cap="flat">
              <a:solidFill>
                <a:schemeClr val="bg2">
                  <a:lumMod val="1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B20A7C70-09D7-242A-7E23-BB6A32FE84E9}"/>
                </a:ext>
              </a:extLst>
            </p:cNvPr>
            <p:cNvCxnSpPr>
              <a:cxnSpLocks/>
            </p:cNvCxnSpPr>
            <p:nvPr/>
          </p:nvCxnSpPr>
          <p:spPr>
            <a:xfrm>
              <a:off x="6548492" y="5352567"/>
              <a:ext cx="11915303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19D65AD5-9B97-461C-7AAF-A0368BAE001B}"/>
                    </a:ext>
                  </a:extLst>
                </p:cNvPr>
                <p:cNvSpPr txBox="1"/>
                <p:nvPr/>
              </p:nvSpPr>
              <p:spPr>
                <a:xfrm>
                  <a:off x="12367186" y="4893590"/>
                  <a:ext cx="297517" cy="43088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ctr">
                  <a:spAutoFit/>
                </a:bodyPr>
                <a:lstStyle/>
                <a:p>
                  <a:pPr marL="0" marR="0" indent="0" algn="ctr" defTabSz="2438338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GB" sz="2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5E5E5E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𝐿</m:t>
                        </m:r>
                      </m:oMath>
                    </m:oMathPara>
                  </a14:m>
                  <a:endParaRPr kumimoji="0" lang="en-GB" sz="2800" b="0" i="0" u="none" strike="noStrike" cap="none" spc="0" normalizeH="0" baseline="0">
                    <a:ln>
                      <a:noFill/>
                    </a:ln>
                    <a:solidFill>
                      <a:srgbClr val="5E5E5E"/>
                    </a:solidFill>
                    <a:effectLst/>
                    <a:uFillTx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19D65AD5-9B97-461C-7AAF-A0368BAE00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367186" y="4893590"/>
                  <a:ext cx="297517" cy="43088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C46A238F-11D0-0AF6-C38B-14D0EE990551}"/>
                </a:ext>
              </a:extLst>
            </p:cNvPr>
            <p:cNvSpPr/>
            <p:nvPr/>
          </p:nvSpPr>
          <p:spPr>
            <a:xfrm>
              <a:off x="8553545" y="5602459"/>
              <a:ext cx="1985450" cy="2737681"/>
            </a:xfrm>
            <a:prstGeom prst="rect">
              <a:avLst/>
            </a:prstGeom>
            <a:noFill/>
            <a:ln w="12700" cap="flat">
              <a:solidFill>
                <a:schemeClr val="tx2">
                  <a:lumMod val="75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A815F8D4-6822-79C9-6DC6-C1FFA027F4C4}"/>
                </a:ext>
              </a:extLst>
            </p:cNvPr>
            <p:cNvSpPr/>
            <p:nvPr/>
          </p:nvSpPr>
          <p:spPr>
            <a:xfrm>
              <a:off x="6551550" y="5608431"/>
              <a:ext cx="1985450" cy="2737681"/>
            </a:xfrm>
            <a:prstGeom prst="rect">
              <a:avLst/>
            </a:prstGeom>
            <a:noFill/>
            <a:ln w="12700" cap="flat">
              <a:solidFill>
                <a:schemeClr val="tx2">
                  <a:lumMod val="75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7911852D-50FE-592A-C599-63B17B2BA3BD}"/>
                </a:ext>
              </a:extLst>
            </p:cNvPr>
            <p:cNvSpPr/>
            <p:nvPr/>
          </p:nvSpPr>
          <p:spPr>
            <a:xfrm>
              <a:off x="10534745" y="5621509"/>
              <a:ext cx="1985450" cy="2737681"/>
            </a:xfrm>
            <a:prstGeom prst="rect">
              <a:avLst/>
            </a:prstGeom>
            <a:noFill/>
            <a:ln w="12700" cap="flat">
              <a:solidFill>
                <a:schemeClr val="tx2">
                  <a:lumMod val="75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93B2CDA8-376C-0280-E0F8-DA784ED8C81F}"/>
                </a:ext>
              </a:extLst>
            </p:cNvPr>
            <p:cNvSpPr/>
            <p:nvPr/>
          </p:nvSpPr>
          <p:spPr>
            <a:xfrm>
              <a:off x="12515945" y="5602459"/>
              <a:ext cx="1985450" cy="2737681"/>
            </a:xfrm>
            <a:prstGeom prst="rect">
              <a:avLst/>
            </a:prstGeom>
            <a:noFill/>
            <a:ln w="12700" cap="flat">
              <a:solidFill>
                <a:schemeClr val="tx2">
                  <a:lumMod val="75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341A70ED-8DF9-B3A4-3CCC-5F4BC2464401}"/>
                </a:ext>
              </a:extLst>
            </p:cNvPr>
            <p:cNvSpPr/>
            <p:nvPr/>
          </p:nvSpPr>
          <p:spPr>
            <a:xfrm>
              <a:off x="14497145" y="5619525"/>
              <a:ext cx="1985450" cy="2737681"/>
            </a:xfrm>
            <a:prstGeom prst="rect">
              <a:avLst/>
            </a:prstGeom>
            <a:noFill/>
            <a:ln w="12700" cap="flat">
              <a:solidFill>
                <a:schemeClr val="tx2">
                  <a:lumMod val="75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4779A1CE-ABDC-8782-C319-EE648F0409F9}"/>
                </a:ext>
              </a:extLst>
            </p:cNvPr>
            <p:cNvSpPr/>
            <p:nvPr/>
          </p:nvSpPr>
          <p:spPr>
            <a:xfrm>
              <a:off x="16478345" y="5583409"/>
              <a:ext cx="1985450" cy="2737681"/>
            </a:xfrm>
            <a:prstGeom prst="rect">
              <a:avLst/>
            </a:prstGeom>
            <a:noFill/>
            <a:ln w="12700" cap="flat">
              <a:solidFill>
                <a:schemeClr val="tx2">
                  <a:lumMod val="75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8" name="Flowchart: Connector 57">
              <a:extLst>
                <a:ext uri="{FF2B5EF4-FFF2-40B4-BE49-F238E27FC236}">
                  <a16:creationId xmlns:a16="http://schemas.microsoft.com/office/drawing/2014/main" id="{A4BFDBA9-C2E2-AFF1-B0A7-629DBC256C88}"/>
                </a:ext>
              </a:extLst>
            </p:cNvPr>
            <p:cNvSpPr/>
            <p:nvPr/>
          </p:nvSpPr>
          <p:spPr>
            <a:xfrm>
              <a:off x="7429975" y="6860590"/>
              <a:ext cx="228600" cy="233363"/>
            </a:xfrm>
            <a:prstGeom prst="flowChartConnector">
              <a:avLst/>
            </a:prstGeom>
            <a:solidFill>
              <a:srgbClr val="FF0000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9" name="Flowchart: Connector 58">
              <a:extLst>
                <a:ext uri="{FF2B5EF4-FFF2-40B4-BE49-F238E27FC236}">
                  <a16:creationId xmlns:a16="http://schemas.microsoft.com/office/drawing/2014/main" id="{25DBCF76-9D39-7AFC-0B45-577660712671}"/>
                </a:ext>
              </a:extLst>
            </p:cNvPr>
            <p:cNvSpPr/>
            <p:nvPr/>
          </p:nvSpPr>
          <p:spPr>
            <a:xfrm>
              <a:off x="9431970" y="6854618"/>
              <a:ext cx="228600" cy="233363"/>
            </a:xfrm>
            <a:prstGeom prst="flowChartConnector">
              <a:avLst/>
            </a:prstGeom>
            <a:solidFill>
              <a:srgbClr val="FF0000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60" name="Flowchart: Connector 59">
              <a:extLst>
                <a:ext uri="{FF2B5EF4-FFF2-40B4-BE49-F238E27FC236}">
                  <a16:creationId xmlns:a16="http://schemas.microsoft.com/office/drawing/2014/main" id="{0886CC4B-4009-F86F-B160-9A4AB9C2DAAE}"/>
                </a:ext>
              </a:extLst>
            </p:cNvPr>
            <p:cNvSpPr/>
            <p:nvPr/>
          </p:nvSpPr>
          <p:spPr>
            <a:xfrm>
              <a:off x="11413170" y="6854618"/>
              <a:ext cx="228600" cy="233363"/>
            </a:xfrm>
            <a:prstGeom prst="flowChartConnector">
              <a:avLst/>
            </a:prstGeom>
            <a:solidFill>
              <a:srgbClr val="FF0000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61" name="Flowchart: Connector 60">
              <a:extLst>
                <a:ext uri="{FF2B5EF4-FFF2-40B4-BE49-F238E27FC236}">
                  <a16:creationId xmlns:a16="http://schemas.microsoft.com/office/drawing/2014/main" id="{6827192A-05C7-58B6-27B4-22064C098D66}"/>
                </a:ext>
              </a:extLst>
            </p:cNvPr>
            <p:cNvSpPr/>
            <p:nvPr/>
          </p:nvSpPr>
          <p:spPr>
            <a:xfrm>
              <a:off x="13394370" y="6854618"/>
              <a:ext cx="228600" cy="233363"/>
            </a:xfrm>
            <a:prstGeom prst="flowChartConnector">
              <a:avLst/>
            </a:prstGeom>
            <a:solidFill>
              <a:srgbClr val="FF0000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67" name="Flowchart: Connector 66">
              <a:extLst>
                <a:ext uri="{FF2B5EF4-FFF2-40B4-BE49-F238E27FC236}">
                  <a16:creationId xmlns:a16="http://schemas.microsoft.com/office/drawing/2014/main" id="{D92296EE-1700-42F5-E243-172DD85E69ED}"/>
                </a:ext>
              </a:extLst>
            </p:cNvPr>
            <p:cNvSpPr/>
            <p:nvPr/>
          </p:nvSpPr>
          <p:spPr>
            <a:xfrm>
              <a:off x="15375570" y="6871684"/>
              <a:ext cx="228600" cy="233363"/>
            </a:xfrm>
            <a:prstGeom prst="flowChartConnector">
              <a:avLst/>
            </a:prstGeom>
            <a:solidFill>
              <a:srgbClr val="FF0000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68" name="Flowchart: Connector 67">
              <a:extLst>
                <a:ext uri="{FF2B5EF4-FFF2-40B4-BE49-F238E27FC236}">
                  <a16:creationId xmlns:a16="http://schemas.microsoft.com/office/drawing/2014/main" id="{87B2A77E-D76F-270F-8763-AAA87D501AAF}"/>
                </a:ext>
              </a:extLst>
            </p:cNvPr>
            <p:cNvSpPr/>
            <p:nvPr/>
          </p:nvSpPr>
          <p:spPr>
            <a:xfrm>
              <a:off x="17356770" y="6871684"/>
              <a:ext cx="228600" cy="233363"/>
            </a:xfrm>
            <a:prstGeom prst="flowChartConnector">
              <a:avLst/>
            </a:prstGeom>
            <a:solidFill>
              <a:srgbClr val="FF0000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34EEDCAA-7542-60A8-5EBE-C076A4CDFEF9}"/>
                </a:ext>
              </a:extLst>
            </p:cNvPr>
            <p:cNvCxnSpPr>
              <a:cxnSpLocks/>
            </p:cNvCxnSpPr>
            <p:nvPr/>
          </p:nvCxnSpPr>
          <p:spPr>
            <a:xfrm>
              <a:off x="7544275" y="9628761"/>
              <a:ext cx="2001995" cy="0"/>
            </a:xfrm>
            <a:prstGeom prst="straightConnector1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headEnd type="triangle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7EB68E9-BFCE-6157-C705-6AFD1C62F1BD}"/>
                </a:ext>
              </a:extLst>
            </p:cNvPr>
            <p:cNvCxnSpPr>
              <a:cxnSpLocks/>
              <a:stCxn id="58" idx="4"/>
            </p:cNvCxnSpPr>
            <p:nvPr/>
          </p:nvCxnSpPr>
          <p:spPr>
            <a:xfrm>
              <a:off x="7544275" y="7093953"/>
              <a:ext cx="0" cy="2534808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ysDot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4483D383-62A0-EE33-6C87-04CEF16D81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546269" y="7087981"/>
              <a:ext cx="1" cy="254078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ysDot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A08B8C3B-1E35-0F12-5230-D334663B3F95}"/>
                    </a:ext>
                  </a:extLst>
                </p:cNvPr>
                <p:cNvSpPr txBox="1"/>
                <p:nvPr/>
              </p:nvSpPr>
              <p:spPr>
                <a:xfrm>
                  <a:off x="8242240" y="9578805"/>
                  <a:ext cx="589520" cy="49244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ctr">
                  <a:spAutoFit/>
                </a:bodyPr>
                <a:lstStyle/>
                <a:p>
                  <a:pPr marL="0" marR="0" indent="0" algn="ctr" defTabSz="2438338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GB" sz="32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5E5E5E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Helvetica Neue"/>
                          </a:rPr>
                          <m:t>∆</m:t>
                        </m:r>
                        <m:r>
                          <a:rPr kumimoji="0" lang="en-GB" sz="32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5E5E5E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Helvetica Neue"/>
                          </a:rPr>
                          <m:t>𝑥</m:t>
                        </m:r>
                      </m:oMath>
                    </m:oMathPara>
                  </a14:m>
                  <a:endParaRPr kumimoji="0" lang="en-GB" sz="3200" b="0" i="0" u="none" strike="noStrike" cap="none" spc="0" normalizeH="0" baseline="0">
                    <a:ln>
                      <a:noFill/>
                    </a:ln>
                    <a:solidFill>
                      <a:srgbClr val="5E5E5E"/>
                    </a:solidFill>
                    <a:effectLst/>
                    <a:uFillTx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A08B8C3B-1E35-0F12-5230-D334663B3F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42240" y="9578805"/>
                  <a:ext cx="589520" cy="492443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3C006355-A944-C467-8C94-9BCA98C8C738}"/>
                </a:ext>
              </a:extLst>
            </p:cNvPr>
            <p:cNvSpPr txBox="1"/>
            <p:nvPr/>
          </p:nvSpPr>
          <p:spPr>
            <a:xfrm>
              <a:off x="7332589" y="6250431"/>
              <a:ext cx="522579" cy="4719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GB" sz="2400" b="0" i="0" u="none" strike="noStrike" cap="none" spc="0" normalizeH="0" baseline="0" err="1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i</a:t>
              </a:r>
              <a:r>
                <a:rPr kumimoji="0" lang="en-GB" sz="24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=0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87458606-D7E1-C732-0335-1C868BF856F5}"/>
                </a:ext>
              </a:extLst>
            </p:cNvPr>
            <p:cNvSpPr txBox="1"/>
            <p:nvPr/>
          </p:nvSpPr>
          <p:spPr>
            <a:xfrm>
              <a:off x="9284980" y="6250431"/>
              <a:ext cx="522579" cy="4719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GB" sz="2400" b="0" i="0" u="none" strike="noStrike" cap="none" spc="0" normalizeH="0" baseline="0" err="1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i</a:t>
              </a:r>
              <a:r>
                <a:rPr kumimoji="0" lang="en-GB" sz="24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=1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8DB3EA9B-381A-59A9-E92F-BAD4CDE8830A}"/>
                </a:ext>
              </a:extLst>
            </p:cNvPr>
            <p:cNvSpPr txBox="1"/>
            <p:nvPr/>
          </p:nvSpPr>
          <p:spPr>
            <a:xfrm>
              <a:off x="11315452" y="6250431"/>
              <a:ext cx="522579" cy="4719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GB" sz="2400" b="0" i="0" u="none" strike="noStrike" cap="none" spc="0" normalizeH="0" baseline="0" err="1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i</a:t>
              </a:r>
              <a:r>
                <a:rPr kumimoji="0" lang="en-GB" sz="24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=2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425EC51A-5846-DFFB-D1AF-62BDA871D7FE}"/>
                </a:ext>
              </a:extLst>
            </p:cNvPr>
            <p:cNvSpPr txBox="1"/>
            <p:nvPr/>
          </p:nvSpPr>
          <p:spPr>
            <a:xfrm>
              <a:off x="13108199" y="6250431"/>
              <a:ext cx="796693" cy="4719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GB" sz="2400" b="0" i="0" u="none" strike="noStrike" cap="none" spc="0" normalizeH="0" baseline="0" err="1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i</a:t>
              </a:r>
              <a:r>
                <a:rPr kumimoji="0" lang="en-GB" sz="24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=n-2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C0DBFDF7-AB36-AC96-C448-5FE0EB79B415}"/>
                </a:ext>
              </a:extLst>
            </p:cNvPr>
            <p:cNvSpPr txBox="1"/>
            <p:nvPr/>
          </p:nvSpPr>
          <p:spPr>
            <a:xfrm>
              <a:off x="15089399" y="6242112"/>
              <a:ext cx="796693" cy="4719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GB" sz="2400" b="0" i="0" u="none" strike="noStrike" cap="none" spc="0" normalizeH="0" baseline="0" err="1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i</a:t>
              </a:r>
              <a:r>
                <a:rPr kumimoji="0" lang="en-GB" sz="24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=n-1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C1C7913B-EE6E-C691-7B7A-99E1DAC78855}"/>
                    </a:ext>
                  </a:extLst>
                </p:cNvPr>
                <p:cNvSpPr txBox="1"/>
                <p:nvPr/>
              </p:nvSpPr>
              <p:spPr>
                <a:xfrm rot="5400000">
                  <a:off x="12281303" y="5372265"/>
                  <a:ext cx="519373" cy="61555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ctr">
                  <a:spAutoFit/>
                </a:bodyPr>
                <a:lstStyle/>
                <a:p>
                  <a:pPr marL="0" marR="0" indent="0" algn="ctr" defTabSz="2438338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GB" sz="4000" b="1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tx1">
                                <a:lumMod val="75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Helvetica Neue"/>
                          </a:rPr>
                          <m:t>≈</m:t>
                        </m:r>
                      </m:oMath>
                    </m:oMathPara>
                  </a14:m>
                  <a:endParaRPr kumimoji="0" lang="en-GB" sz="3200" b="1" i="0" u="none" strike="noStrike" cap="none" spc="0" normalizeH="0" baseline="0">
                    <a:ln>
                      <a:noFill/>
                    </a:ln>
                    <a:solidFill>
                      <a:schemeClr val="tx1">
                        <a:lumMod val="75000"/>
                      </a:schemeClr>
                    </a:solidFill>
                    <a:effectLst/>
                    <a:uFillTx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C1C7913B-EE6E-C691-7B7A-99E1DAC788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12281303" y="5372265"/>
                  <a:ext cx="519373" cy="615553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1212AF63-A384-9A38-58E2-74FD96F492DE}"/>
                    </a:ext>
                  </a:extLst>
                </p:cNvPr>
                <p:cNvSpPr txBox="1"/>
                <p:nvPr/>
              </p:nvSpPr>
              <p:spPr>
                <a:xfrm rot="5400000">
                  <a:off x="12281301" y="8137071"/>
                  <a:ext cx="519373" cy="61555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ctr">
                  <a:spAutoFit/>
                </a:bodyPr>
                <a:lstStyle/>
                <a:p>
                  <a:pPr marL="0" marR="0" indent="0" algn="ctr" defTabSz="2438338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GB" sz="4000" b="1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tx1">
                                <a:lumMod val="75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Helvetica Neue"/>
                          </a:rPr>
                          <m:t>≈</m:t>
                        </m:r>
                      </m:oMath>
                    </m:oMathPara>
                  </a14:m>
                  <a:endParaRPr kumimoji="0" lang="en-GB" sz="3200" b="1" i="0" u="none" strike="noStrike" cap="none" spc="0" normalizeH="0" baseline="0">
                    <a:ln>
                      <a:noFill/>
                    </a:ln>
                    <a:solidFill>
                      <a:schemeClr val="tx1">
                        <a:lumMod val="75000"/>
                      </a:schemeClr>
                    </a:solidFill>
                    <a:effectLst/>
                    <a:uFillTx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1212AF63-A384-9A38-58E2-74FD96F492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12281301" y="8137071"/>
                  <a:ext cx="519373" cy="615553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86D4E1B2-AAD2-EA5A-6CAB-B8DE7ACDE0C7}"/>
                </a:ext>
              </a:extLst>
            </p:cNvPr>
            <p:cNvSpPr txBox="1"/>
            <p:nvPr/>
          </p:nvSpPr>
          <p:spPr>
            <a:xfrm>
              <a:off x="17207656" y="6204094"/>
              <a:ext cx="522579" cy="4719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GB" sz="2400" b="0" i="0" u="none" strike="noStrike" cap="none" spc="0" normalizeH="0" baseline="0" err="1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i</a:t>
              </a:r>
              <a:r>
                <a:rPr kumimoji="0" lang="en-GB" sz="24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=n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8C96FD27-7654-9E76-674B-C8859040B15F}"/>
                    </a:ext>
                  </a:extLst>
                </p:cNvPr>
                <p:cNvSpPr txBox="1"/>
                <p:nvPr/>
              </p:nvSpPr>
              <p:spPr>
                <a:xfrm>
                  <a:off x="8268146" y="8444848"/>
                  <a:ext cx="728469" cy="69147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ctr">
                  <a:spAutoFit/>
                </a:bodyPr>
                <a:lstStyle/>
                <a:p>
                  <a:pPr marL="0" marR="0" indent="0" algn="ctr" defTabSz="2438338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GB" sz="24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5E5E5E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  <m:r>
                          <a:rPr kumimoji="0" lang="en-GB" sz="24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5E5E5E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+</m:t>
                        </m:r>
                        <m:f>
                          <m:fPr>
                            <m:ctrlPr>
                              <a:rPr kumimoji="0" lang="en-GB" sz="24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5E5E5E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Helvetica Neue"/>
                              </a:rPr>
                            </m:ctrlPr>
                          </m:fPr>
                          <m:num>
                            <m:r>
                              <a:rPr kumimoji="0" lang="en-GB" sz="24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5E5E5E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Helvetica Neue"/>
                              </a:rPr>
                              <m:t>1</m:t>
                            </m:r>
                          </m:num>
                          <m:den>
                            <m:r>
                              <a:rPr kumimoji="0" lang="en-GB" sz="24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5E5E5E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Helvetica Neue"/>
                              </a:rPr>
                              <m:t>2</m:t>
                            </m:r>
                          </m:den>
                        </m:f>
                      </m:oMath>
                    </m:oMathPara>
                  </a14:m>
                  <a:endParaRPr kumimoji="0" lang="en-GB" sz="2400" b="0" i="0" u="none" strike="noStrike" cap="none" spc="0" normalizeH="0" baseline="0">
                    <a:ln>
                      <a:noFill/>
                    </a:ln>
                    <a:solidFill>
                      <a:srgbClr val="5E5E5E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8C96FD27-7654-9E76-674B-C8859040B1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68146" y="8444848"/>
                  <a:ext cx="728469" cy="691471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A43160A8-22F3-6EBA-C69F-FB9C0536054B}"/>
                </a:ext>
              </a:extLst>
            </p:cNvPr>
            <p:cNvSpPr/>
            <p:nvPr/>
          </p:nvSpPr>
          <p:spPr>
            <a:xfrm>
              <a:off x="4547145" y="5613781"/>
              <a:ext cx="1985450" cy="2737681"/>
            </a:xfrm>
            <a:prstGeom prst="rect">
              <a:avLst/>
            </a:prstGeom>
            <a:noFill/>
            <a:ln w="57150" cap="flat">
              <a:solidFill>
                <a:schemeClr val="tx2">
                  <a:lumMod val="75000"/>
                </a:schemeClr>
              </a:solidFill>
              <a:prstDash val="sysDot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83" name="Flowchart: Connector 82">
              <a:extLst>
                <a:ext uri="{FF2B5EF4-FFF2-40B4-BE49-F238E27FC236}">
                  <a16:creationId xmlns:a16="http://schemas.microsoft.com/office/drawing/2014/main" id="{1B3C47FD-EF89-60A9-BC98-E41B64F323D9}"/>
                </a:ext>
              </a:extLst>
            </p:cNvPr>
            <p:cNvSpPr/>
            <p:nvPr/>
          </p:nvSpPr>
          <p:spPr>
            <a:xfrm>
              <a:off x="5425570" y="6865940"/>
              <a:ext cx="228600" cy="233363"/>
            </a:xfrm>
            <a:prstGeom prst="flowChartConnector">
              <a:avLst/>
            </a:prstGeom>
            <a:solidFill>
              <a:schemeClr val="accent3">
                <a:lumMod val="5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28FED5EE-B8B3-32D5-C9A0-3F372E6AFC31}"/>
                </a:ext>
              </a:extLst>
            </p:cNvPr>
            <p:cNvSpPr txBox="1"/>
            <p:nvPr/>
          </p:nvSpPr>
          <p:spPr>
            <a:xfrm>
              <a:off x="5293833" y="6250431"/>
              <a:ext cx="668453" cy="4719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GB" sz="2400" b="0" i="0" u="none" strike="noStrike" cap="none" spc="0" normalizeH="0" baseline="0">
                  <a:ln>
                    <a:noFill/>
                  </a:ln>
                  <a:solidFill>
                    <a:schemeClr val="accent3">
                      <a:lumMod val="50000"/>
                    </a:schemeClr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inlet</a:t>
              </a:r>
            </a:p>
          </p:txBody>
        </p:sp>
      </p:grpSp>
      <p:sp>
        <p:nvSpPr>
          <p:cNvPr id="90" name="Rectangle 89">
            <a:extLst>
              <a:ext uri="{FF2B5EF4-FFF2-40B4-BE49-F238E27FC236}">
                <a16:creationId xmlns:a16="http://schemas.microsoft.com/office/drawing/2014/main" id="{9E64342D-F23F-D294-E0BF-76DB073DB7A2}"/>
              </a:ext>
            </a:extLst>
          </p:cNvPr>
          <p:cNvSpPr/>
          <p:nvPr/>
        </p:nvSpPr>
        <p:spPr>
          <a:xfrm rot="-10800000" flipV="1">
            <a:off x="19138012" y="13283101"/>
            <a:ext cx="4628055" cy="379591"/>
          </a:xfrm>
          <a:prstGeom prst="rect">
            <a:avLst/>
          </a:prstGeom>
          <a:solidFill>
            <a:srgbClr val="5C2A7A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/>
            <a:r>
              <a:rPr lang="en-GB" sz="1800">
                <a:solidFill>
                  <a:srgbClr val="9E79A6"/>
                </a:solidFill>
                <a:latin typeface="Helvetica Neue"/>
              </a:rPr>
              <a:t>22/10/2025</a:t>
            </a:r>
            <a:endParaRPr lang="en-US" sz="1800"/>
          </a:p>
        </p:txBody>
      </p:sp>
      <p:sp>
        <p:nvSpPr>
          <p:cNvPr id="91" name="Slide Number">
            <a:extLst>
              <a:ext uri="{FF2B5EF4-FFF2-40B4-BE49-F238E27FC236}">
                <a16:creationId xmlns:a16="http://schemas.microsoft.com/office/drawing/2014/main" id="{3A530B0C-0DF4-6EBB-B7F7-92464D70DE84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23805849" y="13272486"/>
            <a:ext cx="230832" cy="379591"/>
          </a:xfrm>
          <a:prstGeom prst="rect">
            <a:avLst/>
          </a:prstGeom>
        </p:spPr>
        <p:txBody>
          <a:bodyPr/>
          <a:lstStyle/>
          <a:p>
            <a:r>
              <a:rPr lang="en-GB"/>
              <a:t>5</a:t>
            </a:r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01134E3-6DF8-246D-F733-F850AD5C536F}"/>
              </a:ext>
            </a:extLst>
          </p:cNvPr>
          <p:cNvGrpSpPr/>
          <p:nvPr/>
        </p:nvGrpSpPr>
        <p:grpSpPr>
          <a:xfrm>
            <a:off x="12632903" y="10985403"/>
            <a:ext cx="11543736" cy="1864524"/>
            <a:chOff x="12632903" y="10985403"/>
            <a:chExt cx="11543736" cy="1864524"/>
          </a:xfrm>
        </p:grpSpPr>
        <p:sp>
          <p:nvSpPr>
            <p:cNvPr id="87" name="TextBox 86"/>
            <p:cNvSpPr txBox="1"/>
            <p:nvPr/>
          </p:nvSpPr>
          <p:spPr>
            <a:xfrm>
              <a:off x="15780353" y="11647506"/>
              <a:ext cx="1097280" cy="457200"/>
            </a:xfrm>
            <a:prstGeom prst="rect">
              <a:avLst/>
            </a:prstGeom>
            <a:solidFill>
              <a:srgbClr val="92D050">
                <a:alpha val="32157"/>
              </a:srgb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17730235" y="11479565"/>
              <a:ext cx="6330066" cy="1299385"/>
            </a:xfrm>
            <a:prstGeom prst="rect">
              <a:avLst/>
            </a:prstGeom>
            <a:solidFill>
              <a:srgbClr val="92D050">
                <a:alpha val="32157"/>
              </a:srgb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300F3723-F46B-6733-D6CB-BCA19286ABFD}"/>
                    </a:ext>
                  </a:extLst>
                </p:cNvPr>
                <p:cNvSpPr txBox="1"/>
                <p:nvPr/>
              </p:nvSpPr>
              <p:spPr>
                <a:xfrm>
                  <a:off x="12632903" y="11432616"/>
                  <a:ext cx="4395499" cy="141731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900" i="1" smtClean="0"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"/>
                                <m:endChr m:val="|"/>
                                <m:ctrlPr>
                                  <a:rPr lang="en-GB" sz="3900" i="1">
                                    <a:solidFill>
                                      <a:schemeClr val="tx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GB" sz="3900" i="1">
                                        <a:solidFill>
                                          <a:schemeClr val="tx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900" b="0" i="1" smtClean="0">
                                        <a:solidFill>
                                          <a:schemeClr val="tx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r>
                                      <a:rPr lang="en-GB" sz="3900" i="1">
                                        <a:solidFill>
                                          <a:schemeClr val="tx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num>
                                  <m:den>
                                    <m:r>
                                      <a:rPr lang="en-GB" sz="3900" b="0" i="1" smtClean="0">
                                        <a:solidFill>
                                          <a:schemeClr val="tx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𝑑𝑥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GB" sz="3900" i="1"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sz="3900" i="1"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</m:sSub>
                        <m:r>
                          <a:rPr lang="en-GB" sz="3900" i="1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≈</m:t>
                        </m:r>
                        <m:f>
                          <m:fPr>
                            <m:ctrlPr>
                              <a:rPr kumimoji="0" lang="en-GB" sz="39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kumimoji="0" lang="en-GB" sz="39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>
                                        <a:lumMod val="50000"/>
                                      </a:schemeClr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"/>
                                  </a:rPr>
                                </m:ctrlPr>
                              </m:sSubPr>
                              <m:e>
                                <m:r>
                                  <a:rPr kumimoji="0" lang="en-GB" sz="39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>
                                        <a:lumMod val="50000"/>
                                      </a:schemeClr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kumimoji="0" lang="en-GB" sz="39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>
                                        <a:lumMod val="50000"/>
                                      </a:schemeClr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kumimoji="0" lang="en-GB" sz="39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kumimoji="0" lang="en-GB" sz="39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>
                                        <a:lumMod val="50000"/>
                                      </a:schemeClr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"/>
                                  </a:rPr>
                                </m:ctrlPr>
                              </m:sSubPr>
                              <m:e>
                                <m:r>
                                  <a:rPr kumimoji="0" lang="en-GB" sz="39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>
                                        <a:lumMod val="50000"/>
                                      </a:schemeClr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kumimoji="0" lang="en-US" sz="3900" b="0" i="0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>
                                        <a:lumMod val="50000"/>
                                      </a:schemeClr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"/>
                                  </a:rPr>
                                  <m:t>inlet</m:t>
                                </m:r>
                              </m:sub>
                            </m:sSub>
                          </m:num>
                          <m:den>
                            <m:r>
                              <a:rPr kumimoji="0" lang="en-GB" sz="39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Helvetica Neue"/>
                              </a:rPr>
                              <m:t>∆</m:t>
                            </m:r>
                            <m:r>
                              <a:rPr kumimoji="0" lang="en-GB" sz="39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Helvetica Neue"/>
                              </a:rPr>
                              <m:t>𝑥</m:t>
                            </m:r>
                          </m:den>
                        </m:f>
                      </m:oMath>
                    </m:oMathPara>
                  </a14:m>
                  <a:endParaRPr kumimoji="0" lang="en-GB" sz="3900" b="0" i="0" u="none" strike="noStrike" cap="none" spc="0" normalizeH="0" baseline="0">
                    <a:ln>
                      <a:noFill/>
                    </a:ln>
                    <a:solidFill>
                      <a:srgbClr val="5E5E5E"/>
                    </a:solidFill>
                    <a:effectLst/>
                    <a:uFillTx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300F3723-F46B-6733-D6CB-BCA19286AB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632903" y="11432616"/>
                  <a:ext cx="4395499" cy="1417311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610B793F-2C97-DDF2-4B80-C1859C87FD1A}"/>
                </a:ext>
              </a:extLst>
            </p:cNvPr>
            <p:cNvSpPr txBox="1"/>
            <p:nvPr/>
          </p:nvSpPr>
          <p:spPr>
            <a:xfrm>
              <a:off x="18500889" y="10985403"/>
              <a:ext cx="3924151" cy="5334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GB" sz="2800" i="0" u="none" strike="noStrike" cap="none" spc="0" normalizeH="0" baseline="0">
                  <a:ln>
                    <a:noFill/>
                  </a:ln>
                  <a:solidFill>
                    <a:schemeClr val="tx1">
                      <a:lumMod val="50000"/>
                    </a:schemeClr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Inlet boundary condition</a:t>
              </a:r>
            </a:p>
          </p:txBody>
        </p:sp>
        <p:cxnSp>
          <p:nvCxnSpPr>
            <p:cNvPr id="3" name="Curved Connector 2"/>
            <p:cNvCxnSpPr>
              <a:stCxn id="87" idx="0"/>
              <a:endCxn id="89" idx="0"/>
            </p:cNvCxnSpPr>
            <p:nvPr/>
          </p:nvCxnSpPr>
          <p:spPr>
            <a:xfrm rot="5400000" flipH="1" flipV="1">
              <a:off x="18064928" y="9249469"/>
              <a:ext cx="662103" cy="4133972"/>
            </a:xfrm>
            <a:prstGeom prst="curvedConnector3">
              <a:avLst>
                <a:gd name="adj1" fmla="val 156922"/>
              </a:avLst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 w="lg" len="lg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C69CAC28-3076-4D68-C8E6-0D80F2135341}"/>
                    </a:ext>
                  </a:extLst>
                </p:cNvPr>
                <p:cNvSpPr txBox="1"/>
                <p:nvPr/>
              </p:nvSpPr>
              <p:spPr>
                <a:xfrm>
                  <a:off x="17846573" y="11578750"/>
                  <a:ext cx="6330066" cy="120020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"/>
                                <m:endChr m:val="|"/>
                                <m:ctrlPr>
                                  <a:rPr lang="en-US" sz="3200" i="1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3200" i="1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3200" i="1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3200" b="0" i="1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num>
                                  <m:den>
                                    <m:r>
                                      <a:rPr lang="en-US" sz="3200" i="1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3200" b="0" i="1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sz="3200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3200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3200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3200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</m:sSub>
                        <m:r>
                          <a:rPr lang="en-US" sz="320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=2 </m:t>
                        </m:r>
                        <m:r>
                          <m:rPr>
                            <m:sty m:val="p"/>
                          </m:rPr>
                          <a:rPr lang="en-US" sz="320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mol</m:t>
                        </m:r>
                        <m:r>
                          <a:rPr lang="en-US" sz="320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3200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320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  <m:sup>
                            <m:r>
                              <a:rPr lang="en-US" sz="320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−3</m:t>
                            </m:r>
                          </m:sup>
                        </m:sSup>
                        <m:r>
                          <a:rPr lang="en-US" sz="320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3200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320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p>
                            <m:r>
                              <a:rPr lang="en-US" sz="320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GB" sz="3200" b="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 </m:t>
                        </m:r>
                        <m:r>
                          <m:rPr>
                            <m:sty m:val="p"/>
                          </m:rPr>
                          <a:rPr lang="en-GB" sz="3200" b="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GB" sz="3200" b="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&lt;5</m:t>
                        </m:r>
                      </m:oMath>
                    </m:oMathPara>
                  </a14:m>
                  <a:endParaRPr kumimoji="0" lang="en-GB" sz="3200" b="0" i="0" u="none" strike="noStrike" cap="none" spc="0" normalizeH="0" baseline="0">
                    <a:ln>
                      <a:noFill/>
                    </a:ln>
                    <a:solidFill>
                      <a:schemeClr val="bg2">
                        <a:lumMod val="10000"/>
                      </a:schemeClr>
                    </a:solidFill>
                    <a:effectLst/>
                    <a:uFillTx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C69CAC28-3076-4D68-C8E6-0D80F21353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846573" y="11578750"/>
                  <a:ext cx="6330066" cy="120020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237117770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>
            <a:extLst>
              <a:ext uri="{FF2B5EF4-FFF2-40B4-BE49-F238E27FC236}">
                <a16:creationId xmlns:a16="http://schemas.microsoft.com/office/drawing/2014/main" id="{FA22A078-B2E3-75A6-FF83-2B844D245980}"/>
              </a:ext>
            </a:extLst>
          </p:cNvPr>
          <p:cNvSpPr txBox="1">
            <a:spLocks/>
          </p:cNvSpPr>
          <p:nvPr/>
        </p:nvSpPr>
        <p:spPr>
          <a:xfrm>
            <a:off x="5691630" y="5214938"/>
            <a:ext cx="13000739" cy="10582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t">
            <a:normAutofit/>
          </a:bodyPr>
          <a:lstStyle>
            <a:lvl1pPr marL="0" marR="0" indent="0" algn="r" defTabSz="1357312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1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algn="ctr" hangingPunct="1"/>
            <a:r>
              <a:rPr lang="en-US"/>
              <a:t>Complete section 2.1 in the notebook</a:t>
            </a:r>
          </a:p>
        </p:txBody>
      </p:sp>
      <p:sp>
        <p:nvSpPr>
          <p:cNvPr id="4" name="Authors…">
            <a:extLst>
              <a:ext uri="{FF2B5EF4-FFF2-40B4-BE49-F238E27FC236}">
                <a16:creationId xmlns:a16="http://schemas.microsoft.com/office/drawing/2014/main" id="{7FC25D18-FF50-382B-6B06-513B841503B7}"/>
              </a:ext>
            </a:extLst>
          </p:cNvPr>
          <p:cNvSpPr txBox="1">
            <a:spLocks/>
          </p:cNvSpPr>
          <p:nvPr/>
        </p:nvSpPr>
        <p:spPr>
          <a:xfrm>
            <a:off x="10684170" y="6438014"/>
            <a:ext cx="3015659" cy="8399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71437" tIns="71437" rIns="71437" bIns="71437">
            <a:normAutofit/>
          </a:bodyPr>
          <a:lstStyle>
            <a:lvl1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lvl="2" indent="0" algn="ctr" defTabSz="1357312" hangingPunct="1">
              <a:defRPr sz="3200" b="0">
                <a:solidFill>
                  <a:srgbClr val="FFFFFF"/>
                </a:solidFill>
              </a:defRPr>
            </a:pPr>
            <a:r>
              <a:rPr lang="en-GB" sz="3200" b="0">
                <a:solidFill>
                  <a:srgbClr val="FFFFFF"/>
                </a:solidFill>
              </a:rPr>
              <a:t>(~5 minutes)</a:t>
            </a:r>
          </a:p>
        </p:txBody>
      </p:sp>
    </p:spTree>
    <p:extLst>
      <p:ext uri="{BB962C8B-B14F-4D97-AF65-F5344CB8AC3E}">
        <p14:creationId xmlns:p14="http://schemas.microsoft.com/office/powerpoint/2010/main" val="3904491387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23FC7-B7EE-3435-855D-72316DBF1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>
            <a:extLst>
              <a:ext uri="{FF2B5EF4-FFF2-40B4-BE49-F238E27FC236}">
                <a16:creationId xmlns:a16="http://schemas.microsoft.com/office/drawing/2014/main" id="{96634356-7E3D-1517-826E-5DF67D34E628}"/>
              </a:ext>
            </a:extLst>
          </p:cNvPr>
          <p:cNvSpPr txBox="1">
            <a:spLocks/>
          </p:cNvSpPr>
          <p:nvPr/>
        </p:nvSpPr>
        <p:spPr>
          <a:xfrm>
            <a:off x="5691630" y="5214938"/>
            <a:ext cx="13000739" cy="10582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t">
            <a:normAutofit/>
          </a:bodyPr>
          <a:lstStyle>
            <a:lvl1pPr marL="0" marR="0" indent="0" algn="r" defTabSz="1357312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1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algn="ctr" hangingPunct="1"/>
            <a:r>
              <a:rPr lang="en-US"/>
              <a:t>Break</a:t>
            </a:r>
          </a:p>
        </p:txBody>
      </p:sp>
      <p:sp>
        <p:nvSpPr>
          <p:cNvPr id="4" name="Authors…">
            <a:extLst>
              <a:ext uri="{FF2B5EF4-FFF2-40B4-BE49-F238E27FC236}">
                <a16:creationId xmlns:a16="http://schemas.microsoft.com/office/drawing/2014/main" id="{55A09377-9CB9-0CD0-1249-5AA37D9C533C}"/>
              </a:ext>
            </a:extLst>
          </p:cNvPr>
          <p:cNvSpPr txBox="1">
            <a:spLocks/>
          </p:cNvSpPr>
          <p:nvPr/>
        </p:nvSpPr>
        <p:spPr>
          <a:xfrm>
            <a:off x="10684170" y="6438014"/>
            <a:ext cx="3015659" cy="8399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71437" tIns="71437" rIns="71437" bIns="71437">
            <a:normAutofit/>
          </a:bodyPr>
          <a:lstStyle>
            <a:lvl1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lvl="2" indent="0" algn="ctr" defTabSz="1357312" hangingPunct="1">
              <a:defRPr sz="3200" b="0">
                <a:solidFill>
                  <a:srgbClr val="FFFFFF"/>
                </a:solidFill>
              </a:defRPr>
            </a:pPr>
            <a:r>
              <a:rPr lang="en-GB" sz="3200" b="0">
                <a:solidFill>
                  <a:srgbClr val="FFFFFF"/>
                </a:solidFill>
              </a:rPr>
              <a:t>(~10 minutes)</a:t>
            </a:r>
          </a:p>
        </p:txBody>
      </p:sp>
    </p:spTree>
    <p:extLst>
      <p:ext uri="{BB962C8B-B14F-4D97-AF65-F5344CB8AC3E}">
        <p14:creationId xmlns:p14="http://schemas.microsoft.com/office/powerpoint/2010/main" val="404490919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03A57-739D-5BEE-AC34-EAB96E9C0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>
            <a:extLst>
              <a:ext uri="{FF2B5EF4-FFF2-40B4-BE49-F238E27FC236}">
                <a16:creationId xmlns:a16="http://schemas.microsoft.com/office/drawing/2014/main" id="{86FC07DE-67FE-B2F5-8E01-56A27E2FBFFD}"/>
              </a:ext>
            </a:extLst>
          </p:cNvPr>
          <p:cNvSpPr txBox="1">
            <a:spLocks/>
          </p:cNvSpPr>
          <p:nvPr/>
        </p:nvSpPr>
        <p:spPr>
          <a:xfrm>
            <a:off x="5691630" y="5214938"/>
            <a:ext cx="13000739" cy="10582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t">
            <a:normAutofit/>
          </a:bodyPr>
          <a:lstStyle>
            <a:lvl1pPr marL="0" marR="0" indent="0" algn="r" defTabSz="1357312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1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algn="ctr" hangingPunct="1"/>
            <a:r>
              <a:rPr lang="en-US"/>
              <a:t>Complete section 2.2 in the notebook</a:t>
            </a:r>
          </a:p>
        </p:txBody>
      </p:sp>
      <p:sp>
        <p:nvSpPr>
          <p:cNvPr id="4" name="Authors…">
            <a:extLst>
              <a:ext uri="{FF2B5EF4-FFF2-40B4-BE49-F238E27FC236}">
                <a16:creationId xmlns:a16="http://schemas.microsoft.com/office/drawing/2014/main" id="{B0BC9F4E-443E-110D-6E28-F33172F543AE}"/>
              </a:ext>
            </a:extLst>
          </p:cNvPr>
          <p:cNvSpPr txBox="1">
            <a:spLocks/>
          </p:cNvSpPr>
          <p:nvPr/>
        </p:nvSpPr>
        <p:spPr>
          <a:xfrm>
            <a:off x="10684170" y="6438014"/>
            <a:ext cx="3015659" cy="8399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71437" tIns="71437" rIns="71437" bIns="71437">
            <a:normAutofit/>
          </a:bodyPr>
          <a:lstStyle>
            <a:lvl1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lvl="2" indent="0" algn="ctr" defTabSz="1357312" hangingPunct="1">
              <a:defRPr sz="3200" b="0">
                <a:solidFill>
                  <a:srgbClr val="FFFFFF"/>
                </a:solidFill>
              </a:defRPr>
            </a:pPr>
            <a:r>
              <a:rPr lang="en-GB" sz="3200" b="0">
                <a:solidFill>
                  <a:srgbClr val="FFFFFF"/>
                </a:solidFill>
              </a:rPr>
              <a:t>(~15 minutes)</a:t>
            </a:r>
          </a:p>
        </p:txBody>
      </p:sp>
    </p:spTree>
    <p:extLst>
      <p:ext uri="{BB962C8B-B14F-4D97-AF65-F5344CB8AC3E}">
        <p14:creationId xmlns:p14="http://schemas.microsoft.com/office/powerpoint/2010/main" val="2207373728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8DF8A-1EE8-AF6B-B3B1-1741D8ABE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>
            <a:extLst>
              <a:ext uri="{FF2B5EF4-FFF2-40B4-BE49-F238E27FC236}">
                <a16:creationId xmlns:a16="http://schemas.microsoft.com/office/drawing/2014/main" id="{DB02E212-8AF1-C2B0-42C9-6467F1ECF34F}"/>
              </a:ext>
            </a:extLst>
          </p:cNvPr>
          <p:cNvSpPr txBox="1">
            <a:spLocks/>
          </p:cNvSpPr>
          <p:nvPr/>
        </p:nvSpPr>
        <p:spPr>
          <a:xfrm>
            <a:off x="5691630" y="5214938"/>
            <a:ext cx="13000739" cy="10582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t">
            <a:normAutofit/>
          </a:bodyPr>
          <a:lstStyle>
            <a:lvl1pPr marL="0" marR="0" indent="0" algn="r" defTabSz="1357312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1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algn="ctr" hangingPunct="1"/>
            <a:r>
              <a:rPr lang="en-US"/>
              <a:t>Complete section 3 in the notebook</a:t>
            </a:r>
          </a:p>
        </p:txBody>
      </p:sp>
      <p:sp>
        <p:nvSpPr>
          <p:cNvPr id="4" name="Authors…">
            <a:extLst>
              <a:ext uri="{FF2B5EF4-FFF2-40B4-BE49-F238E27FC236}">
                <a16:creationId xmlns:a16="http://schemas.microsoft.com/office/drawing/2014/main" id="{0F887876-5DA1-E78B-8E36-3A28C6143E56}"/>
              </a:ext>
            </a:extLst>
          </p:cNvPr>
          <p:cNvSpPr txBox="1">
            <a:spLocks/>
          </p:cNvSpPr>
          <p:nvPr/>
        </p:nvSpPr>
        <p:spPr>
          <a:xfrm>
            <a:off x="10684170" y="6438014"/>
            <a:ext cx="3015659" cy="8399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71437" tIns="71437" rIns="71437" bIns="71437">
            <a:normAutofit/>
          </a:bodyPr>
          <a:lstStyle>
            <a:lvl1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lvl="2" indent="0" algn="ctr" defTabSz="1357312" hangingPunct="1">
              <a:defRPr sz="3200" b="0">
                <a:solidFill>
                  <a:srgbClr val="FFFFFF"/>
                </a:solidFill>
              </a:defRPr>
            </a:pPr>
            <a:r>
              <a:rPr lang="en-GB" sz="3200" b="0">
                <a:solidFill>
                  <a:srgbClr val="FFFFFF"/>
                </a:solidFill>
              </a:rPr>
              <a:t>(~10 minutes)</a:t>
            </a:r>
          </a:p>
        </p:txBody>
      </p:sp>
    </p:spTree>
    <p:extLst>
      <p:ext uri="{BB962C8B-B14F-4D97-AF65-F5344CB8AC3E}">
        <p14:creationId xmlns:p14="http://schemas.microsoft.com/office/powerpoint/2010/main" val="3548200301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/>
          <p:cNvSpPr/>
          <p:nvPr/>
        </p:nvSpPr>
        <p:spPr>
          <a:xfrm>
            <a:off x="3888795" y="246197"/>
            <a:ext cx="3339376" cy="923330"/>
          </a:xfrm>
          <a:prstGeom prst="rect">
            <a:avLst/>
          </a:prstGeom>
        </p:spPr>
        <p:txBody>
          <a:bodyPr wrap="none">
            <a:spAutoFit/>
          </a:bodyPr>
          <a:lstStyle>
            <a:defPPr marL="0" marR="0" indent="0" algn="l" defTabSz="18288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1pPr>
            <a:lvl2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2pPr>
            <a:lvl3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3pPr>
            <a:lvl4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4pPr>
            <a:lvl5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5pPr>
            <a:lvl6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6pPr>
            <a:lvl7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7pPr>
            <a:lvl8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8pPr>
            <a:lvl9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9pPr>
          </a:lstStyle>
          <a:p>
            <a:r>
              <a:rPr lang="en-US" sz="5400" b="1">
                <a:solidFill>
                  <a:srgbClr val="EAEAEA"/>
                </a:solidFill>
              </a:rPr>
              <a:t>Summary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E065985-0EEF-0E33-8467-0EE8495F59C4}"/>
              </a:ext>
            </a:extLst>
          </p:cNvPr>
          <p:cNvSpPr txBox="1"/>
          <p:nvPr/>
        </p:nvSpPr>
        <p:spPr>
          <a:xfrm>
            <a:off x="3890900" y="5115194"/>
            <a:ext cx="102656" cy="8412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pic>
        <p:nvPicPr>
          <p:cNvPr id="78" name="Picture 77" descr="\documentclass{article}&#10;\usepackage{amsmath}&#10;\pagestyle{empty}&#10;\begin{document}&#10;\begin{equation}&#10;\frac{\partial c}{\partial t}=-v\frac{\partial c}{\partial x}&#10;\nonumber&#10;\end{equation}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7955" y="4179992"/>
            <a:ext cx="2437484" cy="1015133"/>
          </a:xfrm>
          <a:prstGeom prst="rect">
            <a:avLst/>
          </a:prstGeom>
        </p:spPr>
      </p:pic>
      <p:sp>
        <p:nvSpPr>
          <p:cNvPr id="79" name="TextBox 78">
            <a:extLst>
              <a:ext uri="{FF2B5EF4-FFF2-40B4-BE49-F238E27FC236}">
                <a16:creationId xmlns:a16="http://schemas.microsoft.com/office/drawing/2014/main" id="{2BF8EE9E-54A8-4550-04EE-750F3A28714B}"/>
              </a:ext>
            </a:extLst>
          </p:cNvPr>
          <p:cNvSpPr txBox="1"/>
          <p:nvPr/>
        </p:nvSpPr>
        <p:spPr>
          <a:xfrm>
            <a:off x="13638955" y="10471342"/>
            <a:ext cx="4813111" cy="11113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3200">
                <a:solidFill>
                  <a:srgbClr val="FA1F00"/>
                </a:solidFill>
              </a:rPr>
              <a:t>finite difference approximation</a:t>
            </a:r>
            <a:endParaRPr kumimoji="0" lang="en-GB" sz="3200" b="0" i="0" u="none" strike="noStrike" cap="none" spc="0" normalizeH="0" baseline="0">
              <a:ln>
                <a:noFill/>
              </a:ln>
              <a:solidFill>
                <a:srgbClr val="FA1F0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BBA2E4FE-466D-06DF-F751-A4C83AB9B265}"/>
                  </a:ext>
                </a:extLst>
              </p:cNvPr>
              <p:cNvSpPr txBox="1"/>
              <p:nvPr/>
            </p:nvSpPr>
            <p:spPr>
              <a:xfrm>
                <a:off x="355711" y="1705846"/>
                <a:ext cx="23680970" cy="156966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 algn="l"/>
                <a:r>
                  <a:rPr lang="en-GB" sz="3200">
                    <a:solidFill>
                      <a:schemeClr val="bg2">
                        <a:lumMod val="10000"/>
                      </a:schemeClr>
                    </a:solidFill>
                  </a:rPr>
                  <a:t>A fluid enters an empty unpacked pipe at a constant velocity of 2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dirty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sz="320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32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320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p>
                        <m:r>
                          <a:rPr lang="en-US" sz="320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32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GB" sz="3200">
                    <a:solidFill>
                      <a:schemeClr val="bg2">
                        <a:lumMod val="10000"/>
                      </a:schemeClr>
                    </a:solidFill>
                  </a:rPr>
                  <a:t>​. </a:t>
                </a:r>
                <a:r>
                  <a:rPr lang="en-US" sz="3200">
                    <a:solidFill>
                      <a:schemeClr val="bg2">
                        <a:lumMod val="10000"/>
                      </a:schemeClr>
                    </a:solidFill>
                  </a:rPr>
                  <a:t>The pipe length is 30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dirty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lang="en-US" sz="3200">
                    <a:solidFill>
                      <a:schemeClr val="bg2">
                        <a:lumMod val="10000"/>
                      </a:schemeClr>
                    </a:solidFill>
                  </a:rPr>
                  <a:t>. The solute is transported solely by advection (no diffusion or reaction). The inlet solute concentration increases linearly for t</a:t>
                </a:r>
                <a:r>
                  <a:rPr lang="en-GB" sz="3200">
                    <a:solidFill>
                      <a:schemeClr val="bg2">
                        <a:lumMod val="10000"/>
                      </a:schemeClr>
                    </a:solidFill>
                  </a:rPr>
                  <a:t>he first 5 seconds at a rate</a:t>
                </a:r>
              </a:p>
              <a:p>
                <a:pPr algn="l"/>
                <a14:m>
                  <m:oMath xmlns:m="http://schemas.openxmlformats.org/officeDocument/2006/math">
                    <m:r>
                      <a:rPr lang="en-US" sz="320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2 </m:t>
                    </m:r>
                    <m:r>
                      <m:rPr>
                        <m:sty m:val="p"/>
                      </m:rPr>
                      <a:rPr lang="en-US" sz="320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mol</m:t>
                    </m:r>
                    <m:r>
                      <a:rPr lang="en-US" sz="320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32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320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p>
                        <m:r>
                          <a:rPr lang="en-US" sz="320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−3</m:t>
                        </m:r>
                      </m:sup>
                    </m:sSup>
                    <m:r>
                      <a:rPr lang="en-US" sz="320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32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320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p>
                        <m:r>
                          <a:rPr lang="en-US" sz="320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3200">
                    <a:solidFill>
                      <a:schemeClr val="bg2">
                        <a:lumMod val="10000"/>
                      </a:schemeClr>
                    </a:solidFill>
                  </a:rPr>
                  <a:t>; after 5 seconds it remains constant.</a:t>
                </a:r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BBA2E4FE-466D-06DF-F751-A4C83AB9B2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711" y="1705846"/>
                <a:ext cx="23680970" cy="1569660"/>
              </a:xfrm>
              <a:prstGeom prst="rect">
                <a:avLst/>
              </a:prstGeom>
              <a:blipFill>
                <a:blip r:embed="rId5"/>
                <a:stretch>
                  <a:fillRect l="-644" t="-5058" b="-12062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 flipH="1">
            <a:off x="426675" y="4550956"/>
            <a:ext cx="7857173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just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1- Derive the equation</a:t>
            </a:r>
          </a:p>
        </p:txBody>
      </p:sp>
      <p:sp>
        <p:nvSpPr>
          <p:cNvPr id="84" name="TextBox 83"/>
          <p:cNvSpPr txBox="1"/>
          <p:nvPr/>
        </p:nvSpPr>
        <p:spPr>
          <a:xfrm flipH="1">
            <a:off x="355711" y="6034978"/>
            <a:ext cx="4941418" cy="10874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just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2- Determine</a:t>
            </a:r>
            <a:r>
              <a:rPr kumimoji="0" lang="en-US" sz="3200" b="0" i="0" u="none" strike="noStrike" cap="none" spc="0" normalizeH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 the initial and boundary conditions</a:t>
            </a: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85" name="TextBox 84"/>
          <p:cNvSpPr txBox="1"/>
          <p:nvPr/>
        </p:nvSpPr>
        <p:spPr>
          <a:xfrm flipH="1">
            <a:off x="426675" y="9826282"/>
            <a:ext cx="4502827" cy="207236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just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3- Discretize the spatial domain and solve the spatial domain</a:t>
            </a:r>
            <a:r>
              <a:rPr kumimoji="0" lang="en-US" sz="3200" b="0" i="0" u="none" strike="noStrike" cap="none" spc="0" normalizeH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 using the  finite difference method</a:t>
            </a: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D745FB8E-079C-5FD5-F2D9-64E5CCA7EFE0}"/>
              </a:ext>
            </a:extLst>
          </p:cNvPr>
          <p:cNvSpPr/>
          <p:nvPr/>
        </p:nvSpPr>
        <p:spPr>
          <a:xfrm rot="-10800000" flipV="1">
            <a:off x="9853404" y="13283356"/>
            <a:ext cx="4628055" cy="379591"/>
          </a:xfrm>
          <a:prstGeom prst="rect">
            <a:avLst/>
          </a:prstGeom>
          <a:solidFill>
            <a:srgbClr val="8B79A6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n-US" sz="1800"/>
              <a:t>Workshop on Numerical Simulation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1E5E6C2E-C000-B999-264C-69241A7AD13E}"/>
              </a:ext>
            </a:extLst>
          </p:cNvPr>
          <p:cNvSpPr/>
          <p:nvPr/>
        </p:nvSpPr>
        <p:spPr>
          <a:xfrm rot="-10800000" flipV="1">
            <a:off x="457612" y="13283975"/>
            <a:ext cx="4628055" cy="379591"/>
          </a:xfrm>
          <a:prstGeom prst="rect">
            <a:avLst/>
          </a:prstGeom>
          <a:solidFill>
            <a:srgbClr val="5C2A7A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/>
            <a:r>
              <a:rPr lang="en-GB" sz="1800">
                <a:solidFill>
                  <a:srgbClr val="9E79A6"/>
                </a:solidFill>
                <a:latin typeface="Helvetica Neue"/>
              </a:rPr>
              <a:t>KR and MA</a:t>
            </a:r>
            <a:endParaRPr lang="en-US" sz="1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9337955" y="10326988"/>
                <a:ext cx="4538935" cy="14000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600" i="1" smtClean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GB" sz="3600" i="1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sz="3600" i="1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3600" i="1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𝑑𝑐</m:t>
                                  </m:r>
                                </m:num>
                                <m:den>
                                  <m:r>
                                    <a:rPr lang="en-GB" sz="3600" i="1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n-US" sz="3600" b="0" i="1" smtClean="0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GB" sz="3600" i="1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3600" i="1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GB" sz="3600" i="1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3600" b="0" i="1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3600" b="0" i="1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f>
                        <m:fPr>
                          <m:ctrlPr>
                            <a:rPr lang="en-GB" sz="3600" i="1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600" i="1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600" i="1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sz="3600" i="1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3600" i="1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3600" i="1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600" i="1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sz="3600" i="1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GB" sz="3600" i="1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num>
                        <m:den>
                          <m:r>
                            <a:rPr lang="en-GB" sz="3600" i="1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GB" sz="3600" i="1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US" sz="360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7955" y="10326988"/>
                <a:ext cx="4538935" cy="140006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TextBox 86">
            <a:extLst>
              <a:ext uri="{FF2B5EF4-FFF2-40B4-BE49-F238E27FC236}">
                <a16:creationId xmlns:a16="http://schemas.microsoft.com/office/drawing/2014/main" id="{74A3359B-7A15-EA55-FB1E-109A44030B18}"/>
              </a:ext>
            </a:extLst>
          </p:cNvPr>
          <p:cNvSpPr txBox="1"/>
          <p:nvPr/>
        </p:nvSpPr>
        <p:spPr>
          <a:xfrm>
            <a:off x="6156272" y="10497769"/>
            <a:ext cx="3710287" cy="10874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0de15s or </a:t>
            </a: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err="1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solve_ivp</a:t>
            </a:r>
            <a:endParaRPr kumimoji="0" lang="en-GB" sz="3200" b="0" i="0" u="none" strike="noStrike" cap="none" spc="0" normalizeH="0" baseline="0">
              <a:ln>
                <a:noFill/>
              </a:ln>
              <a:solidFill>
                <a:srgbClr val="FF000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2DF578F2-0230-CCED-BB76-AC0867487C99}"/>
                  </a:ext>
                </a:extLst>
              </p:cNvPr>
              <p:cNvSpPr txBox="1"/>
              <p:nvPr/>
            </p:nvSpPr>
            <p:spPr>
              <a:xfrm>
                <a:off x="9337955" y="8275088"/>
                <a:ext cx="4669740" cy="12002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GB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Neue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GB" sz="3200" i="1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sz="3200" i="1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3200" i="1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GB" sz="3200" i="1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num>
                                <m:den>
                                  <m:r>
                                    <a:rPr lang="en-GB" sz="3200" i="1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GB" sz="3200" b="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kumimoji="0" lang="en-GB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Neue"/>
                            </a:rPr>
                            <m:t>𝑡</m:t>
                          </m:r>
                          <m:r>
                            <a:rPr kumimoji="0" lang="en-GB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Neue"/>
                            </a:rPr>
                            <m:t>,</m:t>
                          </m:r>
                          <m:r>
                            <a:rPr kumimoji="0" lang="en-GB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Neue"/>
                            </a:rPr>
                            <m:t>𝑥</m:t>
                          </m:r>
                          <m:r>
                            <a:rPr kumimoji="0" lang="en-GB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Neue"/>
                            </a:rPr>
                            <m:t>=</m:t>
                          </m:r>
                          <m:r>
                            <a:rPr kumimoji="0" lang="en-GB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Neue"/>
                            </a:rPr>
                            <m:t>𝐿</m:t>
                          </m:r>
                        </m:sub>
                      </m:sSub>
                      <m:r>
                        <a:rPr kumimoji="0" lang="en-GB" sz="3200" b="0" i="0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sym typeface="Helvetica Neue"/>
                        </a:rPr>
                        <m:t>=0 </m:t>
                      </m:r>
                      <m:r>
                        <m:rPr>
                          <m:sty m:val="p"/>
                        </m:rPr>
                        <a:rPr lang="en-US" sz="3200" i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mol</m:t>
                      </m:r>
                      <m:r>
                        <a:rPr lang="en-US" sz="3200" i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3200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3200" i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p>
                          <m:r>
                            <a:rPr lang="en-US" sz="3200" i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−3</m:t>
                          </m:r>
                        </m:sup>
                      </m:sSup>
                      <m:r>
                        <a:rPr lang="en-US" sz="3200" i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3200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3200" i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p>
                          <m:r>
                            <a:rPr lang="en-US" sz="3200" i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GB" sz="3200" i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kumimoji="0" lang="en-GB" sz="3200" b="0" u="none" strike="noStrike" cap="none" spc="0" normalizeH="0" baseline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FillTx/>
                  <a:sym typeface="Helvetica Neue"/>
                </a:endParaRPr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2DF578F2-0230-CCED-BB76-AC0867487C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7955" y="8275088"/>
                <a:ext cx="4669740" cy="1200200"/>
              </a:xfrm>
              <a:prstGeom prst="rect">
                <a:avLst/>
              </a:prstGeom>
              <a:blipFill>
                <a:blip r:embed="rId7"/>
                <a:stretch>
                  <a:fillRect l="-131" b="-508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A60E98D8-6B7F-4DC8-41EB-BCD2DDE10846}"/>
                  </a:ext>
                </a:extLst>
              </p:cNvPr>
              <p:cNvSpPr txBox="1"/>
              <p:nvPr/>
            </p:nvSpPr>
            <p:spPr>
              <a:xfrm>
                <a:off x="9337955" y="5948893"/>
                <a:ext cx="5357143" cy="49244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GB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GB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𝑐</m:t>
                          </m:r>
                          <m:r>
                            <a:rPr kumimoji="0" lang="en-GB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(</m:t>
                          </m:r>
                          <m:r>
                            <a:rPr kumimoji="0" lang="en-GB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𝑡</m:t>
                          </m:r>
                          <m:r>
                            <a:rPr kumimoji="0" lang="en-GB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=0,</m:t>
                          </m:r>
                          <m:r>
                            <a:rPr kumimoji="0" lang="en-GB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𝑥</m:t>
                          </m:r>
                          <m:r>
                            <a:rPr kumimoji="0" lang="en-GB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)</m:t>
                          </m:r>
                        </m:e>
                        <m:sub/>
                      </m:sSub>
                      <m:r>
                        <a:rPr kumimoji="0" lang="en-GB" sz="32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=0</m:t>
                      </m:r>
                      <m:r>
                        <a:rPr kumimoji="0" lang="en-US" sz="32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320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mol</m:t>
                      </m:r>
                      <m:r>
                        <a:rPr lang="en-US" sz="320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3200" i="1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320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p>
                          <m:r>
                            <a:rPr lang="en-US" sz="320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−3</m:t>
                          </m:r>
                        </m:sup>
                      </m:sSup>
                    </m:oMath>
                  </m:oMathPara>
                </a14:m>
                <a:endParaRPr kumimoji="0" lang="en-GB" sz="3200" b="0" i="0" u="none" strike="noStrike" cap="none" spc="0" normalizeH="0" baseline="0">
                  <a:ln>
                    <a:noFill/>
                  </a:ln>
                  <a:solidFill>
                    <a:schemeClr val="tx1">
                      <a:lumMod val="50000"/>
                    </a:schemeClr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A60E98D8-6B7F-4DC8-41EB-BCD2DDE108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7955" y="5948893"/>
                <a:ext cx="5357143" cy="4924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>
            <a:extLst>
              <a:ext uri="{FF2B5EF4-FFF2-40B4-BE49-F238E27FC236}">
                <a16:creationId xmlns:a16="http://schemas.microsoft.com/office/drawing/2014/main" id="{9E64342D-F23F-D294-E0BF-76DB073DB7A2}"/>
              </a:ext>
            </a:extLst>
          </p:cNvPr>
          <p:cNvSpPr/>
          <p:nvPr/>
        </p:nvSpPr>
        <p:spPr>
          <a:xfrm rot="-10800000" flipV="1">
            <a:off x="19138012" y="13283101"/>
            <a:ext cx="4628055" cy="379591"/>
          </a:xfrm>
          <a:prstGeom prst="rect">
            <a:avLst/>
          </a:prstGeom>
          <a:solidFill>
            <a:srgbClr val="5C2A7A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/>
            <a:r>
              <a:rPr lang="en-GB" sz="1800">
                <a:solidFill>
                  <a:srgbClr val="9E79A6"/>
                </a:solidFill>
                <a:latin typeface="Helvetica Neue"/>
              </a:rPr>
              <a:t>22/10/2025</a:t>
            </a:r>
            <a:endParaRPr lang="en-US" sz="1800"/>
          </a:p>
        </p:txBody>
      </p:sp>
      <p:sp>
        <p:nvSpPr>
          <p:cNvPr id="21" name="Slide Number">
            <a:extLst>
              <a:ext uri="{FF2B5EF4-FFF2-40B4-BE49-F238E27FC236}">
                <a16:creationId xmlns:a16="http://schemas.microsoft.com/office/drawing/2014/main" id="{3A530B0C-0DF4-6EBB-B7F7-92464D70DE84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23805849" y="13272486"/>
            <a:ext cx="230832" cy="379591"/>
          </a:xfrm>
          <a:prstGeom prst="rect">
            <a:avLst/>
          </a:prstGeom>
        </p:spPr>
        <p:txBody>
          <a:bodyPr/>
          <a:lstStyle/>
          <a:p>
            <a:r>
              <a:rPr lang="en-GB"/>
              <a:t>5</a:t>
            </a: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DAEF737-D755-8415-7A1F-16DAD8205443}"/>
                  </a:ext>
                </a:extLst>
              </p:cNvPr>
              <p:cNvSpPr txBox="1"/>
              <p:nvPr/>
            </p:nvSpPr>
            <p:spPr>
              <a:xfrm>
                <a:off x="9337955" y="6858000"/>
                <a:ext cx="4669740" cy="12002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sz="3200" i="1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320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3200" b="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num>
                                <m:den>
                                  <m:r>
                                    <a:rPr lang="en-US" sz="320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3200" b="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32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32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2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32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</m:sSub>
                      <m:r>
                        <a:rPr lang="en-US" sz="3200" i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=2 </m:t>
                      </m:r>
                      <m:r>
                        <m:rPr>
                          <m:sty m:val="p"/>
                        </m:rPr>
                        <a:rPr lang="en-US" sz="3200" i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mol</m:t>
                      </m:r>
                      <m:r>
                        <a:rPr lang="en-US" sz="3200" i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3200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3200" i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p>
                          <m:r>
                            <a:rPr lang="en-US" sz="3200" i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−3</m:t>
                          </m:r>
                        </m:sup>
                      </m:sSup>
                      <m:r>
                        <a:rPr lang="en-US" sz="3200" i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3200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3200" i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p>
                          <m:r>
                            <a:rPr lang="en-US" sz="3200" i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GB" sz="3200" b="0" i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kumimoji="0" lang="en-GB" sz="3200" b="0" u="none" strike="noStrike" cap="none" spc="0" normalizeH="0" baseline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FillTx/>
                  <a:sym typeface="Helvetica Neue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DAEF737-D755-8415-7A1F-16DAD82054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7955" y="6858000"/>
                <a:ext cx="4669740" cy="12002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D9AA5AD-9425-DC37-B4BC-2B326703F115}"/>
                  </a:ext>
                </a:extLst>
              </p:cNvPr>
              <p:cNvSpPr txBox="1"/>
              <p:nvPr/>
            </p:nvSpPr>
            <p:spPr>
              <a:xfrm>
                <a:off x="15080869" y="7101190"/>
                <a:ext cx="1049133" cy="49244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GB" sz="32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𝑡</m:t>
                      </m:r>
                      <m:r>
                        <a:rPr kumimoji="0" lang="en-GB" sz="32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&lt;5</m:t>
                      </m:r>
                    </m:oMath>
                  </m:oMathPara>
                </a14:m>
                <a:endParaRPr kumimoji="0" lang="en-GB" sz="3200" b="0" i="1" u="none" strike="noStrike" cap="none" spc="0" normalizeH="0" baseline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D9AA5AD-9425-DC37-B4BC-2B326703F1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80869" y="7101190"/>
                <a:ext cx="1049133" cy="49244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328EAAA-7C91-A40C-F67C-46237D899B90}"/>
                  </a:ext>
                </a:extLst>
              </p:cNvPr>
              <p:cNvSpPr txBox="1"/>
              <p:nvPr/>
            </p:nvSpPr>
            <p:spPr>
              <a:xfrm>
                <a:off x="15080868" y="8528342"/>
                <a:ext cx="1049133" cy="49244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GB" sz="32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sym typeface="Helvetica Neue"/>
                        </a:rPr>
                        <m:t>𝑡</m:t>
                      </m:r>
                      <m:r>
                        <a:rPr kumimoji="0" lang="en-GB" sz="32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Helvetica Neue"/>
                        </a:rPr>
                        <m:t>≥</m:t>
                      </m:r>
                      <m:r>
                        <a:rPr kumimoji="0" lang="en-GB" sz="32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sym typeface="Helvetica Neue"/>
                        </a:rPr>
                        <m:t>5</m:t>
                      </m:r>
                    </m:oMath>
                  </m:oMathPara>
                </a14:m>
                <a:endParaRPr kumimoji="0" lang="en-GB" sz="3200" b="0" i="1" u="none" strike="noStrike" cap="none" spc="0" normalizeH="0" baseline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FillTx/>
                  <a:sym typeface="Helvetica Neue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328EAAA-7C91-A40C-F67C-46237D899B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80868" y="8528342"/>
                <a:ext cx="1049133" cy="49244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9037E72B-3609-6AFB-CBC6-D4072ED46E11}"/>
              </a:ext>
            </a:extLst>
          </p:cNvPr>
          <p:cNvSpPr txBox="1"/>
          <p:nvPr/>
        </p:nvSpPr>
        <p:spPr>
          <a:xfrm>
            <a:off x="15028585" y="3822552"/>
            <a:ext cx="9355415" cy="1323439"/>
          </a:xfrm>
          <a:prstGeom prst="rect">
            <a:avLst/>
          </a:prstGeom>
          <a:noFill/>
          <a:ln w="38100" cap="flat">
            <a:solidFill>
              <a:srgbClr val="9E2D28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buNone/>
            </a:pPr>
            <a:r>
              <a:rPr lang="en-GB" sz="4000" b="1">
                <a:solidFill>
                  <a:schemeClr val="accent5">
                    <a:lumMod val="50000"/>
                  </a:schemeClr>
                </a:solidFill>
              </a:rPr>
              <a:t>[40461/60461] - How would you solve an adsorption model?</a:t>
            </a:r>
            <a:endParaRPr lang="en-GB" sz="400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3722675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421FA-5CFB-BA8D-2A98-FB0261CD5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53D2392D-0AD5-328D-A296-68616C9BCD43}"/>
              </a:ext>
            </a:extLst>
          </p:cNvPr>
          <p:cNvSpPr/>
          <p:nvPr/>
        </p:nvSpPr>
        <p:spPr>
          <a:xfrm>
            <a:off x="3888795" y="246197"/>
            <a:ext cx="3339376" cy="923330"/>
          </a:xfrm>
          <a:prstGeom prst="rect">
            <a:avLst/>
          </a:prstGeom>
        </p:spPr>
        <p:txBody>
          <a:bodyPr wrap="none">
            <a:spAutoFit/>
          </a:bodyPr>
          <a:lstStyle>
            <a:defPPr marL="0" marR="0" indent="0" algn="l" defTabSz="18288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1pPr>
            <a:lvl2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2pPr>
            <a:lvl3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3pPr>
            <a:lvl4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4pPr>
            <a:lvl5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5pPr>
            <a:lvl6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6pPr>
            <a:lvl7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7pPr>
            <a:lvl8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8pPr>
            <a:lvl9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9pPr>
          </a:lstStyle>
          <a:p>
            <a:r>
              <a:rPr lang="en-US" sz="5400" b="1">
                <a:solidFill>
                  <a:srgbClr val="EAEAEA"/>
                </a:solidFill>
              </a:rPr>
              <a:t>Summary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133C3C-533C-FC40-9873-2F592D4031E0}"/>
              </a:ext>
            </a:extLst>
          </p:cNvPr>
          <p:cNvSpPr txBox="1"/>
          <p:nvPr/>
        </p:nvSpPr>
        <p:spPr>
          <a:xfrm>
            <a:off x="3890900" y="5115194"/>
            <a:ext cx="102656" cy="8412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pic>
        <p:nvPicPr>
          <p:cNvPr id="78" name="Picture 77" descr="\documentclass{article}&#10;\usepackage{amsmath}&#10;\pagestyle{empty}&#10;\begin{document}&#10;\begin{equation}&#10;\frac{\partial c}{\partial t}=-v\frac{\partial c}{\partial x}&#10;\nonumber&#10;\end{equation}&#10;&#10;\end{document}" title="IguanaTex Bitmap Display">
            <a:extLst>
              <a:ext uri="{FF2B5EF4-FFF2-40B4-BE49-F238E27FC236}">
                <a16:creationId xmlns:a16="http://schemas.microsoft.com/office/drawing/2014/main" id="{69D5A4BB-A540-DB07-3D0B-F5706622577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7955" y="4179992"/>
            <a:ext cx="2437484" cy="1015133"/>
          </a:xfrm>
          <a:prstGeom prst="rect">
            <a:avLst/>
          </a:prstGeom>
        </p:spPr>
      </p:pic>
      <p:sp>
        <p:nvSpPr>
          <p:cNvPr id="79" name="TextBox 78">
            <a:extLst>
              <a:ext uri="{FF2B5EF4-FFF2-40B4-BE49-F238E27FC236}">
                <a16:creationId xmlns:a16="http://schemas.microsoft.com/office/drawing/2014/main" id="{783F85D8-2AFA-25AB-DC59-DBAD4565BD0B}"/>
              </a:ext>
            </a:extLst>
          </p:cNvPr>
          <p:cNvSpPr txBox="1"/>
          <p:nvPr/>
        </p:nvSpPr>
        <p:spPr>
          <a:xfrm>
            <a:off x="13638955" y="10471342"/>
            <a:ext cx="4813111" cy="11113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3200">
                <a:solidFill>
                  <a:srgbClr val="FA1F00"/>
                </a:solidFill>
              </a:rPr>
              <a:t>finite difference approximation</a:t>
            </a:r>
            <a:endParaRPr kumimoji="0" lang="en-GB" sz="3200" b="0" i="0" u="none" strike="noStrike" cap="none" spc="0" normalizeH="0" baseline="0">
              <a:ln>
                <a:noFill/>
              </a:ln>
              <a:solidFill>
                <a:srgbClr val="FA1F0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A30980ED-DCC3-D11E-A0D5-D876E7841F1D}"/>
                  </a:ext>
                </a:extLst>
              </p:cNvPr>
              <p:cNvSpPr txBox="1"/>
              <p:nvPr/>
            </p:nvSpPr>
            <p:spPr>
              <a:xfrm>
                <a:off x="355711" y="1705846"/>
                <a:ext cx="23680970" cy="156966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 algn="l"/>
                <a:r>
                  <a:rPr lang="en-GB" sz="3200">
                    <a:solidFill>
                      <a:schemeClr val="bg2">
                        <a:lumMod val="10000"/>
                      </a:schemeClr>
                    </a:solidFill>
                  </a:rPr>
                  <a:t>A fluid enters an empty unpacked pipe at a constant velocity of 2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dirty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sz="320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32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320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p>
                        <m:r>
                          <a:rPr lang="en-US" sz="320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32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GB" sz="3200">
                    <a:solidFill>
                      <a:schemeClr val="bg2">
                        <a:lumMod val="10000"/>
                      </a:schemeClr>
                    </a:solidFill>
                  </a:rPr>
                  <a:t>​. </a:t>
                </a:r>
                <a:r>
                  <a:rPr lang="en-US" sz="3200">
                    <a:solidFill>
                      <a:schemeClr val="bg2">
                        <a:lumMod val="10000"/>
                      </a:schemeClr>
                    </a:solidFill>
                  </a:rPr>
                  <a:t>The pipe length is 30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dirty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lang="en-US" sz="3200">
                    <a:solidFill>
                      <a:schemeClr val="bg2">
                        <a:lumMod val="10000"/>
                      </a:schemeClr>
                    </a:solidFill>
                  </a:rPr>
                  <a:t>. The solute is transported solely by advection (no diffusion or reaction). The inlet solute concentration increases linearly for t</a:t>
                </a:r>
                <a:r>
                  <a:rPr lang="en-GB" sz="3200">
                    <a:solidFill>
                      <a:schemeClr val="bg2">
                        <a:lumMod val="10000"/>
                      </a:schemeClr>
                    </a:solidFill>
                  </a:rPr>
                  <a:t>he first 5 seconds at a rate</a:t>
                </a:r>
              </a:p>
              <a:p>
                <a:pPr algn="l"/>
                <a14:m>
                  <m:oMath xmlns:m="http://schemas.openxmlformats.org/officeDocument/2006/math">
                    <m:r>
                      <a:rPr lang="en-US" sz="320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2 </m:t>
                    </m:r>
                    <m:r>
                      <m:rPr>
                        <m:sty m:val="p"/>
                      </m:rPr>
                      <a:rPr lang="en-US" sz="320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mol</m:t>
                    </m:r>
                    <m:r>
                      <a:rPr lang="en-US" sz="320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32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320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p>
                        <m:r>
                          <a:rPr lang="en-US" sz="320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−3</m:t>
                        </m:r>
                      </m:sup>
                    </m:sSup>
                    <m:r>
                      <a:rPr lang="en-US" sz="320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32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320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p>
                        <m:r>
                          <a:rPr lang="en-US" sz="320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3200">
                    <a:solidFill>
                      <a:schemeClr val="bg2">
                        <a:lumMod val="10000"/>
                      </a:schemeClr>
                    </a:solidFill>
                  </a:rPr>
                  <a:t>; after 5 seconds it remains constant.</a:t>
                </a:r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A30980ED-DCC3-D11E-A0D5-D876E7841F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711" y="1705846"/>
                <a:ext cx="23680970" cy="1569660"/>
              </a:xfrm>
              <a:prstGeom prst="rect">
                <a:avLst/>
              </a:prstGeom>
              <a:blipFill>
                <a:blip r:embed="rId5"/>
                <a:stretch>
                  <a:fillRect l="-644" t="-5058" b="-12062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6BCFEF70-24A0-365A-6889-4F30E2D37D10}"/>
              </a:ext>
            </a:extLst>
          </p:cNvPr>
          <p:cNvSpPr txBox="1"/>
          <p:nvPr/>
        </p:nvSpPr>
        <p:spPr>
          <a:xfrm flipH="1">
            <a:off x="426675" y="4550956"/>
            <a:ext cx="7857173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just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1- Derive the equation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DFF2FE2-A384-6668-3B13-1C5BFAA6E07B}"/>
              </a:ext>
            </a:extLst>
          </p:cNvPr>
          <p:cNvSpPr txBox="1"/>
          <p:nvPr/>
        </p:nvSpPr>
        <p:spPr>
          <a:xfrm flipH="1">
            <a:off x="355711" y="6034978"/>
            <a:ext cx="4941418" cy="10874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just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2- Determine</a:t>
            </a:r>
            <a:r>
              <a:rPr kumimoji="0" lang="en-US" sz="3200" b="0" i="0" u="none" strike="noStrike" cap="none" spc="0" normalizeH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 the initial and boundary conditions</a:t>
            </a: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6BFCDFD-29F9-F9BA-E2C6-1B3348D66A9F}"/>
              </a:ext>
            </a:extLst>
          </p:cNvPr>
          <p:cNvSpPr txBox="1"/>
          <p:nvPr/>
        </p:nvSpPr>
        <p:spPr>
          <a:xfrm flipH="1">
            <a:off x="426675" y="9826282"/>
            <a:ext cx="4502827" cy="207236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just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3- Discretize the spatial domain and solve the spatial domain</a:t>
            </a:r>
            <a:r>
              <a:rPr kumimoji="0" lang="en-US" sz="3200" b="0" i="0" u="none" strike="noStrike" cap="none" spc="0" normalizeH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 using the  finite difference method</a:t>
            </a: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8B06458B-34F1-4371-926A-D130EA33A508}"/>
              </a:ext>
            </a:extLst>
          </p:cNvPr>
          <p:cNvSpPr/>
          <p:nvPr/>
        </p:nvSpPr>
        <p:spPr>
          <a:xfrm rot="-10800000" flipV="1">
            <a:off x="9853404" y="13283356"/>
            <a:ext cx="4628055" cy="379591"/>
          </a:xfrm>
          <a:prstGeom prst="rect">
            <a:avLst/>
          </a:prstGeom>
          <a:solidFill>
            <a:srgbClr val="8B79A6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n-US" sz="1800"/>
              <a:t>Workshop on Numerical Simulation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A56C232A-5695-8F53-FB78-2ADBBF2C867C}"/>
              </a:ext>
            </a:extLst>
          </p:cNvPr>
          <p:cNvSpPr/>
          <p:nvPr/>
        </p:nvSpPr>
        <p:spPr>
          <a:xfrm rot="-10800000" flipV="1">
            <a:off x="457612" y="13283975"/>
            <a:ext cx="4628055" cy="379591"/>
          </a:xfrm>
          <a:prstGeom prst="rect">
            <a:avLst/>
          </a:prstGeom>
          <a:solidFill>
            <a:srgbClr val="5C2A7A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/>
            <a:r>
              <a:rPr lang="en-GB" sz="1800">
                <a:solidFill>
                  <a:srgbClr val="9E79A6"/>
                </a:solidFill>
                <a:latin typeface="Helvetica Neue"/>
              </a:rPr>
              <a:t>KR and MA</a:t>
            </a:r>
            <a:endParaRPr lang="en-US" sz="1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1FFA31D5-6C61-1380-D1DB-E633E3E8B2D6}"/>
                  </a:ext>
                </a:extLst>
              </p:cNvPr>
              <p:cNvSpPr/>
              <p:nvPr/>
            </p:nvSpPr>
            <p:spPr>
              <a:xfrm>
                <a:off x="9337955" y="10326988"/>
                <a:ext cx="4538935" cy="14000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600" i="1" smtClean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GB" sz="3600" i="1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sz="3600" i="1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3600" i="1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𝑑𝑐</m:t>
                                  </m:r>
                                </m:num>
                                <m:den>
                                  <m:r>
                                    <a:rPr lang="en-GB" sz="3600" i="1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n-US" sz="3600" b="0" i="1" smtClean="0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GB" sz="3600" i="1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3600" i="1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GB" sz="3600" i="1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3600" b="0" i="1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3600" b="0" i="1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f>
                        <m:fPr>
                          <m:ctrlPr>
                            <a:rPr lang="en-GB" sz="3600" i="1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600" i="1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600" i="1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sz="3600" i="1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3600" i="1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3600" i="1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600" i="1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sz="3600" i="1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GB" sz="3600" i="1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num>
                        <m:den>
                          <m:r>
                            <a:rPr lang="en-GB" sz="3600" i="1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GB" sz="3600" i="1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US" sz="360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1FFA31D5-6C61-1380-D1DB-E633E3E8B2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7955" y="10326988"/>
                <a:ext cx="4538935" cy="140006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TextBox 86">
            <a:extLst>
              <a:ext uri="{FF2B5EF4-FFF2-40B4-BE49-F238E27FC236}">
                <a16:creationId xmlns:a16="http://schemas.microsoft.com/office/drawing/2014/main" id="{FD92CD9E-7D20-7ADA-049C-4E50AE44283B}"/>
              </a:ext>
            </a:extLst>
          </p:cNvPr>
          <p:cNvSpPr txBox="1"/>
          <p:nvPr/>
        </p:nvSpPr>
        <p:spPr>
          <a:xfrm>
            <a:off x="6156272" y="10497769"/>
            <a:ext cx="3710287" cy="10874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0de15s or </a:t>
            </a: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err="1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solve_ivp</a:t>
            </a:r>
            <a:endParaRPr kumimoji="0" lang="en-GB" sz="3200" b="0" i="0" u="none" strike="noStrike" cap="none" spc="0" normalizeH="0" baseline="0">
              <a:ln>
                <a:noFill/>
              </a:ln>
              <a:solidFill>
                <a:srgbClr val="FF000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EEED9696-7B05-104E-08D1-D62AF3C0B6E3}"/>
                  </a:ext>
                </a:extLst>
              </p:cNvPr>
              <p:cNvSpPr txBox="1"/>
              <p:nvPr/>
            </p:nvSpPr>
            <p:spPr>
              <a:xfrm>
                <a:off x="9337955" y="8275088"/>
                <a:ext cx="4669740" cy="12002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GB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Neue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GB" sz="3200" i="1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sz="3200" i="1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3200" i="1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GB" sz="3200" i="1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num>
                                <m:den>
                                  <m:r>
                                    <a:rPr lang="en-GB" sz="3200" i="1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GB" sz="3200" b="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kumimoji="0" lang="en-GB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Neue"/>
                            </a:rPr>
                            <m:t>𝑡</m:t>
                          </m:r>
                          <m:r>
                            <a:rPr kumimoji="0" lang="en-GB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Neue"/>
                            </a:rPr>
                            <m:t>,</m:t>
                          </m:r>
                          <m:r>
                            <a:rPr kumimoji="0" lang="en-GB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Neue"/>
                            </a:rPr>
                            <m:t>𝑥</m:t>
                          </m:r>
                          <m:r>
                            <a:rPr kumimoji="0" lang="en-GB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Neue"/>
                            </a:rPr>
                            <m:t>=</m:t>
                          </m:r>
                          <m:r>
                            <a:rPr kumimoji="0" lang="en-GB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Neue"/>
                            </a:rPr>
                            <m:t>𝐿</m:t>
                          </m:r>
                        </m:sub>
                      </m:sSub>
                      <m:r>
                        <a:rPr kumimoji="0" lang="en-GB" sz="3200" b="0" i="0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sym typeface="Helvetica Neue"/>
                        </a:rPr>
                        <m:t>=0 </m:t>
                      </m:r>
                      <m:r>
                        <m:rPr>
                          <m:sty m:val="p"/>
                        </m:rPr>
                        <a:rPr lang="en-US" sz="3200" i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mol</m:t>
                      </m:r>
                      <m:r>
                        <a:rPr lang="en-US" sz="3200" i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3200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3200" i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p>
                          <m:r>
                            <a:rPr lang="en-US" sz="3200" i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−3</m:t>
                          </m:r>
                        </m:sup>
                      </m:sSup>
                      <m:r>
                        <a:rPr lang="en-US" sz="3200" i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3200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3200" i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p>
                          <m:r>
                            <a:rPr lang="en-US" sz="3200" i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GB" sz="3200" i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kumimoji="0" lang="en-GB" sz="3200" b="0" u="none" strike="noStrike" cap="none" spc="0" normalizeH="0" baseline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FillTx/>
                  <a:sym typeface="Helvetica Neue"/>
                </a:endParaRPr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EEED9696-7B05-104E-08D1-D62AF3C0B6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7955" y="8275088"/>
                <a:ext cx="4669740" cy="1200200"/>
              </a:xfrm>
              <a:prstGeom prst="rect">
                <a:avLst/>
              </a:prstGeom>
              <a:blipFill>
                <a:blip r:embed="rId7"/>
                <a:stretch>
                  <a:fillRect l="-131" b="-508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DB57DDFF-494A-1284-AD39-03ED9210FCB7}"/>
                  </a:ext>
                </a:extLst>
              </p:cNvPr>
              <p:cNvSpPr txBox="1"/>
              <p:nvPr/>
            </p:nvSpPr>
            <p:spPr>
              <a:xfrm>
                <a:off x="9337955" y="5948893"/>
                <a:ext cx="5357143" cy="49244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GB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GB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𝑐</m:t>
                          </m:r>
                          <m:r>
                            <a:rPr kumimoji="0" lang="en-GB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(</m:t>
                          </m:r>
                          <m:r>
                            <a:rPr kumimoji="0" lang="en-GB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𝑡</m:t>
                          </m:r>
                          <m:r>
                            <a:rPr kumimoji="0" lang="en-GB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=0,</m:t>
                          </m:r>
                          <m:r>
                            <a:rPr kumimoji="0" lang="en-GB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𝑥</m:t>
                          </m:r>
                          <m:r>
                            <a:rPr kumimoji="0" lang="en-GB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)</m:t>
                          </m:r>
                        </m:e>
                        <m:sub/>
                      </m:sSub>
                      <m:r>
                        <a:rPr kumimoji="0" lang="en-GB" sz="32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=0</m:t>
                      </m:r>
                      <m:r>
                        <a:rPr kumimoji="0" lang="en-US" sz="32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320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mol</m:t>
                      </m:r>
                      <m:r>
                        <a:rPr lang="en-US" sz="320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3200" i="1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320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p>
                          <m:r>
                            <a:rPr lang="en-US" sz="320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−3</m:t>
                          </m:r>
                        </m:sup>
                      </m:sSup>
                    </m:oMath>
                  </m:oMathPara>
                </a14:m>
                <a:endParaRPr kumimoji="0" lang="en-GB" sz="3200" b="0" i="0" u="none" strike="noStrike" cap="none" spc="0" normalizeH="0" baseline="0">
                  <a:ln>
                    <a:noFill/>
                  </a:ln>
                  <a:solidFill>
                    <a:schemeClr val="tx1">
                      <a:lumMod val="50000"/>
                    </a:schemeClr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DB57DDFF-494A-1284-AD39-03ED9210FC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7955" y="5948893"/>
                <a:ext cx="5357143" cy="4924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>
            <a:extLst>
              <a:ext uri="{FF2B5EF4-FFF2-40B4-BE49-F238E27FC236}">
                <a16:creationId xmlns:a16="http://schemas.microsoft.com/office/drawing/2014/main" id="{4AB08069-F061-6F61-EA2A-8CCBB661D903}"/>
              </a:ext>
            </a:extLst>
          </p:cNvPr>
          <p:cNvSpPr/>
          <p:nvPr/>
        </p:nvSpPr>
        <p:spPr>
          <a:xfrm rot="-10800000" flipV="1">
            <a:off x="19138012" y="13283101"/>
            <a:ext cx="4628055" cy="379591"/>
          </a:xfrm>
          <a:prstGeom prst="rect">
            <a:avLst/>
          </a:prstGeom>
          <a:solidFill>
            <a:srgbClr val="5C2A7A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/>
            <a:r>
              <a:rPr lang="en-GB" sz="1800">
                <a:solidFill>
                  <a:srgbClr val="9E79A6"/>
                </a:solidFill>
                <a:latin typeface="Helvetica Neue"/>
              </a:rPr>
              <a:t>22/10/2025</a:t>
            </a:r>
            <a:endParaRPr lang="en-US" sz="1800"/>
          </a:p>
        </p:txBody>
      </p:sp>
      <p:sp>
        <p:nvSpPr>
          <p:cNvPr id="21" name="Slide Number">
            <a:extLst>
              <a:ext uri="{FF2B5EF4-FFF2-40B4-BE49-F238E27FC236}">
                <a16:creationId xmlns:a16="http://schemas.microsoft.com/office/drawing/2014/main" id="{F49BF7F9-11B7-2F25-6296-BED2007F61DE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23805849" y="13272486"/>
            <a:ext cx="230832" cy="379591"/>
          </a:xfrm>
          <a:prstGeom prst="rect">
            <a:avLst/>
          </a:prstGeom>
        </p:spPr>
        <p:txBody>
          <a:bodyPr/>
          <a:lstStyle/>
          <a:p>
            <a:r>
              <a:rPr lang="en-GB"/>
              <a:t>5</a:t>
            </a: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95888FA-95F6-B575-6116-F0BE33A578A2}"/>
                  </a:ext>
                </a:extLst>
              </p:cNvPr>
              <p:cNvSpPr txBox="1"/>
              <p:nvPr/>
            </p:nvSpPr>
            <p:spPr>
              <a:xfrm>
                <a:off x="9337955" y="6858000"/>
                <a:ext cx="4669740" cy="12002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sz="3200" i="1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320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3200" b="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num>
                                <m:den>
                                  <m:r>
                                    <a:rPr lang="en-US" sz="320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3200" b="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32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32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2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32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</m:sSub>
                      <m:r>
                        <a:rPr lang="en-US" sz="3200" i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=2 </m:t>
                      </m:r>
                      <m:r>
                        <m:rPr>
                          <m:sty m:val="p"/>
                        </m:rPr>
                        <a:rPr lang="en-US" sz="3200" i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mol</m:t>
                      </m:r>
                      <m:r>
                        <a:rPr lang="en-US" sz="3200" i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3200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3200" i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p>
                          <m:r>
                            <a:rPr lang="en-US" sz="3200" i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−3</m:t>
                          </m:r>
                        </m:sup>
                      </m:sSup>
                      <m:r>
                        <a:rPr lang="en-US" sz="3200" i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3200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3200" i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p>
                          <m:r>
                            <a:rPr lang="en-US" sz="3200" i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GB" sz="3200" b="0" i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kumimoji="0" lang="en-GB" sz="3200" b="0" u="none" strike="noStrike" cap="none" spc="0" normalizeH="0" baseline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FillTx/>
                  <a:sym typeface="Helvetica Neue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95888FA-95F6-B575-6116-F0BE33A578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7955" y="6858000"/>
                <a:ext cx="4669740" cy="12002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7CBAF8B-E86E-F4B9-B2AD-B50EE61EC07F}"/>
                  </a:ext>
                </a:extLst>
              </p:cNvPr>
              <p:cNvSpPr txBox="1"/>
              <p:nvPr/>
            </p:nvSpPr>
            <p:spPr>
              <a:xfrm>
                <a:off x="15080869" y="7101190"/>
                <a:ext cx="1049133" cy="49244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GB" sz="32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𝑡</m:t>
                      </m:r>
                      <m:r>
                        <a:rPr kumimoji="0" lang="en-GB" sz="32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&lt;5</m:t>
                      </m:r>
                    </m:oMath>
                  </m:oMathPara>
                </a14:m>
                <a:endParaRPr kumimoji="0" lang="en-GB" sz="3200" b="0" i="1" u="none" strike="noStrike" cap="none" spc="0" normalizeH="0" baseline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7CBAF8B-E86E-F4B9-B2AD-B50EE61EC0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80869" y="7101190"/>
                <a:ext cx="1049133" cy="49244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787CC9F-72BB-9D60-55D3-61DA65699D54}"/>
                  </a:ext>
                </a:extLst>
              </p:cNvPr>
              <p:cNvSpPr txBox="1"/>
              <p:nvPr/>
            </p:nvSpPr>
            <p:spPr>
              <a:xfrm>
                <a:off x="15080868" y="8528342"/>
                <a:ext cx="1049133" cy="49244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GB" sz="32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sym typeface="Helvetica Neue"/>
                        </a:rPr>
                        <m:t>𝑡</m:t>
                      </m:r>
                      <m:r>
                        <a:rPr kumimoji="0" lang="en-GB" sz="32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Helvetica Neue"/>
                        </a:rPr>
                        <m:t>≥</m:t>
                      </m:r>
                      <m:r>
                        <a:rPr kumimoji="0" lang="en-GB" sz="32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sym typeface="Helvetica Neue"/>
                        </a:rPr>
                        <m:t>5</m:t>
                      </m:r>
                    </m:oMath>
                  </m:oMathPara>
                </a14:m>
                <a:endParaRPr kumimoji="0" lang="en-GB" sz="3200" b="0" i="1" u="none" strike="noStrike" cap="none" spc="0" normalizeH="0" baseline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FillTx/>
                  <a:sym typeface="Helvetica Neue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787CC9F-72BB-9D60-55D3-61DA65699D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80868" y="8528342"/>
                <a:ext cx="1049133" cy="49244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7E57538A-BE39-FCC6-FE38-1C96B7E5AE16}"/>
              </a:ext>
            </a:extLst>
          </p:cNvPr>
          <p:cNvSpPr txBox="1"/>
          <p:nvPr/>
        </p:nvSpPr>
        <p:spPr>
          <a:xfrm>
            <a:off x="15028585" y="3822552"/>
            <a:ext cx="9355415" cy="1323439"/>
          </a:xfrm>
          <a:prstGeom prst="rect">
            <a:avLst/>
          </a:prstGeom>
          <a:noFill/>
          <a:ln w="38100" cap="flat">
            <a:solidFill>
              <a:srgbClr val="9E2D28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buNone/>
            </a:pPr>
            <a:r>
              <a:rPr lang="en-GB" sz="4000" b="1">
                <a:solidFill>
                  <a:schemeClr val="accent5">
                    <a:lumMod val="50000"/>
                  </a:schemeClr>
                </a:solidFill>
              </a:rPr>
              <a:t>[40461/60461] - How would you solve an adsorption model?</a:t>
            </a:r>
            <a:endParaRPr lang="en-GB" sz="400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1A7102-3726-AAF0-27C3-02231D7BF98F}"/>
              </a:ext>
            </a:extLst>
          </p:cNvPr>
          <p:cNvSpPr txBox="1"/>
          <p:nvPr/>
        </p:nvSpPr>
        <p:spPr>
          <a:xfrm>
            <a:off x="15028584" y="5680653"/>
            <a:ext cx="9355415" cy="1323439"/>
          </a:xfrm>
          <a:prstGeom prst="rect">
            <a:avLst/>
          </a:prstGeom>
          <a:noFill/>
          <a:ln w="38100" cap="flat">
            <a:solidFill>
              <a:srgbClr val="9E2D28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buNone/>
            </a:pPr>
            <a:r>
              <a:rPr lang="en-GB" sz="4000" b="1">
                <a:solidFill>
                  <a:schemeClr val="accent5">
                    <a:lumMod val="50000"/>
                  </a:schemeClr>
                </a:solidFill>
              </a:rPr>
              <a:t>[40441/60441] - How would you solve a crystallization model?</a:t>
            </a:r>
            <a:endParaRPr lang="en-GB" sz="400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3952861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454B7-5AF6-33C7-E948-1584A28CD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>
            <a:extLst>
              <a:ext uri="{FF2B5EF4-FFF2-40B4-BE49-F238E27FC236}">
                <a16:creationId xmlns:a16="http://schemas.microsoft.com/office/drawing/2014/main" id="{8717648A-55F1-F553-15C4-F6B2133AD455}"/>
              </a:ext>
            </a:extLst>
          </p:cNvPr>
          <p:cNvSpPr txBox="1">
            <a:spLocks/>
          </p:cNvSpPr>
          <p:nvPr/>
        </p:nvSpPr>
        <p:spPr>
          <a:xfrm>
            <a:off x="5691630" y="5214938"/>
            <a:ext cx="13000739" cy="10582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t">
            <a:normAutofit/>
          </a:bodyPr>
          <a:lstStyle>
            <a:lvl1pPr marL="0" marR="0" indent="0" algn="r" defTabSz="1357312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1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algn="ctr" hangingPunct="1"/>
            <a:r>
              <a:rPr lang="en-US"/>
              <a:t>Break</a:t>
            </a:r>
          </a:p>
        </p:txBody>
      </p:sp>
      <p:sp>
        <p:nvSpPr>
          <p:cNvPr id="4" name="Authors…">
            <a:extLst>
              <a:ext uri="{FF2B5EF4-FFF2-40B4-BE49-F238E27FC236}">
                <a16:creationId xmlns:a16="http://schemas.microsoft.com/office/drawing/2014/main" id="{D7FBBD61-8C2F-4CEF-E4A8-F7767477A0E5}"/>
              </a:ext>
            </a:extLst>
          </p:cNvPr>
          <p:cNvSpPr txBox="1">
            <a:spLocks/>
          </p:cNvSpPr>
          <p:nvPr/>
        </p:nvSpPr>
        <p:spPr>
          <a:xfrm>
            <a:off x="10684170" y="6438014"/>
            <a:ext cx="3015659" cy="8399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71437" tIns="71437" rIns="71437" bIns="71437">
            <a:normAutofit/>
          </a:bodyPr>
          <a:lstStyle>
            <a:lvl1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lvl="2" indent="0" algn="ctr" defTabSz="1357312" hangingPunct="1">
              <a:defRPr sz="3200" b="0">
                <a:solidFill>
                  <a:srgbClr val="FFFFFF"/>
                </a:solidFill>
              </a:defRPr>
            </a:pPr>
            <a:r>
              <a:rPr lang="en-GB" sz="3200" b="0">
                <a:solidFill>
                  <a:srgbClr val="FFFFFF"/>
                </a:solidFill>
              </a:rPr>
              <a:t>(~10 minutes)</a:t>
            </a:r>
          </a:p>
        </p:txBody>
      </p:sp>
    </p:spTree>
    <p:extLst>
      <p:ext uri="{BB962C8B-B14F-4D97-AF65-F5344CB8AC3E}">
        <p14:creationId xmlns:p14="http://schemas.microsoft.com/office/powerpoint/2010/main" val="812562042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3853216F-12AC-F658-6C64-7F9E9A7497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9777" b="16031"/>
          <a:stretch>
            <a:fillRect/>
          </a:stretch>
        </p:blipFill>
        <p:spPr>
          <a:xfrm>
            <a:off x="2003854" y="4300150"/>
            <a:ext cx="7772400" cy="7438767"/>
          </a:xfrm>
          <a:prstGeom prst="rect">
            <a:avLst/>
          </a:prstGeom>
        </p:spPr>
      </p:pic>
      <p:sp>
        <p:nvSpPr>
          <p:cNvPr id="4" name="Title Text">
            <a:extLst>
              <a:ext uri="{FF2B5EF4-FFF2-40B4-BE49-F238E27FC236}">
                <a16:creationId xmlns:a16="http://schemas.microsoft.com/office/drawing/2014/main" id="{BE9C6322-E478-6E07-A7D9-A3201AED455B}"/>
              </a:ext>
            </a:extLst>
          </p:cNvPr>
          <p:cNvSpPr txBox="1">
            <a:spLocks/>
          </p:cNvSpPr>
          <p:nvPr/>
        </p:nvSpPr>
        <p:spPr>
          <a:xfrm>
            <a:off x="5691630" y="1977083"/>
            <a:ext cx="13000739" cy="10582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t">
            <a:normAutofit/>
          </a:bodyPr>
          <a:lstStyle>
            <a:lvl1pPr marL="0" marR="0" indent="0" algn="r" defTabSz="1357312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1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algn="ctr" hangingPunct="1"/>
            <a:r>
              <a:rPr lang="en-US"/>
              <a:t>Workshop Hackathon</a:t>
            </a:r>
          </a:p>
        </p:txBody>
      </p:sp>
      <p:sp>
        <p:nvSpPr>
          <p:cNvPr id="5" name="Authors…">
            <a:extLst>
              <a:ext uri="{FF2B5EF4-FFF2-40B4-BE49-F238E27FC236}">
                <a16:creationId xmlns:a16="http://schemas.microsoft.com/office/drawing/2014/main" id="{5C50503A-19DF-6694-2072-77AF45E314F9}"/>
              </a:ext>
            </a:extLst>
          </p:cNvPr>
          <p:cNvSpPr txBox="1">
            <a:spLocks/>
          </p:cNvSpPr>
          <p:nvPr/>
        </p:nvSpPr>
        <p:spPr>
          <a:xfrm>
            <a:off x="11343503" y="4300149"/>
            <a:ext cx="11936627" cy="74387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71437" tIns="71437" rIns="71437" bIns="71437">
            <a:normAutofit/>
          </a:bodyPr>
          <a:lstStyle>
            <a:lvl1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lvl="2" indent="0" defTabSz="1357312" hangingPunct="1">
              <a:defRPr sz="3200" b="0">
                <a:solidFill>
                  <a:srgbClr val="FFFFFF"/>
                </a:solidFill>
              </a:defRPr>
            </a:pPr>
            <a:r>
              <a:rPr lang="en-GB" sz="3200">
                <a:solidFill>
                  <a:srgbClr val="FFFFFF"/>
                </a:solidFill>
              </a:rPr>
              <a:t>Goal: use your model to perform a sensitivity analysis on any variable of your choice</a:t>
            </a:r>
          </a:p>
          <a:p>
            <a:pPr lvl="2" indent="0" defTabSz="1357312" hangingPunct="1">
              <a:defRPr sz="3200" b="0">
                <a:solidFill>
                  <a:srgbClr val="FFFFFF"/>
                </a:solidFill>
              </a:defRPr>
            </a:pPr>
            <a:endParaRPr lang="en-GB" sz="3200" b="0">
              <a:solidFill>
                <a:srgbClr val="FFFFFF"/>
              </a:solidFill>
            </a:endParaRPr>
          </a:p>
          <a:p>
            <a:pPr lvl="2" indent="0" defTabSz="1357312" hangingPunct="1">
              <a:defRPr sz="3200" b="0">
                <a:solidFill>
                  <a:srgbClr val="FFFFFF"/>
                </a:solidFill>
              </a:defRPr>
            </a:pPr>
            <a:r>
              <a:rPr lang="en-GB" sz="3200">
                <a:solidFill>
                  <a:srgbClr val="FFFFFF"/>
                </a:solidFill>
              </a:rPr>
              <a:t>Time limit:</a:t>
            </a:r>
            <a:r>
              <a:rPr lang="en-GB" sz="3200" b="0">
                <a:solidFill>
                  <a:srgbClr val="FFFFFF"/>
                </a:solidFill>
              </a:rPr>
              <a:t> 50 minutes</a:t>
            </a:r>
          </a:p>
          <a:p>
            <a:pPr lvl="2" indent="0" defTabSz="1357312" hangingPunct="1">
              <a:defRPr sz="3200" b="0">
                <a:solidFill>
                  <a:srgbClr val="FFFFFF"/>
                </a:solidFill>
              </a:defRPr>
            </a:pPr>
            <a:endParaRPr lang="en-GB" sz="3200" b="0">
              <a:solidFill>
                <a:srgbClr val="FFFFFF"/>
              </a:solidFill>
            </a:endParaRPr>
          </a:p>
          <a:p>
            <a:pPr lvl="2" indent="0" defTabSz="1357312" hangingPunct="1">
              <a:defRPr sz="3200" b="0">
                <a:solidFill>
                  <a:srgbClr val="FFFFFF"/>
                </a:solidFill>
              </a:defRPr>
            </a:pPr>
            <a:r>
              <a:rPr lang="en-GB" sz="3200" b="0">
                <a:solidFill>
                  <a:srgbClr val="FFFFFF"/>
                </a:solidFill>
              </a:rPr>
              <a:t>Deliverables:</a:t>
            </a:r>
          </a:p>
          <a:p>
            <a:pPr marL="457200" lvl="2" indent="-457200" defTabSz="1357312" hangingPunct="1">
              <a:buFont typeface="Arial" panose="020B0604020202020204" pitchFamily="34" charset="0"/>
              <a:buChar char="•"/>
              <a:defRPr sz="3200" b="0">
                <a:solidFill>
                  <a:srgbClr val="FFFFFF"/>
                </a:solidFill>
              </a:defRPr>
            </a:pPr>
            <a:r>
              <a:rPr lang="en-GB" sz="3200" b="0">
                <a:solidFill>
                  <a:srgbClr val="FFFFFF"/>
                </a:solidFill>
              </a:rPr>
              <a:t>1 slide containing a single figure summarizing your findings</a:t>
            </a:r>
          </a:p>
          <a:p>
            <a:pPr marL="457200" lvl="2" indent="-457200" defTabSz="1357312" hangingPunct="1">
              <a:buFont typeface="Arial" panose="020B0604020202020204" pitchFamily="34" charset="0"/>
              <a:buChar char="•"/>
              <a:defRPr sz="3200" b="0">
                <a:solidFill>
                  <a:srgbClr val="FFFFFF"/>
                </a:solidFill>
              </a:defRPr>
            </a:pPr>
            <a:r>
              <a:rPr lang="en-GB" sz="3200" b="0">
                <a:solidFill>
                  <a:srgbClr val="FFFFFF"/>
                </a:solidFill>
              </a:rPr>
              <a:t>1-minute presentation explaining what you learned</a:t>
            </a:r>
          </a:p>
          <a:p>
            <a:pPr marL="457200" lvl="2" indent="-457200" defTabSz="1357312" hangingPunct="1">
              <a:buFontTx/>
              <a:buChar char="-"/>
              <a:defRPr sz="3200" b="0">
                <a:solidFill>
                  <a:srgbClr val="FFFFFF"/>
                </a:solidFill>
              </a:defRPr>
            </a:pPr>
            <a:endParaRPr lang="en-GB" sz="3200" b="0">
              <a:solidFill>
                <a:srgbClr val="FFFFFF"/>
              </a:solidFill>
            </a:endParaRPr>
          </a:p>
          <a:p>
            <a:pPr lvl="2" indent="0" defTabSz="1357312" hangingPunct="1">
              <a:defRPr sz="3200" b="0">
                <a:solidFill>
                  <a:srgbClr val="FFFFFF"/>
                </a:solidFill>
              </a:defRPr>
            </a:pPr>
            <a:r>
              <a:rPr lang="en-GB" sz="3200" b="0">
                <a:solidFill>
                  <a:srgbClr val="FFFFFF"/>
                </a:solidFill>
              </a:rPr>
              <a:t>Assessment: Ashwin and GTAs</a:t>
            </a:r>
          </a:p>
          <a:p>
            <a:pPr lvl="2" indent="0" defTabSz="1357312" hangingPunct="1">
              <a:defRPr sz="3200" b="0">
                <a:solidFill>
                  <a:srgbClr val="FFFFFF"/>
                </a:solidFill>
              </a:defRPr>
            </a:pPr>
            <a:endParaRPr lang="en-GB" sz="3200" b="0">
              <a:solidFill>
                <a:srgbClr val="FFFFFF"/>
              </a:solidFill>
            </a:endParaRPr>
          </a:p>
          <a:p>
            <a:pPr lvl="2" indent="0" defTabSz="1357312" hangingPunct="1">
              <a:defRPr sz="3200" b="0">
                <a:solidFill>
                  <a:srgbClr val="FFFFFF"/>
                </a:solidFill>
              </a:defRPr>
            </a:pPr>
            <a:r>
              <a:rPr lang="en-GB" sz="3200" b="0">
                <a:solidFill>
                  <a:srgbClr val="FFFFFF"/>
                </a:solidFill>
              </a:rPr>
              <a:t>A small prize🤩</a:t>
            </a:r>
          </a:p>
        </p:txBody>
      </p:sp>
    </p:spTree>
    <p:extLst>
      <p:ext uri="{BB962C8B-B14F-4D97-AF65-F5344CB8AC3E}">
        <p14:creationId xmlns:p14="http://schemas.microsoft.com/office/powerpoint/2010/main" val="3354945484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822967"/>
      </p:ext>
    </p:extLst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6.2167"/>
  <p:tag name="ORIGINALWIDTH" val="2608.174"/>
  <p:tag name="OUTPUTTYPE" val="PNG"/>
  <p:tag name="IGUANATEXVERSION" val="160"/>
  <p:tag name="LATEXADDIN" val="\documentclass{article}&#10;\usepackage{amsmath}&#10;\pagestyle{empty}&#10;\begin{document}&#10;\begin{equation}&#10;\frac{\partial f(L,t)}{\partial t} = -G(L,t) \frac{\partial f(L,t)}{\partial L} + B(L,t) - D(L,t)&#10;\nonumber&#10;\end{equation}&#10;&#10;\end{document}"/>
  <p:tag name="IGUANATEXSIZE" val="30"/>
  <p:tag name="IGUANATEXCURSOR" val="175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9.2126"/>
  <p:tag name="ORIGINALWIDTH" val="2602.175"/>
  <p:tag name="OUTPUTTYPE" val="PNG"/>
  <p:tag name="IGUANATEXVERSION" val="160"/>
  <p:tag name="LATEXADDIN" val="\documentclass{article}&#10;\usepackage{amsmath}&#10;\pagestyle{empty}&#10;\begin{document}&#10;\begin{equation}&#10;\frac{\partial}{\partial z} \left( \epsilon_b D_j \frac{\partial c_j}{\partial z} \right) - \frac{\partial \epsilon_b v c_j}{\partial z} = \epsilon_b \frac{\partial c_j}{\partial t} + (1 - \epsilon_b) \frac{\partial n_j}{\partial t}&#10;\nonumber&#10;\end{equation}&#10;&#10;\end{document}"/>
  <p:tag name="IGUANATEXSIZE" val="30"/>
  <p:tag name="IGUANATEXCURSOR" val="158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9.2126"/>
  <p:tag name="ORIGINALWIDTH" val="2047.244"/>
  <p:tag name="OUTPUTTYPE" val="PNG"/>
  <p:tag name="IGUANATEXVERSION" val="160"/>
  <p:tag name="LATEXADDIN" val="\documentclass{article}&#10;\usepackage{amsmath}&#10;\pagestyle{empty}&#10;\begin{document}&#10;\begin{equation}&#10; \rho \left( \frac{\partial \mathbf{v}}{\partial t} + \mathbf{v} \cdot \nabla \mathbf{v} \right) = -\nabla p + \mu \nabla^2 \mathbf{v} + \mathbf{f}&#10;\nonumber&#10;\end{equation}&#10;&#10;\end{document}"/>
  <p:tag name="IGUANATEXSIZE" val="30"/>
  <p:tag name="IGUANATEXCURSOR" val="244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1.7173"/>
  <p:tag name="ORIGINALWIDTH" val="1784.027"/>
  <p:tag name="OUTPUTTYPE" val="PNG"/>
  <p:tag name="IGUANATEXVERSION" val="160"/>
  <p:tag name="LATEXADDIN" val="\documentclass{article}&#10;\usepackage{amsmath}&#10;\pagestyle{empty}&#10;\begin{document}&#10;\begin{equation}&#10;\rho c_p \frac{\partial T}{\partial t} + \rho c_p \mathbf{v} \cdot \nabla T = k \nabla^2 T + Q&#10;\nonumber&#10;\end{equation}&#10;&#10;\end{document}"/>
  <p:tag name="IGUANATEXSIZE" val="30"/>
  <p:tag name="IGUANATEXCURSOR" val="102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9.2126"/>
  <p:tag name="ORIGINALWIDTH" val="2602.175"/>
  <p:tag name="OUTPUTTYPE" val="PNG"/>
  <p:tag name="IGUANATEXVERSION" val="160"/>
  <p:tag name="LATEXADDIN" val="\documentclass{article}&#10;\usepackage{amsmath}&#10;\pagestyle{empty}&#10;\begin{document}&#10;\begin{equation}&#10;\frac{\partial}{\partial z} \left( \epsilon_b D_j \frac{\partial c_j}{\partial z} \right) - \frac{\partial \epsilon_b v c_j}{\partial z} = \epsilon_b \frac{\partial c_j}{\partial t} + (1 - \epsilon_b) \frac{\partial n_j}{\partial t}&#10;\nonumber&#10;\end{equation}&#10;&#10;\end{document}"/>
  <p:tag name="IGUANATEXSIZE" val="30"/>
  <p:tag name="IGUANATEXCURSOR" val="158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9.2126"/>
  <p:tag name="ORIGINALWIDTH" val="2047.244"/>
  <p:tag name="OUTPUTTYPE" val="PNG"/>
  <p:tag name="IGUANATEXVERSION" val="160"/>
  <p:tag name="LATEXADDIN" val="\documentclass{article}&#10;\usepackage{amsmath}&#10;\pagestyle{empty}&#10;\begin{document}&#10;\begin{equation}&#10; \rho \left( \frac{\partial \mathbf{v}}{\partial t} + \mathbf{v} \cdot \nabla \mathbf{v} \right) = -\nabla p + \mu \nabla^2 \mathbf{v} + \mathbf{f}&#10;\nonumber&#10;\end{equation}&#10;&#10;\end{document}"/>
  <p:tag name="IGUANATEXSIZE" val="30"/>
  <p:tag name="IGUANATEXCURSOR" val="244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1.7173"/>
  <p:tag name="ORIGINALWIDTH" val="1784.027"/>
  <p:tag name="OUTPUTTYPE" val="PNG"/>
  <p:tag name="IGUANATEXVERSION" val="160"/>
  <p:tag name="LATEXADDIN" val="\documentclass{article}&#10;\usepackage{amsmath}&#10;\pagestyle{empty}&#10;\begin{document}&#10;\begin{equation}&#10;\rho c_p \frac{\partial T}{\partial t} + \rho c_p \mathbf{v} \cdot \nabla T = k \nabla^2 T + Q&#10;\nonumber&#10;\end{equation}&#10;&#10;\end{document}"/>
  <p:tag name="IGUANATEXSIZE" val="30"/>
  <p:tag name="IGUANATEXCURSOR" val="102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6.2167"/>
  <p:tag name="ORIGINALWIDTH" val="2608.174"/>
  <p:tag name="OUTPUTTYPE" val="PNG"/>
  <p:tag name="IGUANATEXVERSION" val="160"/>
  <p:tag name="LATEXADDIN" val="\documentclass{article}&#10;\usepackage{amsmath}&#10;\pagestyle{empty}&#10;\begin{document}&#10;\begin{equation}&#10;\frac{\partial f(L,t)}{\partial t} = -G(L,t) \frac{\partial f(L,t)}{\partial L} + B(L,t) - D(L,t)&#10;\nonumber&#10;\end{equation}&#10;&#10;\end{document}"/>
  <p:tag name="IGUANATEXSIZE" val="30"/>
  <p:tag name="IGUANATEXCURSOR" val="175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9.2126"/>
  <p:tag name="ORIGINALWIDTH" val="2602.175"/>
  <p:tag name="OUTPUTTYPE" val="PNG"/>
  <p:tag name="IGUANATEXVERSION" val="160"/>
  <p:tag name="LATEXADDIN" val="\documentclass{article}&#10;\usepackage{amsmath}&#10;\pagestyle{empty}&#10;\begin{document}&#10;\begin{equation}&#10;\frac{\partial}{\partial z} \left( \epsilon_b D_j \frac{\partial c_j}{\partial z} \right) - \frac{\partial \epsilon_b v c_j}{\partial z} = \epsilon_b \frac{\partial c_j}{\partial t} + (1 - \epsilon_b) \frac{\partial n_j}{\partial t}&#10;\nonumber&#10;\end{equation}&#10;&#10;\end{document}"/>
  <p:tag name="IGUANATEXSIZE" val="30"/>
  <p:tag name="IGUANATEXCURSOR" val="158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6.2167"/>
  <p:tag name="ORIGINALWIDTH" val="2608.174"/>
  <p:tag name="OUTPUTTYPE" val="PNG"/>
  <p:tag name="IGUANATEXVERSION" val="160"/>
  <p:tag name="LATEXADDIN" val="\documentclass{article}&#10;\usepackage{amsmath}&#10;\pagestyle{empty}&#10;\begin{document}&#10;\begin{equation}&#10;\frac{\partial f(L,t)}{\partial t} = -G(L,t) \frac{\partial f(L,t)}{\partial L} + B(L,t) - D(L,t)&#10;\nonumber&#10;\end{equation}&#10;&#10;\end{document}"/>
  <p:tag name="IGUANATEXSIZE" val="30"/>
  <p:tag name="IGUANATEXCURSOR" val="175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9.73756"/>
  <p:tag name="ORIGINALWIDTH" val="389.9513"/>
  <p:tag name="OUTPUTTYPE" val="PNG"/>
  <p:tag name="IGUANATEXVERSION" val="160"/>
  <p:tag name="LATEXADDIN" val="\documentclass{article}&#10;\usepackage{amsmath}&#10;\pagestyle{empty}&#10;\begin{document}&#10;\begin{equation}&#10;x+\Delta x&#10;\nonumber&#10;\end{equation}&#10;&#10;\end{document}"/>
  <p:tag name="IGUANATEXSIZE" val="30"/>
  <p:tag name="IGUANATEXCURSOR" val="107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6.24299"/>
  <p:tag name="ORIGINALWIDTH" val="62.99213"/>
  <p:tag name="OUTPUTTYPE" val="PNG"/>
  <p:tag name="IGUANATEXVERSION" val="160"/>
  <p:tag name="LATEXADDIN" val="\documentclass{article}&#10;\usepackage{amsmath}&#10;\pagestyle{empty}&#10;\begin{document}&#10;\begin{equation}&#10;x&#10;\nonumber&#10;\end{equation}&#10;&#10;\end{document}"/>
  <p:tag name="IGUANATEXSIZE" val="30"/>
  <p:tag name="IGUANATEXCURSOR" val="98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43.7195"/>
  <p:tag name="ORIGINALWIDTH" val="2617.923"/>
  <p:tag name="OUTPUTTYPE" val="PNG"/>
  <p:tag name="IGUANATEXVERSION" val="160"/>
  <p:tag name="LATEXADDIN" val="\documentclass{article}&#10;\usepackage{amsmath}&#10;\pagestyle{empty}&#10;\begin{document}&#10;\begin{equation}&#10; A \Delta x c \Big|_{t + \Delta t} -  A \Delta x  c \Big|_t=A v c \Big|_{x} \Delta t-A v c \Big|_{x + \Delta x} \Delta t&#10;\nonumber&#10;\end{equation}&#10;&#10;\end{document}"/>
  <p:tag name="IGUANATEXSIZE" val="30"/>
  <p:tag name="IGUANATEXCURSOR" val="183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9.73756"/>
  <p:tag name="ORIGINALWIDTH" val="389.9513"/>
  <p:tag name="OUTPUTTYPE" val="PNG"/>
  <p:tag name="IGUANATEXVERSION" val="160"/>
  <p:tag name="LATEXADDIN" val="\documentclass{article}&#10;\usepackage{amsmath}&#10;\pagestyle{empty}&#10;\begin{document}&#10;\begin{equation}&#10;x+\Delta x&#10;\nonumber&#10;\end{equation}&#10;&#10;\end{document}"/>
  <p:tag name="IGUANATEXSIZE" val="30"/>
  <p:tag name="IGUANATEXCURSOR" val="107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6.24299"/>
  <p:tag name="ORIGINALWIDTH" val="62.99213"/>
  <p:tag name="OUTPUTTYPE" val="PNG"/>
  <p:tag name="IGUANATEXVERSION" val="160"/>
  <p:tag name="LATEXADDIN" val="\documentclass{article}&#10;\usepackage{amsmath}&#10;\pagestyle{empty}&#10;\begin{document}&#10;\begin{equation}&#10;x&#10;\nonumber&#10;\end{equation}&#10;&#10;\end{document}"/>
  <p:tag name="IGUANATEXSIZE" val="30"/>
  <p:tag name="IGUANATEXCURSOR" val="98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43.7195"/>
  <p:tag name="ORIGINALWIDTH" val="2617.923"/>
  <p:tag name="OUTPUTTYPE" val="PNG"/>
  <p:tag name="IGUANATEXVERSION" val="160"/>
  <p:tag name="LATEXADDIN" val="\documentclass{article}&#10;\usepackage{amsmath}&#10;\pagestyle{empty}&#10;\begin{document}&#10;\begin{equation}&#10; A \Delta x c \Big|_{t + \Delta t} -  A \Delta x  c \Big|_t=A v c \Big|_{x} \Delta t-A v c \Big|_{x + \Delta x} \Delta t&#10;\nonumber&#10;\end{equation}&#10;&#10;\end{document}"/>
  <p:tag name="IGUANATEXSIZE" val="30"/>
  <p:tag name="IGUANATEXCURSOR" val="183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9.4526"/>
  <p:tag name="ORIGINALWIDTH" val="2760.405"/>
  <p:tag name="OUTPUTTYPE" val="PNG"/>
  <p:tag name="IGUANATEXVERSION" val="160"/>
  <p:tag name="LATEXADDIN" val="\documentclass{article}&#10;\usepackage{amsmath}&#10;\pagestyle{empty}&#10;\begin{document}&#10;\begin{equation}&#10;\frac{ A \Delta x c_j \Big|_{t + \Delta t} - A \Delta x  c_j \Big|_t}{A \Delta x \Delta t}&#10;=\frac{A v c \Big|_x \Delta t - A v c \Big|_{x + \Delta x} \Delta t}{A \Delta x \Delta t} &#10;\nonumber&#10;\end{equation}&#10;&#10;\end{document}"/>
  <p:tag name="IGUANATEXSIZE" val="30"/>
  <p:tag name="IGUANATEXCURSOR" val="221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408.6989"/>
  <p:tag name="OUTPUTTYPE" val="PNG"/>
  <p:tag name="IGUANATEXVERSION" val="160"/>
  <p:tag name="LATEXADDIN" val="\documentclass{article}&#10;\usepackage{amsmath}&#10;\pagestyle{empty}&#10;\begin{document}&#10;\begin{equation}&#10;A\Delta x \Delta t&#10;\nonumber&#10;\end{equation}&#10;&#10;\end{document}"/>
  <p:tag name="IGUANATEXSIZE" val="30"/>
  <p:tag name="IGUANATEXCURSOR" val="156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9.73756"/>
  <p:tag name="ORIGINALWIDTH" val="389.9513"/>
  <p:tag name="OUTPUTTYPE" val="PNG"/>
  <p:tag name="IGUANATEXVERSION" val="160"/>
  <p:tag name="LATEXADDIN" val="\documentclass{article}&#10;\usepackage{amsmath}&#10;\pagestyle{empty}&#10;\begin{document}&#10;\begin{equation}&#10;x+\Delta x&#10;\nonumber&#10;\end{equation}&#10;&#10;\end{document}"/>
  <p:tag name="IGUANATEXSIZE" val="30"/>
  <p:tag name="IGUANATEXCURSOR" val="107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6.24299"/>
  <p:tag name="ORIGINALWIDTH" val="62.99213"/>
  <p:tag name="OUTPUTTYPE" val="PNG"/>
  <p:tag name="IGUANATEXVERSION" val="160"/>
  <p:tag name="LATEXADDIN" val="\documentclass{article}&#10;\usepackage{amsmath}&#10;\pagestyle{empty}&#10;\begin{document}&#10;\begin{equation}&#10;x&#10;\nonumber&#10;\end{equation}&#10;&#10;\end{document}"/>
  <p:tag name="IGUANATEXSIZE" val="30"/>
  <p:tag name="IGUANATEXCURSOR" val="98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43.7195"/>
  <p:tag name="ORIGINALWIDTH" val="2617.923"/>
  <p:tag name="OUTPUTTYPE" val="PNG"/>
  <p:tag name="IGUANATEXVERSION" val="160"/>
  <p:tag name="LATEXADDIN" val="\documentclass{article}&#10;\usepackage{amsmath}&#10;\pagestyle{empty}&#10;\begin{document}&#10;\begin{equation}&#10; A \Delta x c \Big|_{t + \Delta t} -  A \Delta x  c \Big|_t=A v c \Big|_{x} \Delta t-A v c \Big|_{x + \Delta x} \Delta t&#10;\nonumber&#10;\end{equation}&#10;&#10;\end{document}"/>
  <p:tag name="IGUANATEXSIZE" val="30"/>
  <p:tag name="IGUANATEXCURSOR" val="183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9.4526"/>
  <p:tag name="ORIGINALWIDTH" val="2760.405"/>
  <p:tag name="OUTPUTTYPE" val="PNG"/>
  <p:tag name="IGUANATEXVERSION" val="160"/>
  <p:tag name="LATEXADDIN" val="\documentclass{article}&#10;\usepackage{amsmath}&#10;\pagestyle{empty}&#10;\begin{document}&#10;\begin{equation}&#10;\frac{ A \Delta x c_j \Big|_{t + \Delta t} - A \Delta x  c_j \Big|_t}{A \Delta x \Delta t}&#10;=\frac{A v c \Big|_x \Delta t - A v c \Big|_{x + \Delta x} \Delta t}{A \Delta x \Delta t} &#10;\nonumber&#10;\end{equation}&#10;&#10;\end{document}"/>
  <p:tag name="IGUANATEXSIZE" val="30"/>
  <p:tag name="IGUANATEXCURSOR" val="221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408.6989"/>
  <p:tag name="OUTPUTTYPE" val="PNG"/>
  <p:tag name="IGUANATEXVERSION" val="160"/>
  <p:tag name="LATEXADDIN" val="\documentclass{article}&#10;\usepackage{amsmath}&#10;\pagestyle{empty}&#10;\begin{document}&#10;\begin{equation}&#10;A\Delta x \Delta t&#10;\nonumber&#10;\end{equation}&#10;&#10;\end{document}"/>
  <p:tag name="IGUANATEXSIZE" val="30"/>
  <p:tag name="IGUANATEXCURSOR" val="156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91.2261"/>
  <p:tag name="ORIGINALWIDTH" val="719.1601"/>
  <p:tag name="OUTPUTTYPE" val="PNG"/>
  <p:tag name="IGUANATEXVERSION" val="160"/>
  <p:tag name="LATEXADDIN" val="\documentclass{article}&#10;\usepackage{amsmath}&#10;\pagestyle{empty}&#10;\begin{document}&#10;\begin{equation}&#10;\lim_{\Delta t \to 0, \Delta x \to 0} \left( \cdot \right)&#10;\nonumber&#10;\end{equation}&#10;&#10;\end{document}"/>
  <p:tag name="IGUANATEXSIZE" val="30"/>
  <p:tag name="IGUANATEXCURSOR" val="127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1.7173"/>
  <p:tag name="ORIGINALWIDTH" val="611.9235"/>
  <p:tag name="OUTPUTTYPE" val="PNG"/>
  <p:tag name="IGUANATEXVERSION" val="160"/>
  <p:tag name="LATEXADDIN" val="\documentclass{article}&#10;\usepackage{amsmath}&#10;\pagestyle{empty}&#10;\begin{document}&#10;\begin{equation}&#10; \frac{\partial c}{\partial t}=-\frac{\partial v c}{\partial x}&#10;\nonumber&#10;\end{equation}&#10;&#10;\end{document}"/>
  <p:tag name="IGUANATEXSIZE" val="30"/>
  <p:tag name="IGUANATEXCURSOR" val="144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1.7173"/>
  <p:tag name="ORIGINALWIDTH" val="628.4214"/>
  <p:tag name="OUTPUTTYPE" val="PNG"/>
  <p:tag name="IGUANATEXVERSION" val="160"/>
  <p:tag name="LATEXADDIN" val="\documentclass{article}&#10;\usepackage{amsmath}&#10;\pagestyle{empty}&#10;\begin{document}&#10;\begin{equation}&#10;\frac{\partial c}{\partial t}=-v\frac{\partial c}{\partial x}&#10;\nonumber&#10;\end{equation}&#10;&#10;\end{document}"/>
  <p:tag name="IGUANATEXSIZE" val="30"/>
  <p:tag name="IGUANATEXCURSOR" val="146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9.73756"/>
  <p:tag name="ORIGINALWIDTH" val="389.9513"/>
  <p:tag name="OUTPUTTYPE" val="PNG"/>
  <p:tag name="IGUANATEXVERSION" val="160"/>
  <p:tag name="LATEXADDIN" val="\documentclass{article}&#10;\usepackage{amsmath}&#10;\pagestyle{empty}&#10;\begin{document}&#10;\begin{equation}&#10;x+\Delta x&#10;\nonumber&#10;\end{equation}&#10;&#10;\end{document}"/>
  <p:tag name="IGUANATEXSIZE" val="30"/>
  <p:tag name="IGUANATEXCURSOR" val="107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6.24299"/>
  <p:tag name="ORIGINALWIDTH" val="62.99213"/>
  <p:tag name="OUTPUTTYPE" val="PNG"/>
  <p:tag name="IGUANATEXVERSION" val="160"/>
  <p:tag name="LATEXADDIN" val="\documentclass{article}&#10;\usepackage{amsmath}&#10;\pagestyle{empty}&#10;\begin{document}&#10;\begin{equation}&#10;x&#10;\nonumber&#10;\end{equation}&#10;&#10;\end{document}"/>
  <p:tag name="IGUANATEXSIZE" val="30"/>
  <p:tag name="IGUANATEXCURSOR" val="98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43.7195"/>
  <p:tag name="ORIGINALWIDTH" val="2617.923"/>
  <p:tag name="OUTPUTTYPE" val="PNG"/>
  <p:tag name="IGUANATEXVERSION" val="160"/>
  <p:tag name="LATEXADDIN" val="\documentclass{article}&#10;\usepackage{amsmath}&#10;\pagestyle{empty}&#10;\begin{document}&#10;\begin{equation}&#10; A \Delta x c \Big|_{t + \Delta t} -  A \Delta x  c \Big|_t=A v c \Big|_{x} \Delta t-A v c \Big|_{x + \Delta x} \Delta t&#10;\nonumber&#10;\end{equation}&#10;&#10;\end{document}"/>
  <p:tag name="IGUANATEXSIZE" val="30"/>
  <p:tag name="IGUANATEXCURSOR" val="183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9.4526"/>
  <p:tag name="ORIGINALWIDTH" val="2760.405"/>
  <p:tag name="OUTPUTTYPE" val="PNG"/>
  <p:tag name="IGUANATEXVERSION" val="160"/>
  <p:tag name="LATEXADDIN" val="\documentclass{article}&#10;\usepackage{amsmath}&#10;\pagestyle{empty}&#10;\begin{document}&#10;\begin{equation}&#10;\frac{ A \Delta x c_j \Big|_{t + \Delta t} - A \Delta x  c_j \Big|_t}{A \Delta x \Delta t}&#10;=\frac{A v c \Big|_x \Delta t - A v c \Big|_{x + \Delta x} \Delta t}{A \Delta x \Delta t} &#10;\nonumber&#10;\end{equation}&#10;&#10;\end{document}"/>
  <p:tag name="IGUANATEXSIZE" val="30"/>
  <p:tag name="IGUANATEXCURSOR" val="221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408.6989"/>
  <p:tag name="OUTPUTTYPE" val="PNG"/>
  <p:tag name="IGUANATEXVERSION" val="160"/>
  <p:tag name="LATEXADDIN" val="\documentclass{article}&#10;\usepackage{amsmath}&#10;\pagestyle{empty}&#10;\begin{document}&#10;\begin{equation}&#10;A\Delta x \Delta t&#10;\nonumber&#10;\end{equation}&#10;&#10;\end{document}"/>
  <p:tag name="IGUANATEXSIZE" val="30"/>
  <p:tag name="IGUANATEXCURSOR" val="156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91.2261"/>
  <p:tag name="ORIGINALWIDTH" val="719.1601"/>
  <p:tag name="OUTPUTTYPE" val="PNG"/>
  <p:tag name="IGUANATEXVERSION" val="160"/>
  <p:tag name="LATEXADDIN" val="\documentclass{article}&#10;\usepackage{amsmath}&#10;\pagestyle{empty}&#10;\begin{document}&#10;\begin{equation}&#10;\lim_{\Delta t \to 0, \Delta x \to 0} \left( \cdot \right)&#10;\nonumber&#10;\end{equation}&#10;&#10;\end{document}"/>
  <p:tag name="IGUANATEXSIZE" val="30"/>
  <p:tag name="IGUANATEXCURSOR" val="127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1.7173"/>
  <p:tag name="ORIGINALWIDTH" val="611.9235"/>
  <p:tag name="OUTPUTTYPE" val="PNG"/>
  <p:tag name="IGUANATEXVERSION" val="160"/>
  <p:tag name="LATEXADDIN" val="\documentclass{article}&#10;\usepackage{amsmath}&#10;\pagestyle{empty}&#10;\begin{document}&#10;\begin{equation}&#10; \frac{\partial c}{\partial t}=-\frac{\partial v c}{\partial x}&#10;\nonumber&#10;\end{equation}&#10;&#10;\end{document}"/>
  <p:tag name="IGUANATEXSIZE" val="30"/>
  <p:tag name="IGUANATEXCURSOR" val="144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1.7173"/>
  <p:tag name="ORIGINALWIDTH" val="628.4214"/>
  <p:tag name="OUTPUTTYPE" val="PNG"/>
  <p:tag name="IGUANATEXVERSION" val="160"/>
  <p:tag name="LATEXADDIN" val="\documentclass{article}&#10;\usepackage{amsmath}&#10;\pagestyle{empty}&#10;\begin{document}&#10;\begin{equation}&#10;\frac{\partial c}{\partial t}=-v\frac{\partial c}{\partial x}&#10;\nonumber&#10;\end{equation}&#10;&#10;\end{document}"/>
  <p:tag name="IGUANATEXSIZE" val="30"/>
  <p:tag name="IGUANATEXCURSOR" val="146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9.73756"/>
  <p:tag name="ORIGINALWIDTH" val="389.9513"/>
  <p:tag name="OUTPUTTYPE" val="PNG"/>
  <p:tag name="IGUANATEXVERSION" val="160"/>
  <p:tag name="LATEXADDIN" val="\documentclass{article}&#10;\usepackage{amsmath}&#10;\pagestyle{empty}&#10;\begin{document}&#10;\begin{equation}&#10;x+\Delta x&#10;\nonumber&#10;\end{equation}&#10;&#10;\end{document}"/>
  <p:tag name="IGUANATEXSIZE" val="30"/>
  <p:tag name="IGUANATEXCURSOR" val="107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6.24299"/>
  <p:tag name="ORIGINALWIDTH" val="62.99213"/>
  <p:tag name="OUTPUTTYPE" val="PNG"/>
  <p:tag name="IGUANATEXVERSION" val="160"/>
  <p:tag name="LATEXADDIN" val="\documentclass{article}&#10;\usepackage{amsmath}&#10;\pagestyle{empty}&#10;\begin{document}&#10;\begin{equation}&#10;x&#10;\nonumber&#10;\end{equation}&#10;&#10;\end{document}"/>
  <p:tag name="IGUANATEXSIZE" val="30"/>
  <p:tag name="IGUANATEXCURSOR" val="98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1.7173"/>
  <p:tag name="ORIGINALWIDTH" val="628.4214"/>
  <p:tag name="OUTPUTTYPE" val="PNG"/>
  <p:tag name="IGUANATEXVERSION" val="160"/>
  <p:tag name="LATEXADDIN" val="\documentclass{article}&#10;\usepackage{amsmath}&#10;\pagestyle{empty}&#10;\begin{document}&#10;\begin{equation}&#10;\frac{\partial c}{\partial t}=-v\frac{\partial c}{\partial x}&#10;\nonumber&#10;\end{equation}&#10;&#10;\end{document}"/>
  <p:tag name="IGUANATEXSIZE" val="32"/>
  <p:tag name="IGUANATEXCURSOR" val="146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1.7173"/>
  <p:tag name="ORIGINALWIDTH" val="628.4214"/>
  <p:tag name="OUTPUTTYPE" val="PNG"/>
  <p:tag name="IGUANATEXVERSION" val="160"/>
  <p:tag name="LATEXADDIN" val="\documentclass{article}&#10;\usepackage{amsmath}&#10;\pagestyle{empty}&#10;\begin{document}&#10;\begin{equation}&#10;\frac{\partial c}{\partial t}=-v\frac{\partial c}{\partial x}&#10;\nonumber&#10;\end{equation}&#10;&#10;\end{document}"/>
  <p:tag name="IGUANATEXSIZE" val="32"/>
  <p:tag name="IGUANATEXCURSOR" val="146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1.7173"/>
  <p:tag name="ORIGINALWIDTH" val="628.4214"/>
  <p:tag name="OUTPUTTYPE" val="PNG"/>
  <p:tag name="IGUANATEXVERSION" val="160"/>
  <p:tag name="LATEXADDIN" val="\documentclass{article}&#10;\usepackage{amsmath}&#10;\pagestyle{empty}&#10;\begin{document}&#10;\begin{equation}&#10;\frac{\partial c}{\partial t}=-v\frac{\partial c}{\partial x}&#10;\nonumber&#10;\end{equation}&#10;&#10;\end{document}"/>
  <p:tag name="IGUANATEXSIZE" val="32"/>
  <p:tag name="IGUANATEXCURSOR" val="146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1.7173"/>
  <p:tag name="ORIGINALWIDTH" val="628.4214"/>
  <p:tag name="OUTPUTTYPE" val="PNG"/>
  <p:tag name="IGUANATEXVERSION" val="160"/>
  <p:tag name="LATEXADDIN" val="\documentclass{article}&#10;\usepackage{amsmath}&#10;\pagestyle{empty}&#10;\begin{document}&#10;\begin{equation}&#10;\frac{\partial c}{\partial t}=-v\frac{\partial c}{\partial x}&#10;\nonumber&#10;\end{equation}&#10;&#10;\end{document}"/>
  <p:tag name="IGUANATEXSIZE" val="32"/>
  <p:tag name="IGUANATEXCURSOR" val="146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1.7173"/>
  <p:tag name="ORIGINALWIDTH" val="628.4214"/>
  <p:tag name="OUTPUTTYPE" val="PNG"/>
  <p:tag name="IGUANATEXVERSION" val="160"/>
  <p:tag name="LATEXADDIN" val="\documentclass{article}&#10;\usepackage{amsmath}&#10;\pagestyle{empty}&#10;\begin{document}&#10;\begin{equation}&#10;\frac{\partial c}{\partial t}=-v\frac{\partial c}{\partial x}&#10;\nonumber&#10;\end{equation}&#10;&#10;\end{document}"/>
  <p:tag name="IGUANATEXSIZE" val="32"/>
  <p:tag name="IGUANATEXCURSOR" val="146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1.7173"/>
  <p:tag name="ORIGINALWIDTH" val="628.4214"/>
  <p:tag name="OUTPUTTYPE" val="PNG"/>
  <p:tag name="IGUANATEXVERSION" val="160"/>
  <p:tag name="LATEXADDIN" val="\documentclass{article}&#10;\usepackage{amsmath}&#10;\pagestyle{empty}&#10;\begin{document}&#10;\begin{equation}&#10;\frac{\partial c}{\partial t}=-v\frac{\partial c}{\partial x}&#10;\nonumber&#10;\end{equation}&#10;&#10;\end{document}"/>
  <p:tag name="IGUANATEXSIZE" val="32"/>
  <p:tag name="IGUANATEXCURSOR" val="146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1.7173"/>
  <p:tag name="ORIGINALWIDTH" val="628.4214"/>
  <p:tag name="OUTPUTTYPE" val="PNG"/>
  <p:tag name="IGUANATEXVERSION" val="160"/>
  <p:tag name="LATEXADDIN" val="\documentclass{article}&#10;\usepackage{amsmath}&#10;\pagestyle{empty}&#10;\begin{document}&#10;\begin{equation}&#10;\frac{\partial c}{\partial t}=-v\frac{\partial c}{\partial x}&#10;\nonumber&#10;\end{equation}&#10;&#10;\end{document}"/>
  <p:tag name="IGUANATEXSIZE" val="32"/>
  <p:tag name="IGUANATEXCURSOR" val="146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1.7173"/>
  <p:tag name="ORIGINALWIDTH" val="628.4214"/>
  <p:tag name="OUTPUTTYPE" val="PNG"/>
  <p:tag name="IGUANATEXVERSION" val="160"/>
  <p:tag name="LATEXADDIN" val="\documentclass{article}&#10;\usepackage{amsmath}&#10;\pagestyle{empty}&#10;\begin{document}&#10;\begin{equation}&#10;\frac{\partial c}{\partial t}=-v\frac{\partial c}{\partial x}&#10;\nonumber&#10;\end{equation}&#10;&#10;\end{document}"/>
  <p:tag name="IGUANATEXSIZE" val="32"/>
  <p:tag name="IGUANATEXCURSOR" val="146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1.7173"/>
  <p:tag name="ORIGINALWIDTH" val="628.4214"/>
  <p:tag name="OUTPUTTYPE" val="PNG"/>
  <p:tag name="IGUANATEXVERSION" val="160"/>
  <p:tag name="LATEXADDIN" val="\documentclass{article}&#10;\usepackage{amsmath}&#10;\pagestyle{empty}&#10;\begin{document}&#10;\begin{equation}&#10;\frac{\partial c}{\partial t}=-v\frac{\partial c}{\partial x}&#10;\nonumber&#10;\end{equation}&#10;&#10;\end{document}"/>
  <p:tag name="IGUANATEXSIZE" val="32"/>
  <p:tag name="IGUANATEXCURSOR" val="146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1.7173"/>
  <p:tag name="ORIGINALWIDTH" val="628.4214"/>
  <p:tag name="OUTPUTTYPE" val="PNG"/>
  <p:tag name="IGUANATEXVERSION" val="160"/>
  <p:tag name="LATEXADDIN" val="\documentclass{article}&#10;\usepackage{amsmath}&#10;\pagestyle{empty}&#10;\begin{document}&#10;\begin{equation}&#10;\frac{\partial c}{\partial t}=-v\frac{\partial c}{\partial x}&#10;\nonumber&#10;\end{equation}&#10;&#10;\end{document}"/>
  <p:tag name="IGUANATEXSIZE" val="32"/>
  <p:tag name="IGUANATEXCURSOR" val="146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1.7173"/>
  <p:tag name="ORIGINALWIDTH" val="628.4214"/>
  <p:tag name="OUTPUTTYPE" val="PNG"/>
  <p:tag name="IGUANATEXVERSION" val="160"/>
  <p:tag name="LATEXADDIN" val="\documentclass{article}&#10;\usepackage{amsmath}&#10;\pagestyle{empty}&#10;\begin{document}&#10;\begin{equation}&#10;\frac{\partial c}{\partial t}=-v\frac{\partial c}{\partial x}&#10;\nonumber&#10;\end{equation}&#10;&#10;\end{document}"/>
  <p:tag name="IGUANATEXSIZE" val="32"/>
  <p:tag name="IGUANATEXCURSOR" val="146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1.7173"/>
  <p:tag name="ORIGINALWIDTH" val="628.4214"/>
  <p:tag name="OUTPUTTYPE" val="PNG"/>
  <p:tag name="IGUANATEXVERSION" val="160"/>
  <p:tag name="LATEXADDIN" val="\documentclass{article}&#10;\usepackage{amsmath}&#10;\pagestyle{empty}&#10;\begin{document}&#10;\begin{equation}&#10;\frac{\partial c}{\partial t}=-v\frac{\partial c}{\partial x}&#10;\nonumber&#10;\end{equation}&#10;&#10;\end{document}"/>
  <p:tag name="IGUANATEXSIZE" val="32"/>
  <p:tag name="IGUANATEXCURSOR" val="146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1.7173"/>
  <p:tag name="ORIGINALWIDTH" val="628.4214"/>
  <p:tag name="OUTPUTTYPE" val="PNG"/>
  <p:tag name="IGUANATEXVERSION" val="160"/>
  <p:tag name="LATEXADDIN" val="\documentclass{article}&#10;\usepackage{amsmath}&#10;\pagestyle{empty}&#10;\begin{document}&#10;\begin{equation}&#10;\frac{\partial c}{\partial t}=-v\frac{\partial c}{\partial x}&#10;\nonumber&#10;\end{equation}&#10;&#10;\end{document}"/>
  <p:tag name="IGUANATEXSIZE" val="32"/>
  <p:tag name="IGUANATEXCURSOR" val="146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1.7173"/>
  <p:tag name="ORIGINALWIDTH" val="628.4214"/>
  <p:tag name="OUTPUTTYPE" val="PNG"/>
  <p:tag name="IGUANATEXVERSION" val="160"/>
  <p:tag name="LATEXADDIN" val="\documentclass{article}&#10;\usepackage{amsmath}&#10;\pagestyle{empty}&#10;\begin{document}&#10;\begin{equation}&#10;\frac{\partial c}{\partial t}=-v\frac{\partial c}{\partial x}&#10;\nonumber&#10;\end{equation}&#10;&#10;\end{document}"/>
  <p:tag name="IGUANATEXSIZE" val="30"/>
  <p:tag name="IGUANATEXCURSOR" val="146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1.7173"/>
  <p:tag name="ORIGINALWIDTH" val="628.4214"/>
  <p:tag name="OUTPUTTYPE" val="PNG"/>
  <p:tag name="IGUANATEXVERSION" val="160"/>
  <p:tag name="LATEXADDIN" val="\documentclass{article}&#10;\usepackage{amsmath}&#10;\pagestyle{empty}&#10;\begin{document}&#10;\begin{equation}&#10;\frac{\partial c}{\partial t}=-v\frac{\partial c}{\partial x}&#10;\nonumber&#10;\end{equation}&#10;&#10;\end{document}"/>
  <p:tag name="IGUANATEXSIZE" val="30"/>
  <p:tag name="IGUANATEXCURSOR" val="146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9bda6f5-7159-473c-b81f-4b89a4dad904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2ADD93CE3AAB54697F69FF9358A3D82" ma:contentTypeVersion="9" ma:contentTypeDescription="Create a new document." ma:contentTypeScope="" ma:versionID="070126316cc2f901c9da9aa374577e9e">
  <xsd:schema xmlns:xsd="http://www.w3.org/2001/XMLSchema" xmlns:xs="http://www.w3.org/2001/XMLSchema" xmlns:p="http://schemas.microsoft.com/office/2006/metadata/properties" xmlns:ns3="09bda6f5-7159-473c-b81f-4b89a4dad904" xmlns:ns4="7fc03076-f613-4e04-ad4b-443bf22117d7" targetNamespace="http://schemas.microsoft.com/office/2006/metadata/properties" ma:root="true" ma:fieldsID="465afda57a3f357abee76d547b0a2057" ns3:_="" ns4:_="">
    <xsd:import namespace="09bda6f5-7159-473c-b81f-4b89a4dad904"/>
    <xsd:import namespace="7fc03076-f613-4e04-ad4b-443bf22117d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bda6f5-7159-473c-b81f-4b89a4dad90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c03076-f613-4e04-ad4b-443bf22117d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A6639A4-FC52-434F-961A-2DA8206CBC5C}">
  <ds:schemaRefs>
    <ds:schemaRef ds:uri="09bda6f5-7159-473c-b81f-4b89a4dad904"/>
    <ds:schemaRef ds:uri="7fc03076-f613-4e04-ad4b-443bf22117d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2AD6527-6B60-4B07-8302-5E18B5C5EEBB}">
  <ds:schemaRefs>
    <ds:schemaRef ds:uri="09bda6f5-7159-473c-b81f-4b89a4dad904"/>
    <ds:schemaRef ds:uri="7fc03076-f613-4e04-ad4b-443bf22117d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03C625A-8866-4B2A-A422-7EF291B3254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2615</Words>
  <Application>Microsoft Office PowerPoint</Application>
  <PresentationFormat>Custom</PresentationFormat>
  <Paragraphs>592</Paragraphs>
  <Slides>35</Slides>
  <Notes>25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6" baseType="lpstr">
      <vt:lpstr>21_BasicWhite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Sasha Prykhodko</dc:creator>
  <cp:lastModifiedBy>Kimiya Ramezani</cp:lastModifiedBy>
  <cp:revision>2</cp:revision>
  <cp:lastPrinted>2025-10-17T16:59:35Z</cp:lastPrinted>
  <dcterms:modified xsi:type="dcterms:W3CDTF">2026-08-10T17:51:24Z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0x01010052ADD93CE3AAB54697F69FF9358A3D82</vt:lpwstr>
  </property>
</Properties>
</file>